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Conecte cada princípio a uma falha já observada no Portal.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fail-secure: exceção no filtro de autorização deve resultar em 403, não em "passa".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 Trust é a evolução moderna desses princípios; ligue com autorização por objeto (Aula 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Portal, o IDOR existe porque a autorização de posse não está em nenhuma camada. Design decide onde ela mora.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Reforce: validação client-side é conveniência, não controle.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"WAF compra tempo; não corrige a vulnerabilidade."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Threat modeling é atividade de time; hoje faremos um exemplo guiado.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aos alunos que desenhem junto; este DFD é a base do Lab 2.1.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letra mapeia para uma propriedade de segurança violada.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3–4 linhas ao vivo; o resto os alunos completam no Lab 2.1.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Ligue com priorização vista na Aula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bloco é hands-on de modelagem; a matriz continua no Lab 2.1.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input validation após o intervalo.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Denylist sempre fica para trás do atacante; allowlist é o default seguro.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um DTO com e sem anotações.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baseline os DTOs não têm nenhuma anotação — Lab 2.3 adiciona.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 estrutura; o código completo está no gabarito do Lab 2.3.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"Valide o dado na forma canônica; senão o atacante escolhe a forma."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Portal o upload aceita qualquer coisa — Lab 2.4 corrige.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Validação reduz risco, mas a defesa primária contra SQLi é parametrização.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parâmetro é enviado separado da query; o dado nunca vira código 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Distribua lab.md. Comece pelo 2.2 se o tempo apertar (maior valor).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Rode o payload de SQLi da Aula 1 contra a versão corrigida e mostre que falha.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 3 parte de aula-3-baseline (com o SQLi/validação já corrigidos).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265615" y="-1463040"/>
            <a:ext cx="4023360" cy="402336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Shape 2"/>
          <p:cNvSpPr/>
          <p:nvPr/>
        </p:nvSpPr>
        <p:spPr>
          <a:xfrm>
            <a:off x="10271455" y="3566160"/>
            <a:ext cx="2743200" cy="27432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914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APPLICATION SECURITY ENGINEER — JAVA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3716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2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4884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Application Design &amp; Architecture + Secure Coding para Input Validation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02920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min (2 intervalos de 10 min). Termos técnicos em inglês mantidos. Abertura: "Na Aula 1 vocês reconheceram a aplicação e escreveram requisitos. Hoje entendemos por que essas falhas nascem (design) e como a validação de entrada as elimina."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 1 (60 min) — Secure Design &amp; Architecture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Abertura e ponte com a Aula 1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Retomar 2–3 requisitos de segurança que a turma derivou.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princípios de design seguro, threat modeling (STRIDE) e input validation.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princípios de Secure by Design.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 threat modeling com STRIDE sobre a arquitetura do Portal.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Dominar validação de entrada (Bean Validation, allowlist, upload seguro).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 SQL Injection e falhas de validação no laboratório.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Princípios de Secure by Design (1/2)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privilege: </a:t>
            </a:r>
            <a:pPr algn="l" indent="0" marL="0">
              <a:buNone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componente/usuário com o mínimo necessário.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depth: </a:t>
            </a:r>
            <a:pPr algn="l" indent="0" marL="0">
              <a:buNone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camadas; nenhuma é o único ponto de falha.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securely: </a:t>
            </a:r>
            <a:pPr algn="l" indent="0" marL="0">
              <a:buNone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erro, negar por padrão (não abrir acesso).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duties: </a:t>
            </a:r>
            <a:pPr algn="l" indent="0" marL="0">
              <a:buNone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papéis críticos.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Princípios de Secure by Design (2/2)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of mechanism (KISS): </a:t>
            </a:r>
            <a:pPr algn="l" indent="0" marL="0">
              <a:buNone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simplicidade reduz superfície de erro.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mediation: </a:t>
            </a:r>
            <a:pPr algn="l" indent="0" marL="0">
              <a:buNone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requisição a um recurso é verificada (não cachear decisão de acesso indevidamente).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Trust: </a:t>
            </a:r>
            <a:pPr algn="l" indent="0" marL="0">
              <a:buNone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confiar por localização de rede; verificar sempre identidade e autorização.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em camadas e responsabilidade de segurança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(borda): autenticação, validação sintática, mapeamento de erro.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(domínio): autorização de negócio, validação semântica, invariantes.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acesso a dados parametrizado.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validar: borda vs. domínio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Client-side: só UX; nunca confiar.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na borda: formato/sintaxe (Bean Validation nos DTOs).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Domínio: regras de negócio e invariantes (ex.: "preço vem do servidor").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Gateway/WAF como camada adicional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Gateway/WAF ajudam (rate limiting, filtragem, TLS termination).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complemento, não substituto do código seguro.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Atacante adapta payload para burlar assinaturas do WAF.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Modeling: por que e quando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Antecipar ameaças no design, antes de codar.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Perguntas: o que estamos construindo? o que pode dar errado? o que faremos? fizemos bem?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é uma taxonomia para "o que pode dar errado".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Diagram (DFD) do Portal (nível 1)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externas: Cliente (browser), Admin, Fornecedor (URL de catálogo).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Processos: App web (Controllers/Services).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stores: Banco (usuário/cliente/pedido/produto), Storage de anexos.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Fluxos: login, busca, checkout, upload, importar catálogo, painel admin.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boundaries: internet↔app, app↔banco, app↔storage, app↔fornecedor.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STRIDE (definição)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 (autenticidade) · Tampering (integridade) · Repudiation (auditoria)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Disclosure (confidencialidade) · Denial of Service (disponibilidade) · Elevation of Privilege (autorização)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STRIDE aplicado ao Portal (matriz — exemplos)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anexos/matriz-stride.md (preenchida com 8+ ameaças).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</a:t>
            </a:r>
            <a:endParaRPr lang="en-US" sz="1550" dirty="0"/>
          </a:p>
          <a:p>
            <a:pPr algn="l"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(Spoofing): brute force sem rate limiting → mitigar com throttling/MFA.</a:t>
            </a:r>
            <a:endParaRPr lang="en-US" sz="1550" dirty="0"/>
          </a:p>
          <a:p>
            <a:pPr algn="l"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(Tampering/Info Disclosure): SQLi → query parametrizada.</a:t>
            </a:r>
            <a:endParaRPr lang="en-US" sz="1550" dirty="0"/>
          </a:p>
          <a:p>
            <a:pPr algn="l"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/pedidos/{id} (Elevation/Info Disclosure): IDOR → checar posse.</a:t>
            </a:r>
            <a:endParaRPr lang="en-US" sz="1550" dirty="0"/>
          </a:p>
          <a:p>
            <a:pPr algn="l"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catálogo (Info Disclosure): SSRF → allowlist de destino.</a:t>
            </a:r>
            <a:endParaRPr lang="en-US" sz="1550" dirty="0"/>
          </a:p>
          <a:p>
            <a:pPr algn="l"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(Tampering/DoS): arquivo malicioso/gigante → validar tipo/tamanho.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modelo à mitigação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ameaça → um requisito/controle → um teste.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Priorize por risco (prob × impacto). ---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 2 (40 min) — Threat Modeling prático (STRIDE)</a:t>
            </a:r>
            <a:endParaRPr lang="en-US" sz="3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 guiado (com a turma)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Preencher juntos 4 linhas da matriz STRIDE para: login, busca, upload, import.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comuns em threat modeling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Focar só em "hackers externos" e esquecer insiders/erros.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Parar no diagrama e não derivar mitigações/testes.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revisar quando a arquitetura muda. ---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74320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☕  INTERVALO (10 min)</a:t>
            </a:r>
            <a:endParaRPr lang="en-US" sz="3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 3 (40 min) — Input Validation</a:t>
            </a:r>
            <a:endParaRPr lang="en-US" sz="3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de validação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Allowlist (aceitar o conhecido-bom) &gt; denylist (bloquear o conhecido-ruim).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Camadas de validação: sintática (formato) → semântica (faz sentido) → de negócio (regra do domínio).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validar (recapitulando com código)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= UX. Server-side = obrigatório.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borda: Bean Validation nos DTOs. No domínio: invariantes no Service.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Bean Validation (Jakarta) no Spring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4864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Anotações: @NotNull, @NotBlank, @Size, @Pattern, @Email, @Positive.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Ativar com @Valid no controller; erros via BindingResult/@ControllerAdvice.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309360" y="1417320"/>
            <a:ext cx="5333695" cy="4754880"/>
          </a:xfrm>
          <a:prstGeom prst="roundRect">
            <a:avLst>
              <a:gd name="adj" fmla="val 1538"/>
            </a:avLst>
          </a:prstGeom>
          <a:solidFill>
            <a:srgbClr val="10182A"/>
          </a:solidFill>
          <a:ln/>
          <a:effectLst>
            <a:outerShdw sx="100000" sy="100000" kx="0" ky="0" algn="bl" rotWithShape="0" blurRad="101600" dist="38100" dir="5400000">
              <a:srgbClr val="0B1020">
                <a:alpha val="5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37960" y="1600200"/>
            <a:ext cx="496793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class CadastroClienteForm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@NotBlank @Size(max=150) private String razaoSocial;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@Email @NotBlank private String email;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@Size(min=8, max=100) private String senha;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@CNPJ private String cnpj; // validador customizado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Validador customizado (@Constraint)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negócio própria (ex.: CNPJ válido) como anotação reutilizável.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Componentes: anotação @CNPJ + ConstraintValidator&lt;CNPJ,String&gt;.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Canonicalização e normalização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 antes de validar (encoding, Unicode, path).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traversal: ../, %2e%2e, variações de encoding.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de upload de arquivo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Validar: magic number (conteúdo real) + extensão (allowlist) + content-type + tamanho.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de arquivo gerado pelo servidor (UUID); armazenar fora do webroot; sem execução.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Antivírus/scanning quando aplicável.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Injection na origem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queries parametrizadas (PreparedStatement / JPA binding), nunca concatenar.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Command: evitar Runtime.exec com input; usar APIs seguras / allowlist de comandos.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LDAP/XPath: escaping/binding específico.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Injection: antes e depois (Java)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4864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(vulnerável):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(seguro): ---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309360" y="1417320"/>
            <a:ext cx="5333695" cy="4754880"/>
          </a:xfrm>
          <a:prstGeom prst="roundRect">
            <a:avLst>
              <a:gd name="adj" fmla="val 1538"/>
            </a:avLst>
          </a:prstGeom>
          <a:solidFill>
            <a:srgbClr val="10182A"/>
          </a:solidFill>
          <a:ln/>
          <a:effectLst>
            <a:outerShdw sx="100000" sy="100000" kx="0" ky="0" algn="bl" rotWithShape="0" blurRad="101600" dist="38100" dir="5400000">
              <a:srgbClr val="0B1020">
                <a:alpha val="5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37960" y="1600200"/>
            <a:ext cx="496793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"SELECT ... WHERE nome LIKE '%" + termo + "%'"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jdbc.query("SELECT ... WHERE nome LIKE ?", ps -&gt; ps.setString(1, "%"+termo+"%"), mapper);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ou, com JPA: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@Query("... WHERE p.nome LIKE %:termo%") List&lt;Produto&gt; buscar(@Param("termo") String t);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 4 (70 min) — Laboratório</a:t>
            </a:r>
            <a:endParaRPr lang="en-US" sz="3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Laboratório da Aula 2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2.1: completar a matriz STRIDE (3 ameaças novas).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2.2: corrigir SQL Injection na busca de produtos.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2.3: Bean Validation nos DTOs + validador @CNPJ.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2.4: upload seguro (magic number, allowlist, tamanho, rename). ---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74320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☕  INTERVALO (10 min)</a:t>
            </a:r>
            <a:endParaRPr lang="en-US" sz="3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 5 (20 min) — Debrief + Quiz</a:t>
            </a:r>
            <a:endParaRPr lang="en-US" sz="3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Debrief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a correção do SQLi: por que o payload UNION deixa de funcionar.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o teste que prova a validação de upload.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+ ponte para a Aula 3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(quiz.md).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3: autenticação e autorização — vamos explorar o IDOR e corrigir de verdade.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2026-09-14T02:31:19Z</dcterms:created>
  <dcterms:modified xsi:type="dcterms:W3CDTF">2026-09-14T02:31:19Z</dcterms:modified>
</cp:coreProperties>
</file>