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031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02: Design Seguro e Validação de Entrada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297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vulnerabilidades nascem no design — e como a arquitetura e a validação de entrada as eliminam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Design Seguro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falhas nascem no design e como as camadas decidem a segurança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Secure by Design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defense in depth, fail securely, zero trust e outros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com STRIDE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ameaças sobre a arquitetura do Portal (DFD + STRIDE)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Níveis, allowlist, Bean Validation, canonicalização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 Upload Seguro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Injection, PreparedStatement e upload à prova de abuso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SQLi, adicionar validação e proteger o upload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com segurança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princípios de secure by design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onde cada controle mora nas camadas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falhas de design vs. de código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ameaças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Desenhar um DFD e marcar fronteiras de confiança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Enumerar ameaças com STRIDE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mitigações por risco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allowlist e Bean Validation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SQL Injection com parametrização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uploads contra abuso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viemos, para onde vamos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 você reconheceu a aplicação e escreveu requisitos de segurança. Hoje entendemos por que essas falhas existem — e as eliminamos.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ameaças, OWASP Top 10 e requisitos.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seguro, threat modeling e validação.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corrigimos o SQL Injection e o upload do Portal.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5120" y="201168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2011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segurança (Aula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0" y="2788920"/>
            <a:ext cx="365760" cy="457200"/>
          </a:xfrm>
          <a:prstGeom prst="down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329184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32918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Threat Modeling (Aula 2)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0" y="4069080"/>
            <a:ext cx="365760" cy="457200"/>
          </a:xfrm>
          <a:prstGeom prst="down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0" y="457200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4572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 (Aula 2)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falhas nascem no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vulnerabilidades não são bugs — são controles que o design nunca previu. A implementação segue sem eles, e a falha nasce funcionalmente 'correta'.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deveria fazer X e faz errado (dá para corrigir pontualmente).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design: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controle (validar, autorizar, cifrar) nunca foi projetado — não há o que 'consertar', há o que projetar.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793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existe porque ninguém decidiu, no design, em que camada verificar a posse do pedido.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5239512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1266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esquecer de prever o cofre na planta do banco — depois, nenhuma tranca na porta compensa.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— a teoria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não é um recurso adicionado depois; é consequência de boas decisões de arquitetura, tomadas desde o início.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quais dados cruzam quais fronteiras de confiança.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onde cada controle de segurança vive (borda, domínio, dados).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como o sistema se comporta sob abuso, não só no caminho feliz.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365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 um banco já com cofre e sala-forte, em vez de 'adicionar segurança' a um galpão pronto.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 — no Portal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falha do Portal é uma decisão de design que faltou: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de produtos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Falha: SQL Injection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ausente: 'consultas sempre parametrizadas'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no Lab 2.2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comprovante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Falha: aceita qualquer arquivo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ausente: 'política de arquivos'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no Lab 2.4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pedido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Falha: IDOR (sem checar dono)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ausente: 'autorização por objeto'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Corrigido na Aula 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280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uma tela do Portal e digam qual decisão de design a protegeria.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camadas: onde a segurança mora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8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/ API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(não confiável)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2487168"/>
            <a:ext cx="274320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8" name="Shape 6"/>
          <p:cNvSpPr/>
          <p:nvPr/>
        </p:nvSpPr>
        <p:spPr>
          <a:xfrm>
            <a:off x="3017520" y="21945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218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sintática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0" y="2487168"/>
            <a:ext cx="274320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0" y="21945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4068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218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(posse)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semântica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2487168"/>
            <a:ext cx="274320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0" y="21945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2194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2186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parametrizado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dados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92640" y="2487168"/>
            <a:ext cx="411480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5560" y="2194560"/>
            <a:ext cx="822960" cy="914400"/>
          </a:xfrm>
          <a:prstGeom prst="can">
            <a:avLst/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9212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1691640"/>
            <a:ext cx="713232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834640" y="3977640"/>
            <a:ext cx="713232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834640" y="1691640"/>
            <a:ext cx="0" cy="228600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966960" y="1691640"/>
            <a:ext cx="0" cy="228600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301752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confiança da aplicação (servidor)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5212080"/>
            <a:ext cx="1083564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285232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design decide em qual camada cada controle vive; se não vive em nenhuma, a falha nasce.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uma requisição segura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passa por uma sequência de controles — se qualquer um falta, abre-se uma brecha: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21408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8" name="Shape 6"/>
          <p:cNvSpPr/>
          <p:nvPr/>
        </p:nvSpPr>
        <p:spPr>
          <a:xfrm>
            <a:off x="2359152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4872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rate limit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1" name="Shape 9"/>
          <p:cNvSpPr/>
          <p:nvPr/>
        </p:nvSpPr>
        <p:spPr>
          <a:xfrm>
            <a:off x="4215384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1104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(Bean Validation)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33872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1616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17336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posse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90104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7" name="Shape 15"/>
          <p:cNvSpPr/>
          <p:nvPr/>
        </p:nvSpPr>
        <p:spPr>
          <a:xfrm>
            <a:off x="7927848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73568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46336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2980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59152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Aula 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215384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Aula 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071616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Aula 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27848" y="3520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Aula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6451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controles em sequência — se a validação falha, a query parametrizada ainda protege contra SQLi.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validar — cliente x servidor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no cliente é conveniência para o usuário; segurança acontece no servidor.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(navegador) — UX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99232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o usuário (formato, obrigatório)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na máquina do atacante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inspecionado e alterado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controle de segurança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4688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— controle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999232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 tudo, sempre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na borda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no domínio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a segurança realmente acontece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91947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 campo é readonly e tem maxlength, então está seguro' — o atacante ignora o HTML e envia o que quiser via Postman.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validar — borda x domínio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validações no servidor, com propósitos diferentes e complementares.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(Controller)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99232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 sintaxe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nos DTOs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e-mail válido, CNPJ com 14 dígitos, tamanho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4688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(Service)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999232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e invariantes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'preço vem do servidor'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'este pedido pertence a este cliente'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280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do CNPJ é validação de borda; 'este CNPJ pode fechar este pedido' é regra de domínio.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de confiança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 do design seguro: por onde o dado entra e a partir de onde não posso confiar nele?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trust boundary é o ponto onde o dado deixa o controle do sistema.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cruza a fronteira é NÃO confiável até ser validado.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internet↔app, app↔banco, app↔storage de anexos, app↔fornecedor (URL de catálogo).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280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fronteira do Portal está o maior risco, e por quê?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Secure by Design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ideias que guiam quase toda boa decisão de segurança — e que usaremos o curso inteiro.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sete princípios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80560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51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451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737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8563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563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1737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788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788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2788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451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451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788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321040" y="27889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8563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8563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27889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Mechanism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38404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" y="53949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4681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princípios não são teoria distante — cada correção do curso é a aplicação de um deles.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usuário, serviço ou componente deve ter o mínimo de acesso necessário à sua função — menos acesso significa menor raio de explosão.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163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deveria conectar ao banco com um usuário que só faz SELECT/INSERT/UPDATE — nunca um superusuário que pode dropar tabelas.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962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funcionário da limpeza tem a chave das salas que limpa, não a chave do cofre.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dependa de uma única defesa; empilhe camadas independentes — o atacante precisa vencer todas, não apenas uma.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163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SQLi temos validação de entrada (borda) E consultas parametrizadas (dados); se a validação falha, a parametrização ainda protege.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776472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962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tem porta, cofre, câmeras e alarme; se uma falha, as outras seguram.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um erro inesperado, o estado padrão deve ser negar, nunca liberar — uma exceção não pode 'abrir' acesso por acidente.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163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checagem de permissão lança exceção, o resultado deve ser 403 — jamais 'passa'.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57016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3016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fechadura eletrônica que, sem energia, tranca — não destranca.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0832"/>
            <a:ext cx="10881360" cy="1188720"/>
          </a:xfrm>
          <a:prstGeom prst="roundRect">
            <a:avLst>
              <a:gd name="adj" fmla="val 3846"/>
            </a:avLst>
          </a:prstGeom>
          <a:solidFill>
            <a:srgbClr val="141B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10515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permitido = false;              // NEGADO por padrão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permitido = verificar(user, rec);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 e) { permitido = false; }  // erro =&gt; nega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(!permitido) throw new AccessDeniedException();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 &amp; Complete Mediation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76272"/>
            <a:ext cx="4946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concentra poder para abusar sozinho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quem solicita de quem aprova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quem cria o reembolso não o aprova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quem abre o cofre ≠ quem tem o segredo do alarme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Mediation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76272"/>
            <a:ext cx="4946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requisição a um recurso é verificada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cachear indevidamente a decisão de acesso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GET /pedidos/{id} revalida a posse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 muda — reveja sempre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7365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acesso ao pedido precisa reverificar o dono — não confiar numa checagem anterior da sessão.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Mechanism (KISS) &amp; Zero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Mechanism (KISS)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76272"/>
            <a:ext cx="4946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Simplicidade é propriedade de segurança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complexo esconde falhas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clara em um único ponto (o Service)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superfície de erro, revisão mais fácil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76272"/>
            <a:ext cx="49469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confiar por localização de rede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prova quem é e o que pode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de least privilege + mediação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prédio onde cada porta exige o crachá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7365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o desenho mais simples que atenda ao requisito — complexidade é dívida de segurança.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 WAF: camada adicional, não substituta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 de borda ajudam, mas não corrigem a causa dentro do código.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e WAF oferecem rate limiting, filtragem e terminação de TLS.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Reduzem ruído e barram ataques triviais — ganham tempo.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reescreve o payload até passar pela assinatura do WAF.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537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compra tempo; a correção mora no código.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com STRIDE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Antecipar, no design, o que pode dar errado — antes de escrever a primeira linha.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— por que e quando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ameaças é uma atividade de time, feita sobre um diagrama do sistema e revisitada quando a arquitetura muda.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não é um documento morto — é uma lista de mitigações e testes priorizados.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dos requisitos de segurança (Aula 1) e do diagrama do sistema.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modelamos as ameaças e derivamos mitigações — a base do Lab 2.1.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em 4 perguntas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que estamos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/ DFD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9544" y="2807208"/>
            <a:ext cx="347472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8" name="Shape 6"/>
          <p:cNvSpPr/>
          <p:nvPr/>
        </p:nvSpPr>
        <p:spPr>
          <a:xfrm>
            <a:off x="3611880" y="237744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que pode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errado?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35624" y="2807208"/>
            <a:ext cx="347472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37744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 que vamos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61704" y="2807208"/>
            <a:ext cx="347472" cy="329184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6" name="Shape 14"/>
          <p:cNvSpPr/>
          <p:nvPr/>
        </p:nvSpPr>
        <p:spPr>
          <a:xfrm>
            <a:off x="9464040" y="2377440"/>
            <a:ext cx="2468880" cy="1188720"/>
          </a:xfrm>
          <a:prstGeom prst="roundRect">
            <a:avLst>
              <a:gd name="adj" fmla="val 461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377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Fizemos um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trabalho?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657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e testes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83564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919472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só entrega valor se as respostas 3 e 4 virarem código e teste.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do Portal — fluxo de dados e fronteiras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017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4114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74320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69080" y="2743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4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(aplicação web)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2103120"/>
            <a:ext cx="914400" cy="914400"/>
          </a:xfrm>
          <a:prstGeom prst="can">
            <a:avLst/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39319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E7C6F0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4108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2194560"/>
            <a:ext cx="173736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945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login/busca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40280" y="3291840"/>
            <a:ext cx="173736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0280" y="4389120"/>
            <a:ext cx="173736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945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2743200"/>
            <a:ext cx="228600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46520" y="4114800"/>
            <a:ext cx="210312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66160" y="1737360"/>
            <a:ext cx="749808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3566160" y="5029200"/>
            <a:ext cx="7498080" cy="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566160" y="1737360"/>
            <a:ext cx="0" cy="329184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1064240" y="1737360"/>
            <a:ext cx="0" cy="3291840"/>
          </a:xfrm>
          <a:prstGeom prst="line">
            <a:avLst/>
          </a:prstGeom>
          <a:noFill/>
          <a:ln w="15875">
            <a:solidFill>
              <a:srgbClr val="5AA17A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61188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de confiança (servidor + dados)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1106424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54681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seta que cruza a fronteira, pergunte: o que pode dar errado aqui?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— a taxonomia de ameaças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fluxo do DFD, percorra as seis letras: cada uma mapeia uma propriedade de segurança violada.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85292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517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6517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85292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6517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21040" y="265176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285292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85632" y="2852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6517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90448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03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80560" y="3703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390448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45152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3703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321040" y="370332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5632" y="3904488"/>
            <a:ext cx="475488" cy="475488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85632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3703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aplicado ao Portal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49808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no login sem limite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86600" y="2121408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/ MFA (Aula 3)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700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na busca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2779776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26700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parametrizada (Aula 2)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3284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sem trilha de log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3438144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0" y="33284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segurança íntegro (Aula 5)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98678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Disclosure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expõe pedidos alheios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86600" y="4096512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0" y="3986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por posse (Aula 3)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690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6451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sem limite de tamanho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086600" y="4754880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0" y="4645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+ rate limiting (Aula 2)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411480" cy="411480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53035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  </a:t>
            </a:r>
            <a:pPr indent="0" marL="0">
              <a:buNone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aberto a qualquer logado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086600" y="5413248"/>
            <a:ext cx="32004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498080" y="5303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hasRole('ADMIN') (Aula 3)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por risco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Impacto. Comece pelas ameaças fáceis de explorar e de alto impacto.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926080" y="2286000"/>
            <a:ext cx="3291840" cy="1371600"/>
          </a:xfrm>
          <a:prstGeom prst="rect">
            <a:avLst/>
          </a:prstGeom>
          <a:solidFill>
            <a:srgbClr val="3A3A2A"/>
          </a:solidFill>
          <a:ln w="12700">
            <a:solidFill>
              <a:srgbClr val="3C4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
Baixa prob.
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3291840" cy="1371600"/>
          </a:xfrm>
          <a:prstGeom prst="rect">
            <a:avLst/>
          </a:prstGeom>
          <a:solidFill>
            <a:srgbClr val="4A2A2A"/>
          </a:solidFill>
          <a:ln w="12700">
            <a:solidFill>
              <a:srgbClr val="3C4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2860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impacto
Alta prob.
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JÁ (ex.: IDOR)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3657600"/>
            <a:ext cx="3291840" cy="1371600"/>
          </a:xfrm>
          <a:prstGeom prst="rect">
            <a:avLst/>
          </a:prstGeom>
          <a:solidFill>
            <a:srgbClr val="26303F"/>
          </a:solidFill>
          <a:ln w="12700">
            <a:solidFill>
              <a:srgbClr val="3C4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3657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impacto
Baixa prob.
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Aceitar/monitorar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657600"/>
            <a:ext cx="3291840" cy="1371600"/>
          </a:xfrm>
          <a:prstGeom prst="rect">
            <a:avLst/>
          </a:prstGeom>
          <a:solidFill>
            <a:srgbClr val="2E3A2E"/>
          </a:solidFill>
          <a:ln w="12700">
            <a:solidFill>
              <a:srgbClr val="3C4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36576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impacto
Alta prob.
</a:t>
            </a:r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5120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→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559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IDOR (fácil de explorar, expõe dados de pagamento) é prioridade máxima.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linha de defesa contra injeção e abuso: decidir o que entra, antes de usar.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níveis de validação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não é uma coisa só; são três perguntas diferentes sobre o mesmo dado: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Sintática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está correto?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e-mail tem @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CNPJ tem 14 dígitos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 borda (Controller)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Semântica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faz sentido?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data não é no futuro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quantidade &gt; 0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 domínio (Service)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 negócio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domínio permite?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cliente pode comprar isto?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preço vem do servidor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Onde: domínio (Service)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280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níveis são necessários; a borda cuida do sintático, o domínio do resto.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x Denylist — a teoria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só o conhecido-bom vence tentar bloquear o conhecido-ruim.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Denylist: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sempre atrás da próxima variação (encoding, Unicode, sintaxe alternativa).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formato válido e rejeita todo o resto.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965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denylist é a lista de 'bandidos conhecidos' na portaria; a allowlist é a lista de convidados.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o formato válido e recuse o que não casar.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x Denylist — tangível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Denylist (frágil)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7627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'Remover caracteres perigosos'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 um ' e esquece encoding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usa comentários (--), UNION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atrás do próximo truque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77393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Allowlist (robusto)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17627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CNPJ: só 14 dígitos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dígitos verificadores válidos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 tudo que não casar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 e previsível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708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sanitizar removendo ' para 'evitar SQLi' — o atacante usa encoding, comentários ou outra sintaxe.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(Jakarta)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Spring, a validação sintática na borda é declarativa: anotações nos DTOs, disparadas por @Valid no controller.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1760220"/>
          </a:xfrm>
          <a:prstGeom prst="roundRect">
            <a:avLst>
              <a:gd name="adj" fmla="val 2597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10515600" cy="154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CadastroClienteForm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@NotBlank @Size(max=150) private String razaoSocial;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@Email    @NotBlank       private String email;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@Size(min=10)             private String senha;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@CNPJ                     private String cnpj;   // customizada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1937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os DTOs não têm nenhuma anotação — qualquer valor é aceito. O Lab 2.3 corrige.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customizado — @CNPJ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regra é de negócio, encapsule-a como uma anotação reutilizável (@Constraint + ConstraintValidator).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0881360" cy="1874520"/>
          </a:xfrm>
          <a:prstGeom prst="roundRect">
            <a:avLst>
              <a:gd name="adj" fmla="val 2439"/>
            </a:avLst>
          </a:prstGeom>
          <a:solidFill>
            <a:srgbClr val="141B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52928"/>
            <a:ext cx="1051560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@Constraint(validatedBy = CnpjValidator.class)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@Target(FIELD) @Retention(RUNTIME)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@interface CNPJ { String message() default "CNPJ invalido"; ...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CnpjValidator implements ConstraintValidator&lt;CNPJ,String&gt;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isValid(String v, ...) { /* 14 digitos + verificadores */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468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@CNPJ protege qualquer DTO — web e API — de forma declarativa.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 mensagens de validação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regra vale em todo momento — e o erro precisa comunicar sem vazar.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regras diferentes por contexto (ex.: exigir senha só no cadastro, não na edição).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claras ao usuário, genéricas quanto a detalhes internos.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965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erro ajuda o usuário, não o atacante — nada de stack trace ou detalhe de banco.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Canonicalização e normalização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dado na sua forma canônica; senão o atacante escolhe a forma que engana sua validação.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informação tem muitas representações (encoding, Unicode, caminhos).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, %2e%2e , ..\  representam o mesmo 'subir de diretório'.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Decodifique/normalize PRIMEIRO, valide DEPOIS.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537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upload usa o nome do cliente — o Lab 2.4 gera um nome seguro (UUID) e valida o caminho.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e Upload Seguro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raiz — misturar comando e dado — e como separá-los definitivamente.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— dado x comando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nasce de misturar, na mesma string, a instrução e o dado do usuário; o interpretador não distingue um do outro.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SQL, comandos de SO, LDAP, XPath — e HTML (XSS).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defesa central é separar comando de dado (parametrização).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9651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ditar uma carta e, no meio, dizer '…e agora apague os arquivos' — sem separar, o interpretador obedece.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ANTES (vulnerável)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 usuário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OR '1'='1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2331720"/>
            <a:ext cx="548640" cy="32004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20116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011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Concatenação de string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"...WHERE nome LIKE '%"+termo+"%'"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2331720"/>
            <a:ext cx="548640" cy="32004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1874520"/>
            <a:ext cx="914400" cy="1005840"/>
          </a:xfrm>
          <a:prstGeom prst="can">
            <a:avLst/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3A2323"/>
          </a:solidFill>
          <a:ln w="12700">
            <a:solidFill>
              <a:srgbClr val="E06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vira COMANDO. </a:t>
            </a:r>
            <a:pPr indent="0" marL="0"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e UNION do input são executados pelo banco → vazam e-mails e hashes.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2803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zzz' UNION SELECT id,email,senha,0,0 FROM usuario --  devolve os usuários junto com os produtos.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DEPOIS (parametrizado)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914400"/>
          </a:xfrm>
          <a:prstGeom prst="roundRect">
            <a:avLst>
              <a:gd name="adj" fmla="val 6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com marcador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"...WHERE nome LIKE 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2331720"/>
            <a:ext cx="548640" cy="32004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4663440" y="201168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COMPILA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primeiro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2331720"/>
            <a:ext cx="548640" cy="32004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1874520"/>
            <a:ext cx="914400" cy="1005840"/>
          </a:xfrm>
          <a:prstGeom prst="can">
            <a:avLst/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F3E1B5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%' OR '1'='1%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(chega DEPOIS)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0" y="3840480"/>
            <a:ext cx="548640" cy="32004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3703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tratado como TEXTO literal, nunca como 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82803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2.2 você reproduz o ataque e vê o UNION deixar de funcionar após parametrizar.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PreparedStatement — por dentro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query parametrizada é imune, e a concatenada não é.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recebe a estrutura da query com marcadores ? e compila o plano ANTES dos valores.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chega depois, como dado — nunca é reinterpretado como SQL.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Aspas, -- e UNION dentro do valor viram texto literal.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10881360" cy="502920"/>
          </a:xfrm>
          <a:prstGeom prst="roundRect">
            <a:avLst>
              <a:gd name="adj" fmla="val 9091"/>
            </a:avLst>
          </a:prstGeom>
          <a:solidFill>
            <a:srgbClr val="141B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681728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jdbc.query("SELECT ... WHERE nome LIKE ?", ps -&gt; ps.setString(1, "%"+termo+"%"), mapper);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injeções — OS, LDAP, XPath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raiz aparece fora do SQL — e a defesa é a mesma ideia.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99232"/>
            <a:ext cx="4946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Runtime.exec com input do usuário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APIs seguras + allowlist de comandos/args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4688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/ XPath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999232"/>
            <a:ext cx="4946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escaping/binding do provedor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concatene filtros com dado do usuário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3659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interpretador (banco, shell, diretório, parser), existe uma forma de passar dado como dado — use-a.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 x Output encoding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defesas complementares que resolvem problemas diferentes.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entrada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99232"/>
            <a:ext cx="4946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 QUE entra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de formato/tamanho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borda e no domínio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46888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3368" y="259689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encoding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2999232"/>
            <a:ext cx="4946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COMO exibir com segurança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 por contexto (HTML/attr/JS/URL)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central contra XSS (Thymeleaf th:text)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365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na entrada E codifique na saída — uma não substitui a outra.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seguro — o que validar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é um vetor clássico de RCE e DoS; trate cada arquivo como hostil.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real: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magic number (conteúdo), não só a extensão.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imponha um limite (anti-DoS).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servidor (UUID); a entrada do usuário nunca compõe o caminho.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webroot, sem execução.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extensão do arquivo é uma sugestão do cliente — não uma verdade.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seguro — pipeline de checagens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21408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2359152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04872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5MB?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4215384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61104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allowlist?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33872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71616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7336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UUID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90104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27848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webroot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46336" y="2743200"/>
            <a:ext cx="21945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237744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29800" y="2377440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59152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Rejeita (413 / tipo não permitido)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87268" y="3429000"/>
            <a:ext cx="274320" cy="256032"/>
          </a:xfrm>
          <a:prstGeom prst="downArrow">
            <a:avLst/>
          </a:prstGeom>
          <a:solidFill>
            <a:srgbClr val="E0605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5720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451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upload aceita qualquer coisa; o Lab 2.4 implementa esta sequência.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seguro — armazenamento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 como você grava importa tanto quanto o que você aceita.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 fora do webroot (para não ser servido/executado).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gerado pelo servidor (UUID + extensão segura).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imposto também no framework.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68172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spring.servlet.multipart.max-file-size: 5MB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spring.servlet.multipart.max-request-size: 6MB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da Aula 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você aplica design e validação corrigindo falhas reais do Portal.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do laboratório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2.1 — Threat Modeling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 matriz STRIDE do Portal com novas ameaças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2.2 — SQL Injection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a busca com query parametrizada + teste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2.3 — Bean Validation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 nos DTOs + validador @CNPJ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341985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2.4 — Upload seguro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382219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number, limite de tamanho, nome gerado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109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 está no deck de laboratório (lab-aula-2) e no lab.md.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a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nascem no design — decida onde cada controle mora.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Empilhe defesas (defense in depth) e falhe negando.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ameaças com STRIDE sobre o DFD do Portal.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+ Bean Validation na borda; regras no domínio.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se resolve com parametrização, não com sanitização.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 magic number, limite e nome gerado pelo servidor.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— Autenticação e Autorização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explorar e corrigir de vez o IDOR e o hashing de senha do Portal. A Aula 3 parte de aula-3-baseline (com o SQLi e a validação já corrigidos).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2026-09-17T14:05:48Z</dcterms:created>
  <dcterms:modified xsi:type="dcterms:W3CDTF">2026-09-17T14:05:48Z</dcterms:modified>
</cp:coreProperties>
</file>