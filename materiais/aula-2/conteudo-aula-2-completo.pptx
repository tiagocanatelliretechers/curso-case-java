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46304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389120"/>
            <a:ext cx="3474720" cy="347472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APPLICATION SECURITY ENGINEER — JAVA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Seguro e Arquitetura + Validação de Entrada (versão completa)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conteúdo · leitura e apresentação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Seguro e Arquitetura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 hoje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1 você reconheceu a aplicação e escreveu requisitos. Hoje entendemos por que as falhas nascem — e como eliminá-las já no design e na validação de entrada.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de secure by design, um a um, com exemplos concretos.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com STRIDE, letra por letra, sobre a arquitetura do Portal.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validação: níveis, allowlist, canonicalização e injeção.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8668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corrigir SQL Injection, adicionar Bean Validation e proteger o upload.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5570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vulnerabilidades é barata de evitar no design e cara de remediar em produção.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as falhas nascem no design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vulnerabilidades não são "bugs" — são decisões de projeto que nunca foram tomadas.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design não define onde um controle mora (validar, autorizar, cifrar), a implementação simplesmente segue sem ele — e a falha nasce "correta" do ponto de vista funcional.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787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4701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IDOR do Portal existe porque ninguém decidiu, no design, em que camada verificar a posse do pedido.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742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2656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esquecer de prever o cofre na planta do banco — depois, nenhuma tranca na porta compensa.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96976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506120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é uma decisão de arquitetura, não um remendo posterior.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Design — a teoria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não é um recurso adicionado depois; é consequência de boas decisões de projeto.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"secure by design" é incorporar segurança nas decisões de arquitetura desde o início — quais dados cruzam quais fronteiras, onde os controles vivem e como o sistema se comporta sob abuso.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787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4701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dentro: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parte-se dos requisitos de segurança (Aula 1) e do modelo de ameaças para decidir a arquitetura — não o contrário.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742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2656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 um banco já com cofre e sala-forte, em vez de "adicionar segurança" a um galpão pronto.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Design — no Portal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ver onde decisões de design (ausentes) explicam as falhas do Portal.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1F1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concatena SQL (faltou decidir "consultas sempre parametrizadas"); o upload aceita qualquer arquivo (faltou "política de arquivos"); /pedidos/{id} não checa dono (faltou "autorização por objeto").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dessas é um erro de digitação — são controles que o design não previu.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14216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escolham uma tela do Portal e digam qual decisão de design a protegeria.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1 — Least Privilege (teoria)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usuário, serviço ou componente deve ter o mínimo de acesso necessário à sua função.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privilégios excessivos ampliam o dano de qualquer comprometimento — menos acesso significa menor raio de explosão.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acontece: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conveniência, dá-se acesso "amplo para não travar" — e esse acesso nunca é revisado.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3250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negando tudo e conceda apenas o estritamente necessário, de forma explícita.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1 — Least Privilege (tangível)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princípio aparece em vários níveis — do banco ao token.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deveria conectar ao banco com um usuário que só faz SELECT/INSERT/UPDATE nas tabelas do domínio — nunca um superusuário que pode dropar tabelas.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JWT deveria carregar apenas o papel necessário; contas de serviço, apenas as permissões da sua função.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142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funcionário da limpeza tem a chave das salas que limpa, não a chave do cofre.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2 — Defense in Depth (teoria)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dependa de uma única defesa; empilhe camadas independentes.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(validação, autorização, criptografia, monitoramento) é independente — o atacante precisa vencer todas, não apenas uma.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dentro: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camadas devem ser diversas (não a mesma defesa repetida) para que uma falha não derrube as demais.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banco tem porta, cofre, câmeras e alarme; se uma falha, as outras seguram.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2 — Defense in Depth (tangível)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Portal, veremos a mesma ameaça barrada em mais de uma camada.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SQLi temos validação de entrada (borda) E consultas parametrizadas (dados) — se a validação falhar, a parametrização ainda protege.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roubo de sessão, combinamos cookie HttpOnly, CSP e HTTPS (Aulas 4 e 5).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assuma que qualquer camada isolada pode falhar — e projete para isso.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3 — Fail Securely (teoria)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Diante de um erro inesperado, o estado padrão deve ser negar, nunca liberar.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exceção não tratada não pode "abrir" acesso por acidente; o caminho de erro precisa terminar em negação.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acontece: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catch genérico que engole a exceção de autorização e deixa o fluxo continuar como se estivesse tudo bem.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checagem de permissão lança exceção, o resultado deve ser 403 — jamais "passa".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3 — Fail Securely (tangível)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de código certo torna a falha segura por construção.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1018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08276"/>
            <a:ext cx="10661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permitido = false;          // estado inicial NEGADO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permitido = verificarPermissao(user, recurso);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(Exception e) { permitido = false; }  // erro =&gt; nega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(!permitido) throw new AccessDeniedException();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5925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5069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permitido = true e só desligar em alguns casos — qualquer caminho esquecido "abre".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5478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46220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inicialize negando; conceda só após a verificação ter sucesso explícito.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4 — Separation of Duties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pessoa (ou componente) deve concentrar poder suficiente para abusar sozinha.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quem solicita de quem aprova, e quem opera de quem audita, reduz fraude e erro.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cria um pedido de reembolso não deveria ser quem o aprova; um mesmo serviço não deveria emitir e também validar seus próprios tokens sem verificação independente.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142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banco, quem abre o cofre e quem tem o segredo do alarme são pessoas diferentes.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5 — Complete Mediation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requisição a um recurso é verificada — sempre, não só na primeira vez.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cacheie indevidamente a decisão de acesso; cada acesso ao objeto deve revalidar a autorização.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acontece: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performance, valida-se uma vez e "confia" nas próximas — e o contexto muda.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GET /pedidos/{id} precisa reverificar a posse, não confiar em uma checagem anterior da sessão.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6 — Economy of Mechanism (KISS)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Simplicidade é uma propriedade de segurança: código complexo esconde falhas.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menor e mais simples o mecanismo de segurança, menor a superfície de erro e mais fácil a revisão.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regra de autorização clara em um único ponto (o Service) é mais segura que a mesma regra espalhada e duplicada.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o desenho mais simples que atenda ao requisito — complexidade é dívida de segurança.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7 — Zero Trust (teoria)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confie por localização de rede; verifique sempre identidade e autorização.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interna não é "confiável" por definição — cada requisição prova quem é e o que pode, mesmo vinda de dentro.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dentro: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evolução moderna de least privilege + complete mediation aplicada a serviços e usuários.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prédio onde cada porta exige o crachá — não basta "já estar lá dentro".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em camadas — a teoria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aplicação Spring, cada camada tem uma responsabilidade de segurança específica.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9854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(borda): autenticação, validação sintática, mapeamento de erro.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(domínio): autorização de negócio, validação semântica, invariantes (ex.: posse).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3522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acesso a dados parametrizado.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21411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30555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design decide em qual camada cada controle vive; se não vive em nenhuma, a falha nasce.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em camadas — no Portal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cada correção do curso vai morar.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9854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→ Repository/Service (consulta parametrizada).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→ Service (checagem de posse), reforçado por @PostAuthorize.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3522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entrada → Controller (Bean Validation nos DTOs).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21411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30555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esconder o link de /admin no template não é controle — a decisão mora no servidor.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 — Fronteiras de confiança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central do design seguro: por onde o dado entra e a partir de onde não posso confiar nele?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trust boundary é o ponto onde o dado deixa o controle do sistema; tudo que a cruza é não confiável até validação.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4553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 (fronteiras): internet↔app, app↔banco, app↔storage de anexos, app↔fornecedor (URL de catálogo).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749040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 fronteira do Portal está o maior risco, e por quê?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validar — client x server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no cliente é conveniência; segurança acontece no servidor.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roda na máquina do usuário, que pode inspecionar e alterar qualquer requisição — controles só no cliente são decorativos.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maxlength e readonly no HTML não impedem o atacante de enviar o que quiser via Postman.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(de novo) no servidor, sempre — o cliente é território do atacante.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validar — borda x domínio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acontece em lugares diferentes, com propósitos diferentes.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9854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 (Controller): formato e sintaxe — Bean Validation nos DTOs.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(Service): regras de negócio e invariantes (ex.: "preço vem do servidor", "pedido pertence ao cliente").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6839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25983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do CNPJ é validação de borda; "este CNPJ pode fechar este pedido" é regra de domínio.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e WAF — camada adicional, não substituta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Proteções de borda ajudam, mas não corrigem a causa dentro do código.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e WAF oferecem rate limiting, filtragem e terminação de TLS — reduzem ruído e barram ataques triviais.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o WAF como "a" segurança; o atacante reescreve o payload até passar pela assinatura.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compra tempo; a correção mora no código.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Modeling — por que e quando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ameaças é antecipar, no design, o que pode dar errado — antes de escrever a primeira linha.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atividade de time, feita sobre um diagrama do sistema e revisitada quando a arquitetura muda.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dentro: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não é um documento morto — é uma lista de mitigações e testes priorizados.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3250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modelamos as ameaças do Portal e derivamos mitigações — a base do Lab 2.1.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Modeling — o processo em 4 perguntas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método simples e repetível, que cabe em qualquer sprint.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O que estamos construindo? (o diagrama / DFD)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O que pode dar errado? (STRIDE)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O que vamos fazer a respeito? (mitigações)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3522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Fizemos um bom trabalho? (revisão e testes)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21411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30555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só entrega valor se as respostas de (3) e (4) virarem código e teste.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 — o diagrama de fluxo (DFD)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modelar ameaças, primeiro desenhamos por onde os dados fluem e onde estão as fronteiras.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Data Flow Diagram mostra entidades externas, processos, armazenamentos e os fluxos — e marca as trust boundaries.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45536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2442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externas: Cliente (browser), Admin, Fornecedor (URL).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0332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Processos: a aplicação web; Armazenamentos: banco e storage de anexos.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8221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Fluxos: login, busca, checkout, upload, importar catálogo, painel admin.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— a teoria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é uma taxonomia para enumerar ameaças; cada letra mapeia uma propriedade de segurança violada.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→ autenticidade · Tampering → integridade · Repudiation → auditoria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 → confidencialidade · Denial of Service → disponibilidade · Elevation of Privilege → autorização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4096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240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checklist de "tipos de coisa ruim" — para cada fluxo, percorre-se as seis letras.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— S de Spoofing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Fingir ser quem não é: forjar identidade de usuário, serviço ou origem.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à autenticidade; mitiga-se com autenticação forte, MFA e verificação de origem.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no login sem limite; um JWT sem verificação permite "ser" outro usuário.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defende: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MFA e verificação de assinatura de token (Aulas 3 e 4).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— T de Tampering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Adulterar dados em trânsito, em repouso ou em parâmetros.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à integridade; mitiga-se com validação, parametrização, HMAC/assinatura e TLS.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na busca adultera a consulta; alterar o preço no checkout adultera o valor.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defende: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parametrizadas, "preço vem do servidor", integridade criptográfica.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— R de Repudiation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 ter feito uma ação, por falta de trilha confiável.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à auditoria/não-repúdio; mitiga-se com logging de segurança íntegro e assinado.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sensíveis sem log — impossível provar quem fez o quê.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5643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54787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defende: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eventos de segurança (sem dado sensível) e proteger os logs (Aula 5).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— I de Information Disclosure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Vazar informação a quem não deveria vê-la.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à confidencialidade; mitiga-se com autorização por objeto, criptografia e controle de erros.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expõe pedidos alheios; /actuator/env expõe segredos; SSRF alcança recursos internos.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defende: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de posse, cifrar dado sensível, fechar endpoints de gestão (Aulas 3, 4, 6).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— D de Denial of Service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Tornar o sistema indisponível para quem tem direito.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à disponibilidade; mitiga-se com limites, cotas e validação de tamanho.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sem limite de tamanho pode esgotar disco/memória; ausência de rate limiting facilita abuso.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defende: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tamanho no upload, rate limiting e timeouts.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— E de Elevation of Privilege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Ganhar permissões além das concedidas.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à autorização; mitiga-se com RBAC correto, autorização por objeto e verificação de token.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 acessível a qualquer logado; trocar role num JWT não verificado vira admin.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defende: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hasRole('ADMIN'), checagem de posse e assinatura de JWT (Aulas 3 e 4).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matriz à mitigação (priorização)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ameaça vira um requisito/controle e um teste — priorizados por risco.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≈ Probabilidade × Impacto; ameaças fáceis e de alto impacto vêm primeiro.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IDOR (fácil, expõe dados de pagamento) é prioridade máxima; um DoS difícil e teórico pode vir depois.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STRIDE do Lab 2.1 termina em uma lista priorizada de correções.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de Entrada</a:t>
            </a:r>
            <a:endParaRPr lang="en-US" sz="3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 — os três níveis de validação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não é uma coisa só; são três perguntas diferentes sobre o mesmo dado.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9854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Sintática: o formato está correto? (ex.: e-mail tem @, CNPJ tem 14 dígitos)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Semântica: o valor faz sentido? (ex.: data de nascimento não é no futuro)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3522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negócio: a regra do domínio permite? (ex.: este cliente pode comprar este produto)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21411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30555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níveis são necessários; a borda cuida do sintático, o domínio do resto.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Allowlist x Denylist — a teoria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só o conhecido-bom vence tentar bloquear o conhecido-ruim.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denylist está sempre atrás da próxima variação de ataque (encoding, Unicode, sintaxe alternativa); a allowlist define o válido e rejeita todo o resto.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denylist é a lista de "bandidos conhecidos" na portaria; a allowlist é a lista de convidados.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o formato válido e recuse o que não casar.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Allowlist x Denylist — tangível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campo, protegido de dois jeitos — só um é robusto.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CNPJ, aceitar apenas 14 dígitos com verificação dos dígitos verificadores (allowlist) é sólido; "remover caracteres perigosos" (denylist) sempre esquece um caso.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sanitizar removendo ' para "evitar SQLi" — o atacante usa encoding, comentários ou outra sintaxe.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142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 2.3 aplicamos allowlist com Bean Validation e um validador de CNPJ.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Bean Validation — a teoria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Spring, a validação sintática na borda é declarativa: anotações nos DTOs.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anotações declaram o contrato do dado; @Valid no controller dispara a verificação e os erros voltam num BindingResult.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dentro: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trás está o Hibernate Validator (implementação da Jakarta Bean Validation).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os DTOs não têm nenhuma anotação — qualquer valor é aceito.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Bean Validation — anotações e uso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catálogo pequeno resolve a maioria dos casos de formato.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1316736"/>
          </a:xfrm>
          <a:prstGeom prst="roundRect">
            <a:avLst>
              <a:gd name="adj" fmla="val 4167"/>
            </a:avLst>
          </a:prstGeom>
          <a:solidFill>
            <a:srgbClr val="1018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08276"/>
            <a:ext cx="10661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CadastroClienteForm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@NotBlank @Size(max=150) private String razaoSocial;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@Email    @NotBlank       private String email;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@Size(min=10)             private String senha;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@CNPJ                     private String cnpj;   // customizada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50672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59816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@NotBlank (não nulo/vazio), @Size (tamanho), @Email, @Pattern (regex), @Positive.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302252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393692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Lab 2.3 adiciona essas anotações e ativa @Valid no controller.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 — grupos e mensagens de validação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 regra vale em todo momento — e o erro precisa comunicar sem vazar.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validação permitem aplicar regras diferentes por contexto (ex.: criação vs. edição); mensagens devem ser claras ao usuário e genéricas quanto a detalhes internos.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senha só no cadastro (não na edição de perfil) usando grupos.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142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de erro ajuda o usuário, não o atacante — nada de stack trace ou detalhe de banco.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Validador customizado — @CNPJ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regra é de negócio, encapsule-a como uma anotação reutilizável.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anotação @Constraint + um ConstraintValidator transformam a regra (CNPJ válido) em validação declarativa, reaproveitável em qualquer DTO.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03804"/>
            <a:ext cx="10661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@Constraint(validatedBy = CnpjValidator.class)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@interface CNPJ { /* message, groups, payload */ 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073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6987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validador confere os 14 dígitos e os dois dígitos verificadores — rejeitando 00.000.000/0000-00.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 — canonicalização e normalização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o dado na sua forma canônica; senão o atacante escolhe a forma que engana sua validação.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encoding, Unicode e caminhos ANTES de validar; a mesma informação tem muitas representações.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..%2f..%2f e ..\ representam o mesmo ../ — validar antes de decodificar deixa passar.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3250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decodifique/normalize primeiro, valide depois.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traversal — tangível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nome de arquivo malicioso pode escapar do diretório previsto.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como ../../etc/passwd sobem na árvore de diretórios se compuserem o caminho sem checagem.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defende: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o nome no servidor; resolva o caminho final e verifique se ele permanece dentro do diretório permitido.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upload usa o nome enviado pelo cliente — o Lab 2.4 gera um nome seguro (UUID) e valida o caminho.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seguro — o que validar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é um vetor clássico de RCE e DoS; trate cada arquivo como hostil.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o conteúdo real (magic number), não só a extensão; imponha limite de tamanho; gere o nome no servidor; armazene fora do webroot e sem execução.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upload aceita qualquer extensão, sem limite, com o nome do cliente.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extensão do arquivo é uma sugestão do cliente — não uma verdade.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seguro — magic number (tangível)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real de um arquivo está nos seus primeiros bytes, não no nome.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1018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08276"/>
            <a:ext cx="10661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byte[] head = primeirosBytes(arquivo, 8);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hex = HexFormat.of().formatHex(head);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%PDF=25504446  .PNG=89504e47  JPEG=ffd8ff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tipo = detectarPorAssinatura(hex);   // rejeita se não casar allowlist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59252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explorar (antes): renomear shell.jsp para foto.png e enviar — sem magic number, passa.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52958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Lab 2.4 decide o tipo pelo conteúdo e rejeita o resto.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seguro — armazenamento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 como você grava o arquivo importa tanto quanto o que você aceita.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 fora do webroot (para não ser servido/executado), com nome gerado pelo servidor, e imponha o limite no framework.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03804"/>
            <a:ext cx="10661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spring.servlet.multipart.max-file-size: 5MB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spring.servlet.multipart.max-request-size: 6MB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073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6987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arquivo enviado nunca deve ser executável nem acessível por URL direta.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Injeção na origem — a teoria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reduz o risco, mas a defesa central contra injeção é separar comando de dado.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nasce de misturar, na mesma string, a instrução e o dado do usuário; o interpretador não distingue um do outro.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ditar uma carta e, no meio, dizer "…e agora apague os arquivos" — sem separar, o interpretador obedece.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construa comandos concatenando entrada do usuário — nem SQL, nem shell, nem HTML.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 — PreparedStatement, por dentro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query parametrizada é imune, e a concatenada não é.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PreparedStatement, o banco recebe a estrutura da query com marcadores ? e compila o plano ANTES de receber os valores; o valor chega depois, como dado — nunca é reinterpretado como SQL.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448056"/>
          </a:xfrm>
          <a:prstGeom prst="roundRect">
            <a:avLst>
              <a:gd name="adj" fmla="val 12245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jdbc.query("SELECT ... WHERE nome LIKE ?", ps -&gt; ps.setString(1, "%"+termo+"%"), mapper);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AF0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5818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dentro: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aspas, -- e UNION dentro do valor viram texto literal, não comando.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 — antes e depois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endpoint, com e sem a defesa: a diferença é onde o dado entra.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1018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08276"/>
            <a:ext cx="10661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Vulnerável: termo vira parte do comando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... WHERE nome LIKE '%" + termo + "%'";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Seguro: termo é parâmetro; o curinga vai no valor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... WHERE nome LIKE ?"  // ps.setString(1, "%"+termo+"%")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59252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explorar (antes): zzz' UNION SELECT id,email,senha,0,0 FROM usuario -- vaza usuários.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52958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 2.2 você reproduz o ataque e depois vê o UNION deixar de funcionar.</a:t>
            </a:r>
            <a:endParaRPr lang="en-US" sz="13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Outras injeções — OS, LDAP, XPath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raiz aparece fora do SQL — e a defesa é a mesma ideia.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9854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Command: evite Runtime.exec com entrada do usuário; use APIs seguras e allowlist de comandos/argumentos.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950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e XPath: use escaping/binding específico do provedor; não concatene filtros com dado do usuário.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49300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interpretador (banco, shell, diretório, parser), existe uma forma de passar dado como dado — use-a.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 — validação de entrada x output encoding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defesas complementares que resolvem problemas diferentes.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 decide o que entra; output encoding decide como o dado é renderizado com segurança no contexto de saída (HTML, atributo, JS, URL) — é a defesa central contra XSS.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nome com &lt;script&gt; pode ser um dado válido; o que impede o XSS é escapá-lo ao exibir (Thymeleaf faz isso por padrão com th:text).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14216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na entrada E codifique na saída — uma não substitui a outra.</a:t>
            </a:r>
            <a:endParaRPr lang="en-US" sz="13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e Fechamento</a:t>
            </a:r>
            <a:endParaRPr lang="en-US" sz="3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E FECHAMENTO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Aula 2 (visão geral)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você aplica o design e a validação corrigindo falhas reais do Portal.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2.1 — Completar a matriz STRIDE com novas ameaças.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2.2 — Corrigir o SQL Injection na busca (parametrização) + teste.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2.3 — Bean Validation nos DTOs + validador @CNPJ.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3522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2.4 — Upload seguro (magic number, tamanho, nome gerado).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21411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30555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guia passo a passo está no deck de laboratório (lab-aula-2) e no lab.md.</a:t>
            </a:r>
            <a:endParaRPr lang="en-U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E FECHAMENTO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 e ponte para a Aula 3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vimos por que as falhas nascem no design e como a validação fecha uma classe inteira de ataques.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modelou ameaças com STRIDE, letra por letra, e corrigiu SQLi, validação e upload.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3: autenticação e autorização — vamos explorar e corrigir de vez o IDOR e o hashing de senha.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40964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Tarefa: revise consultas parametrizadas e Bean Validation. A Aula 3 parte de aula-3-baseline.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2026-09-15T21:52:13Z</dcterms:created>
  <dcterms:modified xsi:type="dcterms:W3CDTF">2026-09-15T21:52:13Z</dcterms:modified>
</cp:coreProperties>
</file>