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Apresente-se, apresente o formato (teoria + laboratório na mesma aula), e a aplicação "Portal de Pedidos B2B" que vamos proteger nas 6 aulas. Peça que todos confirmem ambiente (JDK 17, Docker, IDE) já no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 o "gancho": tudo que virmos hoje será aprofundado nas próximas aulas.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Enfatize: a maioria das brechas de alto impacto hoje é na camada de aplicação, não na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exemplo do Portal: o firewall deixa passar GET /pedidos/2 — quem decide se João pode ver o pedido 2 é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invente estatísticas específicas. Referencie fontes reconhecidas (OWASP, Verizon DBIR, relatórios de fornecedores) como leitura, sem citar números não verificáveis.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Introduza informalmente a curva de custo por fase do SDLC — retomada no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 rápidos: SQLi (C+I), DoS (A), IDOR (C), log ausente (Accountability).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cada categoria já existe, viva, no Portal (ver VULNERABILITIES.md).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#1 do Top 10 2021. É exatamente o IDOR do Portal — será explorado na Aula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Portal: senha em MD5, "dados de pagamento" em Base64, segredo JWT fraco. Aulas 3 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Inclui XSS na taxonomia 2021. No Portal: SQLi na busca. Aula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de misconfiguration. "Não dá para 'corrigir bug' o que nunca foi projetado com segurança."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Portal, /actuator/env está aberto. Aulas 5 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 há uma dependência com CVE didática. Dependency-Check na Aula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Portal: MD5, user enumeration, JWT quebrado. Aulas 3 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A06. SBOM e assinatura na Aula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Portal: log injection no import. Aula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Portal: importar catálogo por URL. Design seguro na Aula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anatomia de um ataque (Bloco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mapear um ataque real ao Portal nesta 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exatamente o que os alunos farão no Lab 1.2. Antecipe a "Ficha de Reconhecimento".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detalhe o payload aqui — será visto nas aulas específicas; foco na sequência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com A09: sem logs, o atacante age impune.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genérico e fictício. Não atribua a empresas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como 4 categorias do Top 10 se somam. Cada elo sozinho já seria 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Transição: "e se tivéssemos pensado em segurança desde o requisito?" → Bloco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mapa do curso inteiro. Mostre qual aula cobre qual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shift-left: quanto mais cedo, mais barato.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"Se 'o cliente só vê os próprios pedidos' não é requisito escrito, o IDOR nasce legítimo."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tabela de contraste com 3 exemplos.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Lab 1.3 os alunos escreverão abuse cases para 2 funcionalidades.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template do anexo. Enfatize critérios de aceite verificáveis.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preciso decorar; é preciso saber consultar. Aponte o repositório ASVS.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com A02/A07 do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com A03/A04. Antecipa Lab 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"preço vindo do cliente" como insecure design clássico.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claro que na Aula 2 faremos threat modeling completo com STRIDE.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a transição para 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Distribua lab.md e os anexos. Circule pela sala; use os "Checkpoints" para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Colete 2–3 requisitos de segurança da turma e "adote-os" oficialmente para as próximas aulas.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Aplique ao vivo; discuta as respostas erradas.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mantenham o ambiente pronto; a Aula 2 parte de aula-2-baseline.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271455" y="3566160"/>
            <a:ext cx="2743200" cy="2743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AppSec, Ameaças e Ataques + Levantamento de Requisitos de Segurança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total: 240 min (2 intervalos de 10 min). Blocos ao final de cada seção. Termos técnicos em inglês são mantidos (ex.: *Broken Access Control*).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1 (50 min) — Panorama de Application Security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Abertura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(CASE) — Java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24h, 6 aulas de 4h. Hoje: por que AppSec, como pensam os atacantes, como levantar requisitos de segurança.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da aula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é AppSec e por que difere de segurança de rede/infra.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OWASP Top 10 (2021) e a anatomia de um ataque.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Introduzir Secure SDLC.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levantamento de requisitos de segurança (abuse cases, security user stories, ASVS).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Application Security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aplicação (código, lógica, dados) contra uso indevido.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*como o software se comporta*, não só em *onde ele roda*.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como propriedade emergente do ciclo de desenvolvimento, não um "produto" acoplado no fim.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AppSec ≠ Network/Infra Security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Firewall/IDS/segmentação protegem o perímetro e o transporte.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enxergam lógica de negócio: um IDOR é uma requisição HTTP perfeitamente "válida".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ajuda, mas é mitigação, não correção — atacante adapta o payload.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Responsabilidade: infra é do time de operações; AppSec é (também) do desenvolvedor.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ataca e por quê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Atores: cibercriminosos (financeiro), insiders, hacktivistas, estados-nação, script kiddies, pesquisadores.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Motivações: dinheiro (fraude, ransomware, venda de dados), vantagem competitiva, ideologia, notoriedade.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cresce: APIs, mobile, cloud, dependências de terceiros.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uma brecha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diretos: resposta a incidente, forense, correção, notificação.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Indiretos: multas regulatórias (ex.: LGPD/GDPR), perda de clientes, reputação, litígio.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tarde a falha é encontrada, mais cara é a correção (shift-left).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Tríade CIA e além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Availability.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Complementos: Authentication, Authorization, Accountability (auditoria/logging), Non-repudiation.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vulnerabilidade viola uma ou mais dessas propriedades.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Top 10 (2021): visão geral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das 10 categorias de risco mais críticas em aplicações web.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conscientização/priorização, não checklist completo (para isso, ASVS).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seguir: 1 slide por categoria com definição + exemplo Java + impacto.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A01: Broken Access Control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usuário faz algo além do que sua permissão deveria permitir (IDOR, escalada).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(vulnerável):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vazamento/alteração de dados de outros usuários.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10182A"/>
          </a:solidFill>
          <a:ln/>
          <a:effectLst>
            <a:outerShdw sx="100000" sy="100000" kx="0" ky="0" algn="bl" rotWithShape="0" blurRad="101600" dist="38100" dir="5400000">
              <a:srgbClr val="0B102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9679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@GetMapping("/pedidos/{id}")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Pedido ver(@PathVariable Long id){ return repo.findById(id).get(); } // sem checar dono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A02: Cryptographic Failures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dado sensível exposto por cripto ausente/fraca/mal usada.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(vulnerável): Base64.getEncoder().encodeToString(cartao) — codificação, não cripto.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exposição de senhas, cartões, PII.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A03: Injection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dado não confiável interpretado como comando (SQL, OS, LDAP, XPath).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(vulnerável):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leitura/alteração de dados, RCE.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10182A"/>
          </a:solidFill>
          <a:ln/>
          <a:effectLst>
            <a:outerShdw sx="100000" sy="100000" kx="0" ky="0" algn="bl" rotWithShape="0" blurRad="101600" dist="38100" dir="5400000">
              <a:srgbClr val="0B102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9679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* FROM produto WHERE nome LIKE '%" + termo + "%'"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A04: Insecure Design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falha de concepção — ausência de controle desde o design (não é bug de implementação).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fluxo sem rate limiting, sem limites de negócio, sem threat modeling.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classes inteiras de ataque viáveis por ausência de defesa.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A05: Security Misconfiguration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config insegura (defaults, portas/endpoints abertos, verbose errors).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Java/Spring: Actuator exposto, H2 console aberto, stack trace ao cliente.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reconhecimento facilitado, exposição de segredos.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A06: Vulnerable and Outdated Components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uso de bibliotecas/versões com vulnerabilidades conhecidas.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dependência desatualizada com CVE (ex.: commons-text 1.9 — Text4Shell).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herda a vulnerabilidade da dependência.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A07: Identification &amp; Authentication Failures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falhas em provar/identificar identidade (brute force, senhas fracas, user enumeration, MFA ausente).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login sem rate limiting, JWT sem verificação de assinatura.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account takeover.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A08: Software &amp; Data Integrity Failures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confiar em código/dados sem verificar integridade (update sem assinatura, deserialização insegura, CI/CD comprometido).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pipeline sem verificação de dependências/artefatos.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supply chain, execução de código malicioso.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A09: Security Logging &amp; Monitoring Failures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eventos de segurança não registrados/monitorados; ou logs inseguros (log injection).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não logar tentativas de login; logar input cru com \n.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incidentes passam despercebidos; forense inviável.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A10: SSRF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Def.: servidor é induzido a fazer requisições a destinos não pretendidos.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new URL(urlDoUsuario).openConnection() sem allowlist.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acesso a serviços internos/metadados de cloud.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categorias se conectam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 uma falha isolada: atacante encadeia várias.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misconfig (recon) → injection (foothold) → broken access control (pivot) → crypto failure (loot).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2 (50 min) — Anatomia de um ataque + estudo de caso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Kill Chain (simplificado)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→ Weaponization → Delivery/Exploitation → Post-Exploitation (persistência, exfiltração).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em cada etapa ("defense in depth").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mapear alvo sem "tocar" muito.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Técnicas: enumerar endpoints, ler headers/erros, comentários em HTML/JS, versões expostas, /actuator.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Weaponization &amp; Exploitation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falha e construir o payload.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montar o UNION SELECT para a busca de produtos; forjar JWT.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Post-Exploitation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(horizontal/vertical), movimento lateral, persistência, exfiltração.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Encobrir rastros (ausência de logging ajuda o atacante).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 "Empresa X" (1/3): contexto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B2B semelhante ao nosso, exposto por engano em staging na internet.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WAF, Actuator aberto, busca vulnerável a SQLi.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 (2/3): a cadeia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Recon: atacante acha /actuator/env → descobre nome do banco e libs.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Injection: SQLi na busca extrai e-mails e hashes MD5.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Crypto failure: MD5 sem salt → quebra offline em minutos.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Broken access control: login + IDOR/JWT forjado → acesso a pedidos e dados de pagamento.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 (3/3): impacto e lições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vazamento de PII e dados de pagamento; multa e dano reputacional.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Lições: cada camada quebrada foi uma oportunidade perdida de defesa em profundidade.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SDLC: visão geral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TODAS as fases: Requisitos → Design → Implementação → Teste → Deploy → Manutenção.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tem atividades e artefatos de segurança próprios.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segurança entra em cada fase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security requirements, abuse cases (hoje).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threat modeling, princípios seguros (Aula 2).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Implementação: secure coding, validação, authn/z, cripto (Aulas 2–4).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SAST/DAST/IAST (Aula 5).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Deploy/Manutenção: hardening, dependências, monitoramento (Aula 6).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3 (50 min) — Security Requirements Gathering</a:t>
            </a:r>
            <a:endParaRPr lang="en-US" sz="3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requisitos de segurança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requisito não é testado nem cobrado.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"implícita" vira dívida e incidente.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guiam design, implementação e critérios de aceite.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 funcional vs. de segurança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Funcional: *o que* o sistema faz ("cliente cria pedido").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*sob quais restrições/garantias* ("apenas o dono acessa o pedido"; "senha nunca em texto claro").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requisitos de segurança são "negativos" (o sistema NÃO deve permitir X).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Abuse cases / Misuse cases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pela ótica do atacante: o que ele quer alcançar.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contramedidas (requisitos de segurança).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simples: Ator malicioso → objetivo → ameaça → mitigação.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User Stories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*"As an attacker, I want &lt;ação&gt; so that &lt;ganho&gt;"* → gera a story defensiva.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"As an attacker, I want to change the order id in the URL so that I can read other clients' orders."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Defensiva: "As the system, I must verify order ownership before returning it."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aceite viram testes.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ASVS (níveis 1 e 2)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Verification Standard: catálogo de requisitos verificáveis.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1: básico/oportunístico; Nível 2: aplicações que lidam com dados sensíveis (nosso caso).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como checklist para não esquecer categorias (V2 Auth, V3 Session, V4 Access Control, V5 Validation...).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Derivando requisitos (exemplo 1: Cadastro de cliente)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Funcional: cadastrar razão social, CNPJ, e-mail, senha.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(amostra):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Validar/normalizar todas as entradas (allowlist).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via hashing forte (bcrypt/Argon2), nunca reversível.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revelar se e-mail já existe (anti user-enumeration).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ASVS: V2 (Auth), V5 (Validation).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Derivando requisitos (exemplo 2: Upload de comprovante)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Funcional: enviar arquivo de comprovante ao pedido.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(amostra):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de tipos (ex.: PDF/PNG/JPG) validando magic number, não só extensão.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tamanho; nome de arquivo gerado pelo servidor.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 fora do webroot; sem execução.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ASVS: V12 (File and Resources).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Derivando requisitos (exemplo 3: Checkout)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Funcional: fechar pedido e registrar pagamento.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(amostra):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Reautenticar/validar posse do carrinho; preços vêm do servidor (não do cliente).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 cifrados em repouso (AES-GCM), TLS em trânsito.</a:t>
            </a:r>
            <a:endParaRPr lang="en-US" sz="1550" dirty="0"/>
          </a:p>
          <a:p>
            <a:pPr algn="l"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 da transação (sem dado sensível).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ASVS: V3 (Session), V6 (Cryptography), V7 (Logging).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por risco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≈ Probabilidade × Impacto.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requisitos que mitigam riscos altos primeiro.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informal ao STRIDE (Spoofing, Tampering, Repudiation, Info Disclosure, DoS, Elevation) — aprofundado na Aula 2.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de escrita de requisitos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Verificáveis, específicos, sem ambiguidade ("deve", não "deveria").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Rastreáveis (a qual funcionalidade/ameaça pertencem).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critério de aceite/teste associado.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4 (60 min) — Laboratório</a:t>
            </a:r>
            <a:endParaRPr 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1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1.1: subir o Portal de Pedidos (docker/local) e navegar.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1.2: reconhecimento manual + preencher a Ficha de Reconhecimento.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1.3: escrever abuse cases e derivar requisitos de segurança (2 funcionalidades). ---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INTERVALO (10 min)</a:t>
            </a:r>
            <a:endParaRPr lang="en-US" sz="3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5 (20 min) — Debrief + Quiz + Fechamento</a:t>
            </a:r>
            <a:endParaRPr lang="en-US" sz="3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 do laboratório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achados da Ficha de Reconhecimento (endpoints, versões, erros verbosos).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abuse cases: quantos requisitos verificáveis cada dupla derivou?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fixação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 (ver quiz.md).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40135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40135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e ponte para a Aula 2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reconhecemos a aplicação e escrevemos requisitos.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2: por que essas falhas existem (design) e como validar entrada para eliminá-las.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revisar OWASP Top 10 e ler 1 seção do ASVS.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2026-09-14T02:31:19Z</dcterms:created>
  <dcterms:modified xsi:type="dcterms:W3CDTF">2026-09-14T02:31:19Z</dcterms:modified>
</cp:coreProperties>
</file>