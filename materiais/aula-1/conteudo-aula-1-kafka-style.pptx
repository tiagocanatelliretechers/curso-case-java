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notesMasterIdLst>
    <p:notesMasterId r:id="rId4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notesMaster" Target="notesMasters/notes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222B39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2011680"/>
            <a:ext cx="1554480" cy="1371600"/>
          </a:xfrm>
          <a:prstGeom prst="roundRect">
            <a:avLst>
              <a:gd name="adj" fmla="val 13333"/>
            </a:avLst>
          </a:prstGeom>
          <a:solidFill>
            <a:srgbClr val="1B2430"/>
          </a:solidFill>
          <a:ln w="25400">
            <a:solidFill>
              <a:srgbClr val="5AA1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1371600" y="3246120"/>
            <a:ext cx="1554480" cy="822960"/>
          </a:xfrm>
          <a:prstGeom prst="triangle">
            <a:avLst/>
          </a:prstGeom>
          <a:solidFill>
            <a:srgbClr val="1B2430"/>
          </a:solidFill>
          <a:ln w="25400">
            <a:solidFill>
              <a:srgbClr val="5AA17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0" y="214884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🔒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4572000" y="201168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0" y="2468880"/>
            <a:ext cx="7223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01: Ameaças, Ataques e Requisitos de Segurança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448056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o campo de jogo — quem ataca, como, e o que é o OWASP Top 10 — e transformar isso em requisitos verificáveis.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da Aula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084832"/>
            <a:ext cx="3383280" cy="0"/>
          </a:xfrm>
          <a:prstGeom prst="line">
            <a:avLst/>
          </a:prstGeom>
          <a:noFill/>
          <a:ln w="19050">
            <a:solidFill>
              <a:srgbClr val="5AA17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1488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Panorama de AppSec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060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é, por que difere de rede, quem ataca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4343400" y="17373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43400" y="2084832"/>
            <a:ext cx="3383280" cy="0"/>
          </a:xfrm>
          <a:prstGeom prst="line">
            <a:avLst/>
          </a:prstGeom>
          <a:noFill/>
          <a:ln w="19050">
            <a:solidFill>
              <a:srgbClr val="5AA17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343400" y="21488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 (2021)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343400" y="26060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10 categorias, com exemplos em Java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8046720" y="17373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46720" y="2084832"/>
            <a:ext cx="3383280" cy="0"/>
          </a:xfrm>
          <a:prstGeom prst="line">
            <a:avLst/>
          </a:prstGeom>
          <a:noFill/>
          <a:ln w="19050">
            <a:solidFill>
              <a:srgbClr val="5AA17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46720" y="21488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Anatomia de um Ataque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046720" y="26060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chain e o caso 'Empresa X'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1546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3502152"/>
            <a:ext cx="3383280" cy="0"/>
          </a:xfrm>
          <a:prstGeom prst="line">
            <a:avLst/>
          </a:prstGeom>
          <a:noFill/>
          <a:ln w="19050">
            <a:solidFill>
              <a:srgbClr val="5AA17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35661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SDLC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40233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em todas as fases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4343400" y="31546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343400" y="3502152"/>
            <a:ext cx="3383280" cy="0"/>
          </a:xfrm>
          <a:prstGeom prst="line">
            <a:avLst/>
          </a:prstGeom>
          <a:noFill/>
          <a:ln w="19050">
            <a:solidFill>
              <a:srgbClr val="5AA17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343400" y="35661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de Segurança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343400" y="40233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Abuse cases, user stories, ASVS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8046720" y="31546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046720" y="3502152"/>
            <a:ext cx="3383280" cy="0"/>
          </a:xfrm>
          <a:prstGeom prst="line">
            <a:avLst/>
          </a:prstGeom>
          <a:noFill/>
          <a:ln w="19050">
            <a:solidFill>
              <a:srgbClr val="5AA17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046720" y="35661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Laboratório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046720" y="40233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Reconhecimento + requisitos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de Aprendizado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final desta aula, você será capaz de: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3520440" cy="2377440"/>
          </a:xfrm>
          <a:prstGeom prst="roundRect">
            <a:avLst>
              <a:gd name="adj" fmla="val 2308"/>
            </a:avLst>
          </a:prstGeom>
          <a:solidFill>
            <a:srgbClr val="2E5E43"/>
          </a:solidFill>
          <a:ln w="15875">
            <a:solidFill>
              <a:srgbClr val="4E856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2139696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o cenário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542032"/>
            <a:ext cx="31181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AppSec e por que importa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atacante pensa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de uma brecha (shift-left)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2011680"/>
            <a:ext cx="3520440" cy="2377440"/>
          </a:xfrm>
          <a:prstGeom prst="roundRect">
            <a:avLst>
              <a:gd name="adj" fmla="val 2308"/>
            </a:avLst>
          </a:prstGeom>
          <a:solidFill>
            <a:srgbClr val="2E5E43"/>
          </a:solidFill>
          <a:ln w="15875">
            <a:solidFill>
              <a:srgbClr val="4E856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44568" y="2139696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Conhecer o Top 10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44568" y="2542032"/>
            <a:ext cx="31181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10 categorias de risco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 em Java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vivem no Portal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46720" y="2011680"/>
            <a:ext cx="3520440" cy="2377440"/>
          </a:xfrm>
          <a:prstGeom prst="roundRect">
            <a:avLst>
              <a:gd name="adj" fmla="val 2308"/>
            </a:avLst>
          </a:prstGeom>
          <a:solidFill>
            <a:srgbClr val="2E5E43"/>
          </a:solidFill>
          <a:ln w="15875">
            <a:solidFill>
              <a:srgbClr val="4E856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47888" y="2139696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Levantar requisitos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247888" y="2542032"/>
            <a:ext cx="31181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Abuse cases e misuse cases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user stories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ASVS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22B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4114800"/>
            <a:ext cx="3840480" cy="3840480"/>
          </a:xfrm>
          <a:prstGeom prst="ellipse">
            <a:avLst/>
          </a:prstGeom>
          <a:solidFill>
            <a:srgbClr val="1A22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201168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2004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Panorama de Application Security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343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campo de jogo: o que protegemos, de quem e por quê.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Application Security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i="1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AppSec garante que a aplicação faça o que deve — e, sobretudo, NÃO faça o que não deve, mesmo sob usuários e entradas maliciosas.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487168"/>
            <a:ext cx="10881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 sobre o comportamento do software: lógica, dados e decisões.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um produto instalado no fim — é propriedade do ciclo de desenvolvimento.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vulnerabilidade é a diferença entre o que o dev imaginou e o que o atacante consegue fazer.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4251960"/>
            <a:ext cx="10881360" cy="896112"/>
          </a:xfrm>
          <a:prstGeom prst="roundRect">
            <a:avLst>
              <a:gd name="adj" fmla="val 5102"/>
            </a:avLst>
          </a:prstGeom>
          <a:solidFill>
            <a:srgbClr val="1F3A2E"/>
          </a:solidFill>
          <a:ln w="9525">
            <a:solidFill>
              <a:srgbClr val="7FD3A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325112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as regras internas do prédio (quem entra em cada sala) — o muro (a rede) não decide isso.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AppSec x Segurança de rede/infra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i="1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e HTTPS protegem o transporte; não enxergam a lógica de negócio.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487168"/>
            <a:ext cx="10881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rede vê pacotes e portas — não sabe se 'este usuário pode ver este pedido'.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requisição de ataque quase sempre é um HTTP perfeitamente válido.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WAF ajuda, mas é mitigação: o atacante adapta o payload.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4251960"/>
            <a:ext cx="10881360" cy="896112"/>
          </a:xfrm>
          <a:prstGeom prst="roundRect">
            <a:avLst>
              <a:gd name="adj" fmla="val 5102"/>
            </a:avLst>
          </a:prstGeom>
          <a:solidFill>
            <a:srgbClr val="3A2E1E"/>
          </a:solidFill>
          <a:ln w="9525">
            <a:solidFill>
              <a:srgbClr val="E8B3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325112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E8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comum: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'temos firewall e HTTPS, logo estamos seguros' — HTTPS protege o trânsito, não a lógica.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o firewall não impede um IDOR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468880"/>
            <a:ext cx="2560320" cy="914400"/>
          </a:xfrm>
          <a:prstGeom prst="roundRect">
            <a:avLst>
              <a:gd name="adj" fmla="val 6000"/>
            </a:avLst>
          </a:prstGeom>
          <a:solidFill>
            <a:srgbClr val="AECBFA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46888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Atacante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74720" y="2788920"/>
            <a:ext cx="640080" cy="274320"/>
          </a:xfrm>
          <a:prstGeom prst="rightArrow">
            <a:avLst/>
          </a:prstGeom>
          <a:solidFill>
            <a:srgbClr val="E0605F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0" y="2468880"/>
            <a:ext cx="2560320" cy="914400"/>
          </a:xfrm>
          <a:prstGeom prst="roundRect">
            <a:avLst>
              <a:gd name="adj" fmla="val 6000"/>
            </a:avLst>
          </a:prstGeom>
          <a:solidFill>
            <a:srgbClr val="E9EDF2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251960" y="246888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/ WAF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(HTTPS :443)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0" y="2788920"/>
            <a:ext cx="640080" cy="274320"/>
          </a:xfrm>
          <a:prstGeom prst="rightArrow">
            <a:avLst/>
          </a:prstGeom>
          <a:solidFill>
            <a:srgbClr val="E0605F"/>
          </a:solidFill>
          <a:ln/>
        </p:spPr>
      </p:sp>
      <p:sp>
        <p:nvSpPr>
          <p:cNvPr id="10" name="Shape 8"/>
          <p:cNvSpPr/>
          <p:nvPr/>
        </p:nvSpPr>
        <p:spPr>
          <a:xfrm>
            <a:off x="7589520" y="2468880"/>
            <a:ext cx="3657600" cy="914400"/>
          </a:xfrm>
          <a:prstGeom prst="roundRect">
            <a:avLst>
              <a:gd name="adj" fmla="val 6000"/>
            </a:avLst>
          </a:prstGeom>
          <a:solidFill>
            <a:srgbClr val="F6B8B6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635240" y="24688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/pedidos/2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(pedido de outro cliente)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65760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 rede, é tráfego HTTPS legítimo. Quem decide o acesso é o CÓDIGO.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4297680"/>
            <a:ext cx="10698480" cy="896112"/>
          </a:xfrm>
          <a:prstGeom prst="roundRect">
            <a:avLst>
              <a:gd name="adj" fmla="val 5102"/>
            </a:avLst>
          </a:prstGeom>
          <a:solidFill>
            <a:srgbClr val="1F3A2E"/>
          </a:solidFill>
          <a:ln w="9525">
            <a:solidFill>
              <a:srgbClr val="7FD3A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5840" y="4370832"/>
            <a:ext cx="10332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autoriza, valida e trata o dado é o código — é lá que a segurança precisa morar.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ataca — e por quê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49240" cy="2377440"/>
          </a:xfrm>
          <a:prstGeom prst="roundRect">
            <a:avLst>
              <a:gd name="adj" fmla="val 2308"/>
            </a:avLst>
          </a:prstGeom>
          <a:solidFill>
            <a:srgbClr val="2E5E43"/>
          </a:solidFill>
          <a:ln w="15875">
            <a:solidFill>
              <a:srgbClr val="4E856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86537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Atores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267712"/>
            <a:ext cx="49469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Cibercriminosos (financeiro)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Insiders (acesso legítimo)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Hacktivistas e Estados-nação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Bots oportunistas em massa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737360"/>
            <a:ext cx="5349240" cy="2377440"/>
          </a:xfrm>
          <a:prstGeom prst="roundRect">
            <a:avLst>
              <a:gd name="adj" fmla="val 2308"/>
            </a:avLst>
          </a:prstGeom>
          <a:solidFill>
            <a:srgbClr val="27303F"/>
          </a:solidFill>
          <a:ln w="15875">
            <a:solidFill>
              <a:srgbClr val="4E856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73368" y="186537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Motivações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373368" y="2267712"/>
            <a:ext cx="49469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Fraude, ransomware, roubo de dados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Espionagem e sabotagem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Ideologia e notoriedade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Superfície cresce: APIs, cloud, libs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custo de uma brecha e o shift-left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i="1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Corrigir cedo é barato; corrigir sob incidente é caríssimo.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487168"/>
            <a:ext cx="10881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Custos diretos: resposta a incidente, perícia, correção, notificação.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Custos indiretos: multas (LGPD), perda de clientes, reputação.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mais tarde a falha é achada, mais cara a correção.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4251960"/>
            <a:ext cx="10881360" cy="896112"/>
          </a:xfrm>
          <a:prstGeom prst="roundRect">
            <a:avLst>
              <a:gd name="adj" fmla="val 5102"/>
            </a:avLst>
          </a:prstGeom>
          <a:solidFill>
            <a:srgbClr val="1F3A2E"/>
          </a:solidFill>
          <a:ln w="9525">
            <a:solidFill>
              <a:srgbClr val="7FD3A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325112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shift-left — antecipar a segurança para requisito e design é a decisão de maior retorno.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de correção por fase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97280" y="4572000"/>
            <a:ext cx="1554480" cy="548640"/>
          </a:xfrm>
          <a:prstGeom prst="rect">
            <a:avLst/>
          </a:prstGeom>
          <a:solidFill>
            <a:srgbClr val="2E5E4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5166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154680" y="4206240"/>
            <a:ext cx="1554480" cy="914400"/>
          </a:xfrm>
          <a:prstGeom prst="rect">
            <a:avLst/>
          </a:prstGeom>
          <a:solidFill>
            <a:srgbClr val="2E5E4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971800" y="5166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212080" y="3657600"/>
            <a:ext cx="1554480" cy="1463040"/>
          </a:xfrm>
          <a:prstGeom prst="rect">
            <a:avLst/>
          </a:prstGeom>
          <a:solidFill>
            <a:srgbClr val="6B5A2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029200" y="5166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269480" y="2926080"/>
            <a:ext cx="1554480" cy="2194560"/>
          </a:xfrm>
          <a:prstGeom prst="rect">
            <a:avLst/>
          </a:prstGeom>
          <a:solidFill>
            <a:srgbClr val="6B5A2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086600" y="5166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326880" y="1828800"/>
            <a:ext cx="1554480" cy="3291840"/>
          </a:xfrm>
          <a:prstGeom prst="rect">
            <a:avLst/>
          </a:prstGeom>
          <a:solidFill>
            <a:srgbClr val="6B2E2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0" y="5166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Produção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custo cresce a cada fase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5577840"/>
            <a:ext cx="10881360" cy="896112"/>
          </a:xfrm>
          <a:prstGeom prst="roundRect">
            <a:avLst>
              <a:gd name="adj" fmla="val 5102"/>
            </a:avLst>
          </a:prstGeom>
          <a:solidFill>
            <a:srgbClr val="20303F"/>
          </a:solidFill>
          <a:ln w="9525">
            <a:solidFill>
              <a:srgbClr val="9CC0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5650992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9C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mudar 'preço vem do servidor' no design custa minutos; descobrir isso em produção custa estorno e confiança.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base: a tríade CIA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i="1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vulnerabilidade viola uma ou mais propriedades — nomeá-las comunica o impacto.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487168"/>
            <a:ext cx="10881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Confidentiality: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quem pode, vê (ex.: vazar pagamento).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Integrity: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não são adulterados (ex.: mudar o preço).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Availability: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segue utilizável (ex.: upload gigante derruba).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4251960"/>
            <a:ext cx="10881360" cy="676656"/>
          </a:xfrm>
          <a:prstGeom prst="roundRect">
            <a:avLst>
              <a:gd name="adj" fmla="val 6757"/>
            </a:avLst>
          </a:prstGeom>
          <a:solidFill>
            <a:srgbClr val="1F3A2E"/>
          </a:solidFill>
          <a:ln w="9525">
            <a:solidFill>
              <a:srgbClr val="7FD3A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32511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Complementos: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Autenticação, Autorização, Accountability (auditoria) e Não-repúdio.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22B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4114800"/>
            <a:ext cx="3840480" cy="3840480"/>
          </a:xfrm>
          <a:prstGeom prst="ellipse">
            <a:avLst/>
          </a:prstGeom>
          <a:solidFill>
            <a:srgbClr val="1A22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201168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2004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 (2021)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343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dez categorias de risco mais críticas — nosso vocabulário comum.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 (2021)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A01 — Broken Access Control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08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i="1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 faz algo além da sua permissão: ver dados de outros, agir como admin, acessar telas escondidas. É a nº 1 de 2021.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40080" y="2468880"/>
            <a:ext cx="10881360" cy="731520"/>
          </a:xfrm>
          <a:prstGeom prst="roundRect">
            <a:avLst>
              <a:gd name="adj" fmla="val 6250"/>
            </a:avLst>
          </a:prstGeom>
          <a:solidFill>
            <a:srgbClr val="141B2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578608"/>
            <a:ext cx="10515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@GetMapping("/pedidos/{id}")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Pedido ver(@PathVariable Long id){ return repo.findById(id).get(); } // sem checar dono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364992"/>
            <a:ext cx="10881360" cy="676656"/>
          </a:xfrm>
          <a:prstGeom prst="roundRect">
            <a:avLst>
              <a:gd name="adj" fmla="val 6757"/>
            </a:avLst>
          </a:prstGeom>
          <a:solidFill>
            <a:srgbClr val="3A2E1E"/>
          </a:solidFill>
          <a:ln w="9525">
            <a:solidFill>
              <a:srgbClr val="E8B36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3438144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E8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vazamento/alteração de dados de outros clientes; escalada para admin.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4169664"/>
            <a:ext cx="10881360" cy="676656"/>
          </a:xfrm>
          <a:prstGeom prst="roundRect">
            <a:avLst>
              <a:gd name="adj" fmla="val 6757"/>
            </a:avLst>
          </a:prstGeom>
          <a:solidFill>
            <a:srgbClr val="1F3A2E"/>
          </a:solidFill>
          <a:ln w="9525">
            <a:solidFill>
              <a:srgbClr val="7FD3A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4242816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/pedidos/{id} devolve pedido de qualquer cliente — corrigido na Aula 3.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 (2021)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A02 — Cryptographic Failures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08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i="1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sensível exposto por cripto ausente, fraca ou mal usada — inclui confundir codificação com criptografia.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40080" y="2468880"/>
            <a:ext cx="10881360" cy="502920"/>
          </a:xfrm>
          <a:prstGeom prst="roundRect">
            <a:avLst>
              <a:gd name="adj" fmla="val 9091"/>
            </a:avLst>
          </a:prstGeom>
          <a:solidFill>
            <a:srgbClr val="141B2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578608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protegido = Base64.getEncoder().encodeToString(cartao.getBytes()); // NÃO protege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136392"/>
            <a:ext cx="10881360" cy="676656"/>
          </a:xfrm>
          <a:prstGeom prst="roundRect">
            <a:avLst>
              <a:gd name="adj" fmla="val 6757"/>
            </a:avLst>
          </a:prstGeom>
          <a:solidFill>
            <a:srgbClr val="3A2E1E"/>
          </a:solidFill>
          <a:ln w="9525">
            <a:solidFill>
              <a:srgbClr val="E8B36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3209544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E8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exposição de senhas, cartões e PII; quebra de sigilo.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941064"/>
            <a:ext cx="10881360" cy="676656"/>
          </a:xfrm>
          <a:prstGeom prst="roundRect">
            <a:avLst>
              <a:gd name="adj" fmla="val 6757"/>
            </a:avLst>
          </a:prstGeom>
          <a:solidFill>
            <a:srgbClr val="1F3A2E"/>
          </a:solidFill>
          <a:ln w="9525">
            <a:solidFill>
              <a:srgbClr val="7FD3A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4014216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 em MD5 e pagamento em Base64 — corrigidos nas Aulas 3 e 4.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 (2021)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A03 — Injection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08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i="1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não confiável interpretado como comando (SQL, OS, LDAP, XPath). Inclui XSS na taxonomia 2021.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40080" y="2468880"/>
            <a:ext cx="10881360" cy="502920"/>
          </a:xfrm>
          <a:prstGeom prst="roundRect">
            <a:avLst>
              <a:gd name="adj" fmla="val 9091"/>
            </a:avLst>
          </a:prstGeom>
          <a:solidFill>
            <a:srgbClr val="141B2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578608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sql = "SELECT * FROM produto WHERE nome LIKE '%" + termo + "%'"; // concatenação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136392"/>
            <a:ext cx="10881360" cy="676656"/>
          </a:xfrm>
          <a:prstGeom prst="roundRect">
            <a:avLst>
              <a:gd name="adj" fmla="val 6757"/>
            </a:avLst>
          </a:prstGeom>
          <a:solidFill>
            <a:srgbClr val="3A2E1E"/>
          </a:solidFill>
          <a:ln w="9525">
            <a:solidFill>
              <a:srgbClr val="E8B36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3209544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E8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leitura/alteração de dados; em casos graves, execução remota.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941064"/>
            <a:ext cx="10881360" cy="676656"/>
          </a:xfrm>
          <a:prstGeom prst="roundRect">
            <a:avLst>
              <a:gd name="adj" fmla="val 6757"/>
            </a:avLst>
          </a:prstGeom>
          <a:solidFill>
            <a:srgbClr val="1F3A2E"/>
          </a:solidFill>
          <a:ln w="9525">
            <a:solidFill>
              <a:srgbClr val="7FD3A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4014216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na busca de produtos — corrigido na Aula 2.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 (2021)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A04 — Insecure Design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08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i="1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Falha de concepção: o controle nunca foi projetado. Não é bug — é a ausência de defesa desde o desenho.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40080" y="2468880"/>
            <a:ext cx="10881360" cy="502920"/>
          </a:xfrm>
          <a:prstGeom prst="roundRect">
            <a:avLst>
              <a:gd name="adj" fmla="val 9091"/>
            </a:avLst>
          </a:prstGeom>
          <a:solidFill>
            <a:srgbClr val="141B2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578608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checkout confia no preço enviado pelo cliente → adulteração de valor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136392"/>
            <a:ext cx="10881360" cy="676656"/>
          </a:xfrm>
          <a:prstGeom prst="roundRect">
            <a:avLst>
              <a:gd name="adj" fmla="val 6757"/>
            </a:avLst>
          </a:prstGeom>
          <a:solidFill>
            <a:srgbClr val="3A2E1E"/>
          </a:solidFill>
          <a:ln w="9525">
            <a:solidFill>
              <a:srgbClr val="E8B36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3209544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E8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inteiras de ataque viáveis por ausência de defesa.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941064"/>
            <a:ext cx="10881360" cy="676656"/>
          </a:xfrm>
          <a:prstGeom prst="roundRect">
            <a:avLst>
              <a:gd name="adj" fmla="val 6757"/>
            </a:avLst>
          </a:prstGeom>
          <a:solidFill>
            <a:srgbClr val="1F3A2E"/>
          </a:solidFill>
          <a:ln w="9525">
            <a:solidFill>
              <a:srgbClr val="7FD3A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4014216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ausência de rate limiting e validação — tratada nas Aulas 2 e 3.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 (2021)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A05 — Security Misconfiguration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08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i="1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insegura: defaults perigosos, endpoints abertos, erros verbosos.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40080" y="2468880"/>
            <a:ext cx="10881360" cy="502920"/>
          </a:xfrm>
          <a:prstGeom prst="roundRect">
            <a:avLst>
              <a:gd name="adj" fmla="val 9091"/>
            </a:avLst>
          </a:prstGeom>
          <a:solidFill>
            <a:srgbClr val="141B2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578608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management.endpoints.web.exposure.include: "*"   # Actuator inteiro, sem auth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136392"/>
            <a:ext cx="10881360" cy="676656"/>
          </a:xfrm>
          <a:prstGeom prst="roundRect">
            <a:avLst>
              <a:gd name="adj" fmla="val 6757"/>
            </a:avLst>
          </a:prstGeom>
          <a:solidFill>
            <a:srgbClr val="3A2E1E"/>
          </a:solidFill>
          <a:ln w="9525">
            <a:solidFill>
              <a:srgbClr val="E8B36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3209544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E8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reconhecimento facilitado; exposição de segredos.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941064"/>
            <a:ext cx="10881360" cy="676656"/>
          </a:xfrm>
          <a:prstGeom prst="roundRect">
            <a:avLst>
              <a:gd name="adj" fmla="val 6757"/>
            </a:avLst>
          </a:prstGeom>
          <a:solidFill>
            <a:srgbClr val="1F3A2E"/>
          </a:solidFill>
          <a:ln w="9525">
            <a:solidFill>
              <a:srgbClr val="7FD3A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4014216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Actuator e H2 console abertos, stack trace ao cliente — Aulas 5 e 6.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 (2021)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A06 — Vulnerable &amp; Outdated Components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08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i="1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libs/versões com vulnerabilidades conhecidas — você herda a falha da dependência.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40080" y="2468880"/>
            <a:ext cx="10881360" cy="502920"/>
          </a:xfrm>
          <a:prstGeom prst="roundRect">
            <a:avLst>
              <a:gd name="adj" fmla="val 9091"/>
            </a:avLst>
          </a:prstGeom>
          <a:solidFill>
            <a:srgbClr val="141B2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578608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commons-text 1.9 → CVE-2022-42889 (Text4Shell)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136392"/>
            <a:ext cx="10881360" cy="676656"/>
          </a:xfrm>
          <a:prstGeom prst="roundRect">
            <a:avLst>
              <a:gd name="adj" fmla="val 6757"/>
            </a:avLst>
          </a:prstGeom>
          <a:solidFill>
            <a:srgbClr val="3A2E1E"/>
          </a:solidFill>
          <a:ln w="9525">
            <a:solidFill>
              <a:srgbClr val="E8B36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3209544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E8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exploração de falha documentada, muitas vezes com exploit pronto.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941064"/>
            <a:ext cx="10881360" cy="676656"/>
          </a:xfrm>
          <a:prstGeom prst="roundRect">
            <a:avLst>
              <a:gd name="adj" fmla="val 6757"/>
            </a:avLst>
          </a:prstGeom>
          <a:solidFill>
            <a:srgbClr val="1F3A2E"/>
          </a:solidFill>
          <a:ln w="9525">
            <a:solidFill>
              <a:srgbClr val="7FD3A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4014216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dependência com CVE didática — detectada e atualizada na Aula 6.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 (2021)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A07 — Identification &amp; Auth Failures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08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i="1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Falhas em provar identidade: brute force, senhas fracas, user enumeration, MFA ausente, tokens mal validados.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40080" y="2468880"/>
            <a:ext cx="10881360" cy="502920"/>
          </a:xfrm>
          <a:prstGeom prst="roundRect">
            <a:avLst>
              <a:gd name="adj" fmla="val 9091"/>
            </a:avLst>
          </a:prstGeom>
          <a:solidFill>
            <a:srgbClr val="141B2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578608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(u == null || !senhaConfere(s, u.getHash())) return erro401(); // sem rate limiting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136392"/>
            <a:ext cx="10881360" cy="676656"/>
          </a:xfrm>
          <a:prstGeom prst="roundRect">
            <a:avLst>
              <a:gd name="adj" fmla="val 6757"/>
            </a:avLst>
          </a:prstGeom>
          <a:solidFill>
            <a:srgbClr val="3A2E1E"/>
          </a:solidFill>
          <a:ln w="9525">
            <a:solidFill>
              <a:srgbClr val="E8B36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3209544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E8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takeover — o atacante assume a conta da vítima.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941064"/>
            <a:ext cx="10881360" cy="676656"/>
          </a:xfrm>
          <a:prstGeom prst="roundRect">
            <a:avLst>
              <a:gd name="adj" fmla="val 6757"/>
            </a:avLst>
          </a:prstGeom>
          <a:solidFill>
            <a:srgbClr val="1F3A2E"/>
          </a:solidFill>
          <a:ln w="9525">
            <a:solidFill>
              <a:srgbClr val="7FD3A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4014216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sem rate limiting, enumeration e JWT sem verificação — Aulas 3 e 4.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 (2021)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A08 — Software &amp; Data Integrity Failures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08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i="1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Confiar em código/dados sem verificar integridade: update sem assinatura, deserialização insegura, CI/CD comprometido.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40080" y="2468880"/>
            <a:ext cx="10881360" cy="502920"/>
          </a:xfrm>
          <a:prstGeom prst="roundRect">
            <a:avLst>
              <a:gd name="adj" fmla="val 9091"/>
            </a:avLst>
          </a:prstGeom>
          <a:solidFill>
            <a:srgbClr val="141B2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578608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build instala pacote de fonte não confiável (dependency confusion)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136392"/>
            <a:ext cx="10881360" cy="676656"/>
          </a:xfrm>
          <a:prstGeom prst="roundRect">
            <a:avLst>
              <a:gd name="adj" fmla="val 6757"/>
            </a:avLst>
          </a:prstGeom>
          <a:solidFill>
            <a:srgbClr val="3A2E1E"/>
          </a:solidFill>
          <a:ln w="9525">
            <a:solidFill>
              <a:srgbClr val="E8B36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3209544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E8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execução de código malicioso a partir de fonte 'confiável'.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941064"/>
            <a:ext cx="10881360" cy="676656"/>
          </a:xfrm>
          <a:prstGeom prst="roundRect">
            <a:avLst>
              <a:gd name="adj" fmla="val 6757"/>
            </a:avLst>
          </a:prstGeom>
          <a:solidFill>
            <a:srgbClr val="1F3A2E"/>
          </a:solidFill>
          <a:ln w="9525">
            <a:solidFill>
              <a:srgbClr val="7FD3A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4014216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sem verificação — SBOM e gates de CI na Aula 6.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 (2021)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A09 — Security Logging &amp; Monitoring Failures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08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i="1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registrar eventos de segurança (ou registrá-los mal) faz incidentes passarem despercebidos.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40080" y="2468880"/>
            <a:ext cx="10881360" cy="502920"/>
          </a:xfrm>
          <a:prstGeom prst="roundRect">
            <a:avLst>
              <a:gd name="adj" fmla="val 9091"/>
            </a:avLst>
          </a:prstGeom>
          <a:solidFill>
            <a:srgbClr val="141B2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578608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log.info("Importando de: " + urlDoUsuario); // \n no input forja linhas (log injection)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136392"/>
            <a:ext cx="10881360" cy="676656"/>
          </a:xfrm>
          <a:prstGeom prst="roundRect">
            <a:avLst>
              <a:gd name="adj" fmla="val 6757"/>
            </a:avLst>
          </a:prstGeom>
          <a:solidFill>
            <a:srgbClr val="3A2E1E"/>
          </a:solidFill>
          <a:ln w="9525">
            <a:solidFill>
              <a:srgbClr val="E8B36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3209544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E8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incidentes não detectados; perícia inviável.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941064"/>
            <a:ext cx="10881360" cy="676656"/>
          </a:xfrm>
          <a:prstGeom prst="roundRect">
            <a:avLst>
              <a:gd name="adj" fmla="val 6757"/>
            </a:avLst>
          </a:prstGeom>
          <a:solidFill>
            <a:srgbClr val="1F3A2E"/>
          </a:solidFill>
          <a:ln w="9525">
            <a:solidFill>
              <a:srgbClr val="7FD3A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4014216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injection na importação e ausência de logs — Aula 5.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 (2021)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A10 — Server-Side Request Forgery (SSRF)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08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i="1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servidor é induzido a requisitar destinos não pretendidos, escolhidos pelo atacante.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40080" y="2468880"/>
            <a:ext cx="10881360" cy="502920"/>
          </a:xfrm>
          <a:prstGeom prst="roundRect">
            <a:avLst>
              <a:gd name="adj" fmla="val 9091"/>
            </a:avLst>
          </a:prstGeom>
          <a:solidFill>
            <a:srgbClr val="141B2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578608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URL(urlDoUsuario).openConnection().getInputStream(); // sem allowlist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136392"/>
            <a:ext cx="10881360" cy="676656"/>
          </a:xfrm>
          <a:prstGeom prst="roundRect">
            <a:avLst>
              <a:gd name="adj" fmla="val 6757"/>
            </a:avLst>
          </a:prstGeom>
          <a:solidFill>
            <a:srgbClr val="3A2E1E"/>
          </a:solidFill>
          <a:ln w="9525">
            <a:solidFill>
              <a:srgbClr val="E8B36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3209544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E8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a serviços internos e metadados de nuvem (credenciais).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941064"/>
            <a:ext cx="10881360" cy="676656"/>
          </a:xfrm>
          <a:prstGeom prst="roundRect">
            <a:avLst>
              <a:gd name="adj" fmla="val 6757"/>
            </a:avLst>
          </a:prstGeom>
          <a:solidFill>
            <a:srgbClr val="1F3A2E"/>
          </a:solidFill>
          <a:ln w="9525">
            <a:solidFill>
              <a:srgbClr val="7FD3A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4014216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'importar catálogo por URL' busca qualquer endereço — allowlist na Aula 2.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Falhas raramente andam sozinhas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i="1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incidente real quase nunca é uma única falha: o atacante encadeia várias.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487168"/>
            <a:ext cx="10881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Misconfiguration entrega informação no reconhecimento (A05).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dá o primeiro apoio (A03).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Access Control permite pivotar (A01).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Failure transforma o roubo em dano (A02).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4764024"/>
            <a:ext cx="10881360" cy="676656"/>
          </a:xfrm>
          <a:prstGeom prst="roundRect">
            <a:avLst>
              <a:gd name="adj" fmla="val 6757"/>
            </a:avLst>
          </a:prstGeom>
          <a:solidFill>
            <a:srgbClr val="1F3A2E"/>
          </a:solidFill>
          <a:ln w="9525">
            <a:solidFill>
              <a:srgbClr val="7FD3A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837176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Dinâmica: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você juntaria três dessas falhas no Portal para chegar aos dados de pagamento?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22B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4114800"/>
            <a:ext cx="3840480" cy="3840480"/>
          </a:xfrm>
          <a:prstGeom prst="ellipse">
            <a:avLst/>
          </a:prstGeom>
          <a:solidFill>
            <a:srgbClr val="1A22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201168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2004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Anatomia de um Ataque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343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Pensar o ataque em etapas revela onde interrompê-lo.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Cyber Kill Chain (simplificada)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2560320"/>
            <a:ext cx="2468880" cy="1097280"/>
          </a:xfrm>
          <a:prstGeom prst="roundRect">
            <a:avLst>
              <a:gd name="adj" fmla="val 5000"/>
            </a:avLst>
          </a:prstGeom>
          <a:solidFill>
            <a:srgbClr val="AECBFA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5603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Reconhecimento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9544" y="2944368"/>
            <a:ext cx="347472" cy="329184"/>
          </a:xfrm>
          <a:prstGeom prst="rightArrow">
            <a:avLst/>
          </a:prstGeom>
          <a:solidFill>
            <a:srgbClr val="E0605F"/>
          </a:solidFill>
          <a:ln/>
        </p:spPr>
      </p:sp>
      <p:sp>
        <p:nvSpPr>
          <p:cNvPr id="7" name="Shape 5"/>
          <p:cNvSpPr/>
          <p:nvPr/>
        </p:nvSpPr>
        <p:spPr>
          <a:xfrm>
            <a:off x="3611880" y="2560320"/>
            <a:ext cx="2468880" cy="1097280"/>
          </a:xfrm>
          <a:prstGeom prst="roundRect">
            <a:avLst>
              <a:gd name="adj" fmla="val 5000"/>
            </a:avLst>
          </a:prstGeom>
          <a:solidFill>
            <a:srgbClr val="F3C98B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57600" y="25603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Preparação</a:t>
            </a:r>
            <a:endParaRPr lang="en-US" sz="13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(weaponization)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35624" y="2944368"/>
            <a:ext cx="347472" cy="329184"/>
          </a:xfrm>
          <a:prstGeom prst="rightArrow">
            <a:avLst/>
          </a:prstGeom>
          <a:solidFill>
            <a:srgbClr val="E0605F"/>
          </a:solidFill>
          <a:ln/>
        </p:spPr>
      </p:sp>
      <p:sp>
        <p:nvSpPr>
          <p:cNvPr id="10" name="Shape 8"/>
          <p:cNvSpPr/>
          <p:nvPr/>
        </p:nvSpPr>
        <p:spPr>
          <a:xfrm>
            <a:off x="6537960" y="2560320"/>
            <a:ext cx="2468880" cy="1097280"/>
          </a:xfrm>
          <a:prstGeom prst="roundRect">
            <a:avLst>
              <a:gd name="adj" fmla="val 5000"/>
            </a:avLst>
          </a:prstGeom>
          <a:solidFill>
            <a:srgbClr val="F6B8B6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0" y="25603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Exploração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061704" y="2944368"/>
            <a:ext cx="347472" cy="329184"/>
          </a:xfrm>
          <a:prstGeom prst="rightArrow">
            <a:avLst/>
          </a:prstGeom>
          <a:solidFill>
            <a:srgbClr val="E0605F"/>
          </a:solidFill>
          <a:ln/>
        </p:spPr>
      </p:sp>
      <p:sp>
        <p:nvSpPr>
          <p:cNvPr id="13" name="Shape 11"/>
          <p:cNvSpPr/>
          <p:nvPr/>
        </p:nvSpPr>
        <p:spPr>
          <a:xfrm>
            <a:off x="9464040" y="2560320"/>
            <a:ext cx="2468880" cy="1097280"/>
          </a:xfrm>
          <a:prstGeom prst="roundRect">
            <a:avLst>
              <a:gd name="adj" fmla="val 5000"/>
            </a:avLst>
          </a:prstGeom>
          <a:solidFill>
            <a:srgbClr val="F6B8B6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509760" y="25603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Pós-exploração</a:t>
            </a:r>
            <a:endParaRPr lang="en-US" sz="13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(exfiltração)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85800" y="4206240"/>
            <a:ext cx="10835640" cy="896112"/>
          </a:xfrm>
          <a:prstGeom prst="roundRect">
            <a:avLst>
              <a:gd name="adj" fmla="val 5102"/>
            </a:avLst>
          </a:prstGeom>
          <a:solidFill>
            <a:srgbClr val="1F3A2E"/>
          </a:solidFill>
          <a:ln w="9525">
            <a:solidFill>
              <a:srgbClr val="7FD3A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" y="4279392"/>
            <a:ext cx="10469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Defesa em profundidade: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não precisa vencer todas as etapas — interromper qualquer uma quebra a cadeia.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etapas, por dentro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i="1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atacante faz em cada fase.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487168"/>
            <a:ext cx="10881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Reconhecimento: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headers, erros, endpoints, /actuator — mapear sem ruído.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Exploração: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montar o payload sob medida (UNION SELECT, JWT forjado).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Pós-exploração: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escalar, mover-se lateralmente, exfiltrar e apagar rastros.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4251960"/>
            <a:ext cx="10881360" cy="676656"/>
          </a:xfrm>
          <a:prstGeom prst="roundRect">
            <a:avLst>
              <a:gd name="adj" fmla="val 6757"/>
            </a:avLst>
          </a:prstGeom>
          <a:solidFill>
            <a:srgbClr val="1F3A2E"/>
          </a:solidFill>
          <a:ln w="9525">
            <a:solidFill>
              <a:srgbClr val="7FD3A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32511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Lab 1.2 é exatamente um reconhecimento guiado com a Ficha de Reconhecimento.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FICTÍCIO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Estudo de caso "Empresa X" (1/3)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8132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i="1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portal B2B parecido com o nosso, exposto por engano em staging, sem WAF.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87168"/>
            <a:ext cx="10881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Actuator aberto e busca vulnerável a SQL Injection.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Isoladamente, o time via cada ponto como 'baixa prioridade'.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dessas falhas, sozinha, 'parecia' crítica.</a:t>
            </a:r>
            <a:endParaRPr lang="en-US" sz="14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Estudo de caso (2/3) — a cadeia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2468880"/>
            <a:ext cx="2468880" cy="1097280"/>
          </a:xfrm>
          <a:prstGeom prst="roundRect">
            <a:avLst>
              <a:gd name="adj" fmla="val 5000"/>
            </a:avLst>
          </a:prstGeom>
          <a:solidFill>
            <a:srgbClr val="E9EDF2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4688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Recon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/actuator/env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9544" y="2852928"/>
            <a:ext cx="347472" cy="329184"/>
          </a:xfrm>
          <a:prstGeom prst="rightArrow">
            <a:avLst/>
          </a:prstGeom>
          <a:solidFill>
            <a:srgbClr val="E0605F"/>
          </a:solidFill>
          <a:ln/>
        </p:spPr>
      </p:sp>
      <p:sp>
        <p:nvSpPr>
          <p:cNvPr id="7" name="Shape 5"/>
          <p:cNvSpPr/>
          <p:nvPr/>
        </p:nvSpPr>
        <p:spPr>
          <a:xfrm>
            <a:off x="3611880" y="2468880"/>
            <a:ext cx="2468880" cy="1097280"/>
          </a:xfrm>
          <a:prstGeom prst="roundRect">
            <a:avLst>
              <a:gd name="adj" fmla="val 5000"/>
            </a:avLst>
          </a:prstGeom>
          <a:solidFill>
            <a:srgbClr val="F6B8B6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57600" y="24688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SQLi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vaza hashes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35624" y="2852928"/>
            <a:ext cx="347472" cy="329184"/>
          </a:xfrm>
          <a:prstGeom prst="rightArrow">
            <a:avLst/>
          </a:prstGeom>
          <a:solidFill>
            <a:srgbClr val="E0605F"/>
          </a:solidFill>
          <a:ln/>
        </p:spPr>
      </p:sp>
      <p:sp>
        <p:nvSpPr>
          <p:cNvPr id="10" name="Shape 8"/>
          <p:cNvSpPr/>
          <p:nvPr/>
        </p:nvSpPr>
        <p:spPr>
          <a:xfrm>
            <a:off x="6537960" y="2468880"/>
            <a:ext cx="2468880" cy="1097280"/>
          </a:xfrm>
          <a:prstGeom prst="roundRect">
            <a:avLst>
              <a:gd name="adj" fmla="val 5000"/>
            </a:avLst>
          </a:prstGeom>
          <a:solidFill>
            <a:srgbClr val="F6B8B6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0" y="24688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MD5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quebra offline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061704" y="2852928"/>
            <a:ext cx="347472" cy="329184"/>
          </a:xfrm>
          <a:prstGeom prst="rightArrow">
            <a:avLst/>
          </a:prstGeom>
          <a:solidFill>
            <a:srgbClr val="E0605F"/>
          </a:solidFill>
          <a:ln/>
        </p:spPr>
      </p:sp>
      <p:sp>
        <p:nvSpPr>
          <p:cNvPr id="13" name="Shape 11"/>
          <p:cNvSpPr/>
          <p:nvPr/>
        </p:nvSpPr>
        <p:spPr>
          <a:xfrm>
            <a:off x="9464040" y="2468880"/>
            <a:ext cx="2468880" cy="1097280"/>
          </a:xfrm>
          <a:prstGeom prst="roundRect">
            <a:avLst>
              <a:gd name="adj" fmla="val 5000"/>
            </a:avLst>
          </a:prstGeom>
          <a:solidFill>
            <a:srgbClr val="F6B8B6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509760" y="24688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Access Control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de todos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" y="4114800"/>
            <a:ext cx="10835640" cy="676656"/>
          </a:xfrm>
          <a:prstGeom prst="roundRect">
            <a:avLst>
              <a:gd name="adj" fmla="val 6757"/>
            </a:avLst>
          </a:prstGeom>
          <a:solidFill>
            <a:srgbClr val="3A2E1E"/>
          </a:solidFill>
          <a:ln w="9525">
            <a:solidFill>
              <a:srgbClr val="E8B36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" y="4187952"/>
            <a:ext cx="10469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E8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elo era 'só um achado'. Juntos, viram vazamento de dados de pagamento.</a:t>
            </a:r>
            <a:endParaRPr lang="en-US" sz="12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Estudo de caso (3/3) — impacto e lição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i="1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impacto raramente fica na técnica: chega ao negócio.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487168"/>
            <a:ext cx="10881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Vazamento de PII e pagamento; notificação; multa; dano de reputação.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camada quebrada foi uma defesa em profundidade que não existiu.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Bastaria UMA defesa em qualquer elo para interromper a cadeia.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4251960"/>
            <a:ext cx="10881360" cy="676656"/>
          </a:xfrm>
          <a:prstGeom prst="roundRect">
            <a:avLst>
              <a:gd name="adj" fmla="val 6757"/>
            </a:avLst>
          </a:prstGeom>
          <a:solidFill>
            <a:srgbClr val="1F3A2E"/>
          </a:solidFill>
          <a:ln w="9525">
            <a:solidFill>
              <a:srgbClr val="7FD3A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32511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Dinâmica: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seria o elo mais barato de defender primeiro no nosso Portal, e por quê?</a:t>
            </a:r>
            <a:endParaRPr lang="en-US" sz="12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222B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4114800"/>
            <a:ext cx="3840480" cy="3840480"/>
          </a:xfrm>
          <a:prstGeom prst="ellipse">
            <a:avLst/>
          </a:prstGeom>
          <a:solidFill>
            <a:srgbClr val="1A22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201168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2004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SDLC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343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não é uma fase — é uma preocupação em todas as fases.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em todo o ciclo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560320"/>
            <a:ext cx="1645920" cy="914400"/>
          </a:xfrm>
          <a:prstGeom prst="roundRect">
            <a:avLst>
              <a:gd name="adj" fmla="val 6000"/>
            </a:avLst>
          </a:prstGeom>
          <a:solidFill>
            <a:srgbClr val="AECBFA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256032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03704" y="2880360"/>
            <a:ext cx="219456" cy="274320"/>
          </a:xfrm>
          <a:prstGeom prst="rightArrow">
            <a:avLst/>
          </a:prstGeom>
          <a:solidFill>
            <a:srgbClr val="5AA17A"/>
          </a:solidFill>
          <a:ln/>
        </p:spPr>
      </p:sp>
      <p:sp>
        <p:nvSpPr>
          <p:cNvPr id="7" name="Shape 5"/>
          <p:cNvSpPr/>
          <p:nvPr/>
        </p:nvSpPr>
        <p:spPr>
          <a:xfrm>
            <a:off x="2432304" y="2560320"/>
            <a:ext cx="1645920" cy="914400"/>
          </a:xfrm>
          <a:prstGeom prst="roundRect">
            <a:avLst>
              <a:gd name="adj" fmla="val 6000"/>
            </a:avLst>
          </a:prstGeom>
          <a:solidFill>
            <a:srgbClr val="BFE3CE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478024" y="256032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087368" y="2880360"/>
            <a:ext cx="219456" cy="274320"/>
          </a:xfrm>
          <a:prstGeom prst="rightArrow">
            <a:avLst/>
          </a:prstGeom>
          <a:solidFill>
            <a:srgbClr val="5AA17A"/>
          </a:solidFill>
          <a:ln/>
        </p:spPr>
      </p:sp>
      <p:sp>
        <p:nvSpPr>
          <p:cNvPr id="10" name="Shape 8"/>
          <p:cNvSpPr/>
          <p:nvPr/>
        </p:nvSpPr>
        <p:spPr>
          <a:xfrm>
            <a:off x="4315968" y="2560320"/>
            <a:ext cx="1645920" cy="914400"/>
          </a:xfrm>
          <a:prstGeom prst="roundRect">
            <a:avLst>
              <a:gd name="adj" fmla="val 6000"/>
            </a:avLst>
          </a:prstGeom>
          <a:solidFill>
            <a:srgbClr val="BFE3CE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361688" y="256032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71032" y="2880360"/>
            <a:ext cx="219456" cy="274320"/>
          </a:xfrm>
          <a:prstGeom prst="rightArrow">
            <a:avLst/>
          </a:prstGeom>
          <a:solidFill>
            <a:srgbClr val="5AA17A"/>
          </a:solidFill>
          <a:ln/>
        </p:spPr>
      </p:sp>
      <p:sp>
        <p:nvSpPr>
          <p:cNvPr id="13" name="Shape 11"/>
          <p:cNvSpPr/>
          <p:nvPr/>
        </p:nvSpPr>
        <p:spPr>
          <a:xfrm>
            <a:off x="6199632" y="2560320"/>
            <a:ext cx="1645920" cy="914400"/>
          </a:xfrm>
          <a:prstGeom prst="roundRect">
            <a:avLst>
              <a:gd name="adj" fmla="val 6000"/>
            </a:avLst>
          </a:prstGeom>
          <a:solidFill>
            <a:srgbClr val="BFE3CE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45352" y="256032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854696" y="2880360"/>
            <a:ext cx="219456" cy="274320"/>
          </a:xfrm>
          <a:prstGeom prst="rightArrow">
            <a:avLst/>
          </a:prstGeom>
          <a:solidFill>
            <a:srgbClr val="5AA17A"/>
          </a:solidFill>
          <a:ln/>
        </p:spPr>
      </p:sp>
      <p:sp>
        <p:nvSpPr>
          <p:cNvPr id="16" name="Shape 14"/>
          <p:cNvSpPr/>
          <p:nvPr/>
        </p:nvSpPr>
        <p:spPr>
          <a:xfrm>
            <a:off x="8083296" y="2560320"/>
            <a:ext cx="1645920" cy="914400"/>
          </a:xfrm>
          <a:prstGeom prst="roundRect">
            <a:avLst>
              <a:gd name="adj" fmla="val 6000"/>
            </a:avLst>
          </a:prstGeom>
          <a:solidFill>
            <a:srgbClr val="BFE3CE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129016" y="256032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738360" y="2880360"/>
            <a:ext cx="219456" cy="274320"/>
          </a:xfrm>
          <a:prstGeom prst="rightArrow">
            <a:avLst/>
          </a:prstGeom>
          <a:solidFill>
            <a:srgbClr val="5AA17A"/>
          </a:solidFill>
          <a:ln/>
        </p:spPr>
      </p:sp>
      <p:sp>
        <p:nvSpPr>
          <p:cNvPr id="19" name="Shape 17"/>
          <p:cNvSpPr/>
          <p:nvPr/>
        </p:nvSpPr>
        <p:spPr>
          <a:xfrm>
            <a:off x="9966960" y="2560320"/>
            <a:ext cx="1645920" cy="914400"/>
          </a:xfrm>
          <a:prstGeom prst="roundRect">
            <a:avLst>
              <a:gd name="adj" fmla="val 6000"/>
            </a:avLst>
          </a:prstGeom>
          <a:solidFill>
            <a:srgbClr val="BFE3CE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012680" y="256032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Manut.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37490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aula do curso ataca uma fase — sobre o mesmo Portal.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297680"/>
            <a:ext cx="11064240" cy="676656"/>
          </a:xfrm>
          <a:prstGeom prst="roundRect">
            <a:avLst>
              <a:gd name="adj" fmla="val 6757"/>
            </a:avLst>
          </a:prstGeom>
          <a:solidFill>
            <a:srgbClr val="1F3A2E"/>
          </a:solidFill>
          <a:ln w="9525">
            <a:solidFill>
              <a:srgbClr val="7FD3A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" y="4370832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é como qualidade — não se 'inspeciona no fim', se constrói em cada etapa.</a:t>
            </a:r>
            <a:endParaRPr lang="en-US" sz="12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mapa do curso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49240" cy="749808"/>
          </a:xfrm>
          <a:prstGeom prst="roundRect">
            <a:avLst>
              <a:gd name="adj" fmla="val 7317"/>
            </a:avLst>
          </a:prstGeom>
          <a:solidFill>
            <a:srgbClr val="27303F"/>
          </a:solidFill>
          <a:ln w="12700">
            <a:solidFill>
              <a:srgbClr val="4E856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37360"/>
            <a:ext cx="4983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  </a:t>
            </a:r>
            <a:pPr indent="0" marL="0">
              <a:buNone/>
            </a:pPr>
            <a:r>
              <a:rPr lang="en-US" sz="13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Ameaças, Top 10, requisitos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309360" y="1737360"/>
            <a:ext cx="5349240" cy="749808"/>
          </a:xfrm>
          <a:prstGeom prst="roundRect">
            <a:avLst>
              <a:gd name="adj" fmla="val 7317"/>
            </a:avLst>
          </a:prstGeom>
          <a:solidFill>
            <a:srgbClr val="27303F"/>
          </a:solidFill>
          <a:ln w="12700">
            <a:solidFill>
              <a:srgbClr val="4E856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37960" y="1737360"/>
            <a:ext cx="4983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2  </a:t>
            </a:r>
            <a:pPr indent="0" marL="0">
              <a:buNone/>
            </a:pPr>
            <a:r>
              <a:rPr lang="en-US" sz="13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+ validação de entrada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651760"/>
            <a:ext cx="5349240" cy="749808"/>
          </a:xfrm>
          <a:prstGeom prst="roundRect">
            <a:avLst>
              <a:gd name="adj" fmla="val 7317"/>
            </a:avLst>
          </a:prstGeom>
          <a:solidFill>
            <a:srgbClr val="27303F"/>
          </a:solidFill>
          <a:ln w="12700">
            <a:solidFill>
              <a:srgbClr val="4E856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2651760"/>
            <a:ext cx="4983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 </a:t>
            </a:r>
            <a:pPr indent="0" marL="0">
              <a:buNone/>
            </a:pPr>
            <a:r>
              <a:rPr lang="en-US" sz="13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 e autorização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309360" y="2651760"/>
            <a:ext cx="5349240" cy="749808"/>
          </a:xfrm>
          <a:prstGeom prst="roundRect">
            <a:avLst>
              <a:gd name="adj" fmla="val 7317"/>
            </a:avLst>
          </a:prstGeom>
          <a:solidFill>
            <a:srgbClr val="27303F"/>
          </a:solidFill>
          <a:ln w="12700">
            <a:solidFill>
              <a:srgbClr val="4E856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37960" y="2651760"/>
            <a:ext cx="4983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4  </a:t>
            </a:r>
            <a:pPr indent="0" marL="0">
              <a:buNone/>
            </a:pPr>
            <a:r>
              <a:rPr lang="en-US" sz="13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Criptografia e sessão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566160"/>
            <a:ext cx="5349240" cy="749808"/>
          </a:xfrm>
          <a:prstGeom prst="roundRect">
            <a:avLst>
              <a:gd name="adj" fmla="val 7317"/>
            </a:avLst>
          </a:prstGeom>
          <a:solidFill>
            <a:srgbClr val="27303F"/>
          </a:solidFill>
          <a:ln w="12700">
            <a:solidFill>
              <a:srgbClr val="4E856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3566160"/>
            <a:ext cx="4983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5  </a:t>
            </a:r>
            <a:pPr indent="0" marL="0">
              <a:buNone/>
            </a:pPr>
            <a:r>
              <a:rPr lang="en-US" sz="13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Erros e testes (SAST/DAST)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309360" y="3566160"/>
            <a:ext cx="5349240" cy="749808"/>
          </a:xfrm>
          <a:prstGeom prst="roundRect">
            <a:avLst>
              <a:gd name="adj" fmla="val 7317"/>
            </a:avLst>
          </a:prstGeom>
          <a:solidFill>
            <a:srgbClr val="27303F"/>
          </a:solidFill>
          <a:ln w="12700">
            <a:solidFill>
              <a:srgbClr val="4E856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37960" y="3566160"/>
            <a:ext cx="4983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6  </a:t>
            </a:r>
            <a:pPr indent="0" marL="0">
              <a:buNone/>
            </a:pPr>
            <a:r>
              <a:rPr lang="en-US" sz="13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e manutenção</a:t>
            </a:r>
            <a:endParaRPr lang="en-US" sz="13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222B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4114800"/>
            <a:ext cx="3840480" cy="3840480"/>
          </a:xfrm>
          <a:prstGeom prst="ellipse">
            <a:avLst/>
          </a:prstGeom>
          <a:solidFill>
            <a:srgbClr val="1A22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201168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2004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de Segurança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343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não é requisito não é projetado, testado nem cobrado.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escrever requisitos de segurança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i="1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segurança 'implícita' vira dívida — e incidente.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487168"/>
            <a:ext cx="10881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Tornam explícitas as garantias e restrições do sistema.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Guiam design, implementação e viram critérios de aceite.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Analogia: é o contrato da obra — o que não está escrito não é construído.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4251960"/>
            <a:ext cx="10881360" cy="896112"/>
          </a:xfrm>
          <a:prstGeom prst="roundRect">
            <a:avLst>
              <a:gd name="adj" fmla="val 5102"/>
            </a:avLst>
          </a:prstGeom>
          <a:solidFill>
            <a:srgbClr val="3A2E1E"/>
          </a:solidFill>
          <a:ln w="9525">
            <a:solidFill>
              <a:srgbClr val="E8B3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325112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E8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'o cliente só vê os próprios pedidos' nunca virou requisito, o IDOR nasce 'normal'.</a:t>
            </a:r>
            <a:endParaRPr lang="en-US" sz="12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 funcional x de segurança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49240" cy="2377440"/>
          </a:xfrm>
          <a:prstGeom prst="roundRect">
            <a:avLst>
              <a:gd name="adj" fmla="val 2308"/>
            </a:avLst>
          </a:prstGeom>
          <a:solidFill>
            <a:srgbClr val="2E5E43"/>
          </a:solidFill>
          <a:ln w="15875">
            <a:solidFill>
              <a:srgbClr val="4E856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86537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267712"/>
            <a:ext cx="49469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sistema faz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'O cliente cria um pedido'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Caminho feliz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737360"/>
            <a:ext cx="5349240" cy="2377440"/>
          </a:xfrm>
          <a:prstGeom prst="roundRect">
            <a:avLst>
              <a:gd name="adj" fmla="val 2308"/>
            </a:avLst>
          </a:prstGeom>
          <a:solidFill>
            <a:srgbClr val="27303F"/>
          </a:solidFill>
          <a:ln w="15875">
            <a:solidFill>
              <a:srgbClr val="4E856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73368" y="186537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373368" y="2267712"/>
            <a:ext cx="49469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 QUAIS garantias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'Só o dono acessa o pedido'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Muitas vezes negativo (NÃO deve...)</a:t>
            </a:r>
            <a:endParaRPr lang="en-US" sz="12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Abuse cases e misuse cases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i="1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caso de uso pela ótica do atacante: o que ele quer alcançar.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487168"/>
            <a:ext cx="10881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Formato: 'As an attacker, I want &lt;ação&gt; so that &lt;ganho&gt;'.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cada abuso nasce uma contramedida — um requisito de segurança.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'trocar o id do pedido na URL para ler o de outro cliente'.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4251960"/>
            <a:ext cx="10881360" cy="676656"/>
          </a:xfrm>
          <a:prstGeom prst="roundRect">
            <a:avLst>
              <a:gd name="adj" fmla="val 6757"/>
            </a:avLst>
          </a:prstGeom>
          <a:solidFill>
            <a:srgbClr val="1F3A2E"/>
          </a:solidFill>
          <a:ln w="9525">
            <a:solidFill>
              <a:srgbClr val="7FD3A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32511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projetar uma casa segura, pense como o ladrão — por onde ele entraria?</a:t>
            </a:r>
            <a:endParaRPr lang="en-US" sz="12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User Stories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i="1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o requisito defensivo com critério de aceite que vira teste.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487168"/>
            <a:ext cx="10881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Atacante: 'quero trocar o id para ler pedido de outro'.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Sistema: 'devo verificar a posse antes de retornar'.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Aceite: 'dado id de outro cliente, quando solicitar, então 403'.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4251960"/>
            <a:ext cx="10881360" cy="676656"/>
          </a:xfrm>
          <a:prstGeom prst="roundRect">
            <a:avLst>
              <a:gd name="adj" fmla="val 6757"/>
            </a:avLst>
          </a:prstGeom>
          <a:solidFill>
            <a:srgbClr val="1F3A2E"/>
          </a:solidFill>
          <a:ln w="9525">
            <a:solidFill>
              <a:srgbClr val="7FD3A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32511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você não consegue escrever o teste de aceite, o requisito ainda está vago.</a:t>
            </a:r>
            <a:endParaRPr lang="en-US" sz="12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ASVS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i="1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catálogo de requisitos de segurança verificáveis, por categorias e níveis.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487168"/>
            <a:ext cx="10881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Nível 1 (básico) e Nível 2 (dados sensíveis — nosso caso).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Categorias: V2 Auth, V3 Sessão, V4 Acesso, V5 Validação, V12 Arquivos.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para decorar; é para consultar e não esquecer categorias.</a:t>
            </a:r>
            <a:endParaRPr lang="en-US" sz="14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Derivando requisitos — Cadastro de cliente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i="1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Transformando uma funcionalidade em requisitos verificáveis.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487168"/>
            <a:ext cx="10881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Validar/normalizar entradas por allowlist (e-mail, CNPJ, tamanho). [A03/A04·V5]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 com hashing forte, nunca reversível. [A02·V2.4]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revelar se o e-mail já existe. [A07·V2.2]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contra automação. [A07·V2.1]</a:t>
            </a:r>
            <a:endParaRPr lang="en-US" sz="14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Derivando requisitos — Upload de comprovante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i="1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abuso do upload vira um requisito.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487168"/>
            <a:ext cx="10881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Aceitar só tipos permitidos (magic number, não extensão). [A04·V12.1]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gerado pelo servidor; input nunca compõe o caminho. [A03·V12.3]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de tamanho e taxa (anti-DoS). [A04]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posse do pedido antes de aceitar. [A01]</a:t>
            </a:r>
            <a:endParaRPr lang="en-US" sz="14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Derivando requisitos — Checkout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i="1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caso clássico de insecure design.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487168"/>
            <a:ext cx="10881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Preços vêm do servidor, nunca do cliente. [A04]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de pagamento cifrados em repouso + TLS. [A02·V6/V9]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 da transação — sem gravar dado sensível. [A09·V7]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4251960"/>
            <a:ext cx="10881360" cy="896112"/>
          </a:xfrm>
          <a:prstGeom prst="roundRect">
            <a:avLst>
              <a:gd name="adj" fmla="val 5102"/>
            </a:avLst>
          </a:prstGeom>
          <a:solidFill>
            <a:srgbClr val="3A2E1E"/>
          </a:solidFill>
          <a:ln w="9525">
            <a:solidFill>
              <a:srgbClr val="E8B3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325112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E8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comum: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confiar no preço enviado pelo formulário. Nunca confie em dado que veio do navegador.</a:t>
            </a:r>
            <a:endParaRPr lang="en-US" sz="12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Priorização e boas práticas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i="1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Priorize por risco (Probabilidade × Impacto) e escreva bem.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487168"/>
            <a:ext cx="10881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IDOR fácil que expõe pagamento é risco alto — vem primeiro.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requisito: verificável, específico, rastreável, negativo quando preciso.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'deve', não 'deveria' — requisito não é sugestão.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 (Aula 2) ajuda a enumerar as ameaças a priorizar.</a:t>
            </a:r>
            <a:endParaRPr lang="en-US" sz="14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222B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4114800"/>
            <a:ext cx="3840480" cy="3840480"/>
          </a:xfrm>
          <a:prstGeom prst="ellipse">
            <a:avLst/>
          </a:prstGeom>
          <a:solidFill>
            <a:srgbClr val="1A22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201168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2004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Laboratório da Aula 1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343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Subir a aplicação, reconhecê-la como atacante e derivar requisitos.</a:t>
            </a:r>
            <a:endParaRPr lang="en-US" sz="14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do laboratório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520440" cy="2194560"/>
          </a:xfrm>
          <a:prstGeom prst="roundRect">
            <a:avLst>
              <a:gd name="adj" fmla="val 2500"/>
            </a:avLst>
          </a:prstGeom>
          <a:solidFill>
            <a:srgbClr val="2E5E43"/>
          </a:solidFill>
          <a:ln w="15875">
            <a:solidFill>
              <a:srgbClr val="4E856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865376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1.1 — Subir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267712"/>
            <a:ext cx="31181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up / mvnw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Navegar pelas telas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Contas de teste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43400" y="1737360"/>
            <a:ext cx="3520440" cy="2194560"/>
          </a:xfrm>
          <a:prstGeom prst="roundRect">
            <a:avLst>
              <a:gd name="adj" fmla="val 2500"/>
            </a:avLst>
          </a:prstGeom>
          <a:solidFill>
            <a:srgbClr val="2E5E43"/>
          </a:solidFill>
          <a:ln w="15875">
            <a:solidFill>
              <a:srgbClr val="4E856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44568" y="1865376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1.2 — Reconhecer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544568" y="2267712"/>
            <a:ext cx="31181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Endpoints, headers, erros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/actuator, /h2-console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de Reconhecimento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46720" y="1737360"/>
            <a:ext cx="3520440" cy="2194560"/>
          </a:xfrm>
          <a:prstGeom prst="roundRect">
            <a:avLst>
              <a:gd name="adj" fmla="val 2500"/>
            </a:avLst>
          </a:prstGeom>
          <a:solidFill>
            <a:srgbClr val="2E5E43"/>
          </a:solidFill>
          <a:ln w="15875">
            <a:solidFill>
              <a:srgbClr val="4E856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47888" y="1865376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1.3 — Requisitos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47888" y="2267712"/>
            <a:ext cx="31181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Abuse cases de 2 telas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3 requisitos cada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de user story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206240"/>
            <a:ext cx="10881360" cy="676656"/>
          </a:xfrm>
          <a:prstGeom prst="roundRect">
            <a:avLst>
              <a:gd name="adj" fmla="val 6757"/>
            </a:avLst>
          </a:prstGeom>
          <a:solidFill>
            <a:srgbClr val="20303F"/>
          </a:solidFill>
          <a:ln w="9525">
            <a:solidFill>
              <a:srgbClr val="9CC0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427939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9C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passo a passo está no lab-aula-1 e no lab.md; os templates, nos anexos.</a:t>
            </a:r>
            <a:endParaRPr lang="en-US" sz="12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Recapitulando a Aula 1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49240" cy="868680"/>
          </a:xfrm>
          <a:prstGeom prst="roundRect">
            <a:avLst>
              <a:gd name="adj" fmla="val 6316"/>
            </a:avLst>
          </a:prstGeom>
          <a:solidFill>
            <a:srgbClr val="27303F"/>
          </a:solidFill>
          <a:ln w="12700">
            <a:solidFill>
              <a:srgbClr val="4E85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956816"/>
            <a:ext cx="438912" cy="438912"/>
          </a:xfrm>
          <a:prstGeom prst="ellipse">
            <a:avLst/>
          </a:prstGeom>
          <a:solidFill>
            <a:srgbClr val="2E5E4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19568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73736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AppSec protege a lógica, não só a rede.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09360" y="1737360"/>
            <a:ext cx="5349240" cy="868680"/>
          </a:xfrm>
          <a:prstGeom prst="roundRect">
            <a:avLst>
              <a:gd name="adj" fmla="val 6316"/>
            </a:avLst>
          </a:prstGeom>
          <a:solidFill>
            <a:srgbClr val="27303F"/>
          </a:solidFill>
          <a:ln w="12700">
            <a:solidFill>
              <a:srgbClr val="4E856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73952" y="1956816"/>
            <a:ext cx="438912" cy="438912"/>
          </a:xfrm>
          <a:prstGeom prst="ellipse">
            <a:avLst/>
          </a:prstGeom>
          <a:solidFill>
            <a:srgbClr val="2E5E4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73952" y="19568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040880" y="173736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 é o vocabulário comum de risco.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2788920"/>
            <a:ext cx="5349240" cy="868680"/>
          </a:xfrm>
          <a:prstGeom prst="roundRect">
            <a:avLst>
              <a:gd name="adj" fmla="val 6316"/>
            </a:avLst>
          </a:prstGeom>
          <a:solidFill>
            <a:srgbClr val="27303F"/>
          </a:solidFill>
          <a:ln w="12700">
            <a:solidFill>
              <a:srgbClr val="4E856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" y="3008376"/>
            <a:ext cx="438912" cy="438912"/>
          </a:xfrm>
          <a:prstGeom prst="ellipse">
            <a:avLst/>
          </a:prstGeom>
          <a:solidFill>
            <a:srgbClr val="2E5E4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04672" y="30083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278892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Ataques encadeiam várias falhas 'médias'.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09360" y="2788920"/>
            <a:ext cx="5349240" cy="868680"/>
          </a:xfrm>
          <a:prstGeom prst="roundRect">
            <a:avLst>
              <a:gd name="adj" fmla="val 6316"/>
            </a:avLst>
          </a:prstGeom>
          <a:solidFill>
            <a:srgbClr val="27303F"/>
          </a:solidFill>
          <a:ln w="12700">
            <a:solidFill>
              <a:srgbClr val="4E856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73952" y="3008376"/>
            <a:ext cx="438912" cy="438912"/>
          </a:xfrm>
          <a:prstGeom prst="ellipse">
            <a:avLst/>
          </a:prstGeom>
          <a:solidFill>
            <a:srgbClr val="2E5E4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73952" y="30083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040880" y="278892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entra em TODAS as fases do SDLC.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3840480"/>
            <a:ext cx="5349240" cy="868680"/>
          </a:xfrm>
          <a:prstGeom prst="roundRect">
            <a:avLst>
              <a:gd name="adj" fmla="val 6316"/>
            </a:avLst>
          </a:prstGeom>
          <a:solidFill>
            <a:srgbClr val="27303F"/>
          </a:solidFill>
          <a:ln w="12700">
            <a:solidFill>
              <a:srgbClr val="4E856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4672" y="4059936"/>
            <a:ext cx="438912" cy="438912"/>
          </a:xfrm>
          <a:prstGeom prst="ellipse">
            <a:avLst/>
          </a:prstGeom>
          <a:solidFill>
            <a:srgbClr val="2E5E4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04672" y="40599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384048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 de segurança é verificável (vira teste).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309360" y="3840480"/>
            <a:ext cx="5349240" cy="868680"/>
          </a:xfrm>
          <a:prstGeom prst="roundRect">
            <a:avLst>
              <a:gd name="adj" fmla="val 6316"/>
            </a:avLst>
          </a:prstGeom>
          <a:solidFill>
            <a:srgbClr val="27303F"/>
          </a:solidFill>
          <a:ln w="12700">
            <a:solidFill>
              <a:srgbClr val="4E856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73952" y="4059936"/>
            <a:ext cx="438912" cy="438912"/>
          </a:xfrm>
          <a:prstGeom prst="ellipse">
            <a:avLst/>
          </a:prstGeom>
          <a:solidFill>
            <a:srgbClr val="2E5E4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73952" y="40599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040880" y="384048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Abuse case → requisito → critério de aceite.</a:t>
            </a:r>
            <a:endParaRPr lang="en-US" sz="12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222B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94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AULA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60604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2 — Design Seguro e Validação de Entrada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49040"/>
            <a:ext cx="10241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as falhas nascem no design — e como o threat modeling (STRIDE) e a validação de entrada as eliminam. A Aula 2 parte de aula-2-baseline.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2026-09-19T19:32:41Z</dcterms:created>
  <dcterms:modified xsi:type="dcterms:W3CDTF">2026-09-19T19:32:41Z</dcterms:modified>
</cp:coreProperties>
</file>