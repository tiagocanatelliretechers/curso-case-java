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57055" y="-1463040"/>
            <a:ext cx="4023360" cy="402336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4389120"/>
            <a:ext cx="3474720" cy="3474720"/>
          </a:xfrm>
          <a:prstGeom prst="ellipse">
            <a:avLst/>
          </a:prstGeom>
          <a:solidFill>
            <a:srgbClr val="028090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APPLICATION SECURITY ENGINEER — JAVA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Security, Ameaças e Ataques + Levantamento de Requisitos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conteúdo · leitura e apresentação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1148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1 · Panorama de Application Security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 hoje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aula você vai entender o campo de jogo da segurança de aplicações e sair sabendo transformar isso em requisitos concretos.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AppSec e por que ela é diferente (e complementar) da segurança de rede.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ataca, por quê, e quanto custa uma brecha.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OWASP Top 10 (2021) explicado item a item, com exemplos em Java e no nosso Portal.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 ataque real se encadeia, da coleta de informação à exfiltração.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46557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escrever requisitos de segurança verificáveis (abuse cases, user stories, ASVS).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4446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383590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longo da aula, sempre que aparecer uma falha, vamos perguntar "onde isso está no nosso Portal?".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Application Security — a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88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Security é o conjunto de práticas que garante que uma aplicação faça o que deve e, sobretudo, NÃO faça o que não deve — mesmo diante de usuários e entradas maliciosas.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601468"/>
            <a:ext cx="11064240" cy="1170432"/>
          </a:xfrm>
          <a:prstGeom prst="roundRect">
            <a:avLst>
              <a:gd name="adj" fmla="val 3906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692908"/>
            <a:ext cx="106619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AppSec atua sobre o comportamento do software: a lógica de negócio, o fluxo de dados e as decisões que o código toma (quem entra, quem vê o quê, o que é validado). Não é um "produto" instalado no fim — é uma propriedade que emerge de como se especifica, projeta, codifica, testa e opera o sistema.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6334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vulnerabilidade é, no fundo, uma diferença entre o que o desenvolvedor imaginou que aconteceria e o que o atacante consegue fazer acontecer.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4375404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4466844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aplicação é como as regras internas de um prédio — quem pode entrar em cada sala, quem assina o quê. O muro externo (a rede) é importante, mas não decide nada disso.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Application Security —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aterrissar o conceito no Portal de Pedidos B2B, a aplicação que você vai proteger nas 6 aulas.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cliente João abre a URL /pedidos/2, quem decide se ele pode ver aquele pedido não é o firewall nem o HTTPS — é uma linha de código na aplicação. Se essa checagem não existe, João vê o pedido de outro cliente.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1170432"/>
          </a:xfrm>
          <a:prstGeom prst="roundRect">
            <a:avLst>
              <a:gd name="adj" fmla="val 3906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um sistema bancário onde trocar o número da conta na URL mostra o extrato de outra pessoa. A conexão é segura (cadeado no navegador), o servidor está atualizado — e ainda assim há um vazamento grave, porque a falha está na lógica.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64058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73202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exata falha existe hoje em /pedidos/{id} — vamos explorá-la no laboratório e corrigi-la na Aula 3.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AppSec x Segurança de rede/infra — a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e aplicações se protegem em camadas diferentes; uma não substitui a outra.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firewall, IDS/IPS e segmentação operam na camada de transporte — veem endereços, portas e pacotes. Eles não entendem "este usuário pode ver este pedido", porque isso é semântica da aplicação, não do pacote.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27248"/>
            <a:ext cx="1106424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requisição de ataque na camada de aplicação quase sempre é sintaticamente perfeita: é um HTTP legítimo, na porta certa, com TLS válido. Para a rede, nada de errado; para o negócio, um desastre.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872484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963924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muro e a portaria (rede) controlam quem entra no prédio. Mas, uma vez lá dentro, quem impede um visitante de entrar na sala errada são as regras e as fechaduras internas (aplicação).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AppSec x Segurança de rede/infra —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ataque que a rede aprova pode ser exatamente o que derruba a confidencialidade dos dados.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/pedidos/2 passa pelo firewall sem alarme — é HTTPS na 443. Mas se o código não checa o dono, é um vazamento.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WAF pode bloquear padrões conhecidos (ex.: ' OR '1'='1), o que ajuda — porém o atacante reescreve o payload até passar. WAF compra tempo; não corrige a causa.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comum: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"temos firewall e HTTPS, logo estamos seguros". HTTPS protege o dado em trânsito, não a lógica que decide o acesso.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9697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50612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autoriza, valida a entrada e trata o dado é o código — é lá que a segurança precisa morar.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ataca — os atores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bem começa por entender quem está do outro lado e o que essa pessoa quer.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Cibercriminosos: motivação financeira — fraude, ransomware, roubo e revenda de dados. É a maioria.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1061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Insiders: funcionários ou parceiros com acesso legítimo, agindo por descuido ou má-fé.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9504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Hacktivistas e Estados-nação: ideologia, espionagem e sabotagem; mais sofisticados e persistentes.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015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 e oportunistas: bots varrem a internet testando falhas conhecidas em qualquer alvo exposto.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91363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0507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todo assaltante quer o mesmo — uns querem o cofre, outros só a bicicleta na garagem. Você defende conforme quem tem interesse no quê.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ataca — motivações e superfície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o risco não é só quem ataca, mas quantas portas você deixa abertas.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superfície de ataque é o total de pontos por onde o sistema pode ser tocado — cada endpoint, formulário, parâmetro, integração e dependência é uma porta a mais.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186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apps mobile, serviços em nuvem e bibliotecas de terceiros multiplicaram essa superfície nos últimos anos.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22776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14216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na nossa aplicação já temos telas web, uma API REST com JWT, upload de arquivos e uma integração que busca URL externa — cinco famílias de porta para cuidar.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9514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50429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"Quem teria interesse no nosso Portal B2B e o que ganharia? Dados de pagamento? Lista de clientes?"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uma brecha e o "shift-left" —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cedo é barato; corrigir sob incidente é caríssimo. Essa é a lógica econômica da AppSec.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corrigir uma falha cresce a cada fase do ciclo. Um requisito ajustado no início custa uma fração do mesmo problema descoberto em produção — e uma fração ínfima do custo de uma falha explorada.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37870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diretos: resposta a incidente, perícia, correção emergencial, notificação dos afetados.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89077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indiretos: multas (LGPD/GDPR), perda de clientes, reputação e litígio.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1696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11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"shift-left" significa puxar a segurança para as fases iniciais — é a decisão de maior retorno.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uma brecha —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número concreto ajuda a sentir a diferença de escala entre "cedo" e "tarde".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a regra "o preço vem do servidor" no design custa alguns minutos de discussão. Descobrir em produção que clientes alteraram preços no checkout custa estorno, auditoria, retrabalho e confiança perdida.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186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diferença entre corrigir a planta antes de construir e quebrar a parede depois de pronta para passar o cano esquecido.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227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142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fontes reconhecidas (OWASP, relatórios de mercado) para embasar custos — evite citar cifras específicas sem referência verificável.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tríade CIA — a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vulnerabilidade viola uma ou mais propriedades de segurança. Nomeá-las é a forma de comunicar impacto com precisão.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(Confidencialidade): só quem pode ver, vê.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(Integridade): dados e comportamento não são adulterados indevidamente.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(Disponibilidade): o sistema continua utilizável por quem tem direito.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186684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essenciais: Autenticação (provar quem é), Autorização (o que pode fazer), Accountability/auditoria (registrar quem fez o quê) e Não-repúdio (não poder negar que fez).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tríade CIA —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classificar falhas reais do Portal por propriedade violada — é assim que se prioriza.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50008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Vazar dados de pagamento → fere Confidencialidade.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Alterar o preço de um pedido no checkout → fere Integridade.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upload de 2 GB que derruba o serviço → fere Disponibilidade.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465576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sem limite de tentativas → falha de Autenticação; ausência de logs → falha de Accountability.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06908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falha citada hoje, a turma responde em voz alta "qual propriedade da CIA isso quebra?".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Top 10 (2021) — o que é e como usar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lista das dez categorias de risco mais críticas em aplicações web — uma ferramenta de conscientização e priorização, não um checklist completo.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Top 10 alinha vocabulário e ajuda a priorizar o que mais dói. Para verificação exaustiva existe o ASVS (veremos no Bloco 3).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45536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usar: trate cada categoria como uma "família" de falhas a investigar no seu sistema, não como uma caixa a marcar.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74904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aplicação nasce com exemplos vivos das dez categorias — a seguir, cada uma com teoria, exemplo tangível e onde ela mora no Portal.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A01 Broken Access Control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Acontece quando um usuário consegue fazer algo além do que sua permissão deveria permitir: ver dados de outros, agir como admin ou acessar telas escondidas.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responde a três perguntas — "quem é você?" (autenticação), "o que seu papel permite?" (autorização por função) e "este objeto específico é seu?" (autorização por objeto). O IDOR nasce quando a terceira pergunta não é feita.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fácil esconder um botão no frontend e esquecer de checar no servidor; e é fácil confiar no id que veio na URL.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cartão de hotel que abre qualquer porta se você trocar o número do quarto no visor — a fechadura só olha o número, não o hóspede.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A01 Broken Access Control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categoria nº 1 de 2021 — e a mais presente no nosso Portal.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69264"/>
          </a:xfrm>
          <a:prstGeom prst="roundRect">
            <a:avLst>
              <a:gd name="adj" fmla="val 5660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208276"/>
            <a:ext cx="106619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@GetMapping("/pedidos/{id}")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Pedido ver(@PathVariable Long id){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repo.findById(id).get();   // nunca pergunta: este pedido é do usuário logado?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5925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5069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explorar: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logado como João, troque /pedidos/1 por /pedidos/2 e veja o pedido da Globex.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5478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4622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vazamento e alteração de dados de outros clientes; escalada para funções administrativas.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03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8417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na web (/pedidos/{id}), na API (/api/pedidos/{id}) e no /admin (acessível a qualquer logado). Corrigimos na Aula 3.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A02 Cryptographic Failures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sensíveis expostos por criptografia ausente, fraca ou mal utilizada — incluindo o erro clássico de confundir codificação com criptografia.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três primitivas que as pessoas confundem. Cifrar (recuperável com chave, ex.: AES) protege confidencialidade. Hashing (irreversível, ex.: bcrypt) serve para verificar senha. Codificar (Base64) só muda o formato — não protege nada.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é escrever de trás para frente — parece embaralhado, mas qualquer um lê no espelho. Não é um cofre. Hashing é triturar o documento: não dá para "descolar" de volta.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4074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4988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bibliotecas facilitam Base64 e MD5; o desenvolvedor acha que "está embaralhado, logo protegido".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A02 Cryptographic Failures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falhas clássicas convivem no Portal: senha em MD5 e "dado protegido" em Base64.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208276"/>
            <a:ext cx="10661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"Proteção" falsa: qualquer um reverte, sem chave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protegido = Base64.getEncoder().encodeToString(cartao.getBytes());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11780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03220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sem "sal" é como um triturador que corta todo papel igual — existe um catálogo pronto (rainbow table) que reconhece o resultado. O sal faz cada corte ser único.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931920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de cartões, senhas e PII; quebra de sigilo e de conformidade.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4028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4942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em MD5 (Aula 3) e dados de pagamento em Base64 (Aula 4). Vamos decodificar o dado ao vivo para provar que não há proteção.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A03 Injection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Ocorre quando dado não confiável é interpretado como comando: SQL, comandos de SO, LDAP, XPath (inclui XSS na taxonomia de 2021).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 raiz é misturar, na mesma string, o comando e o dado. O interpretador (banco, shell) não sabe onde termina a instrução e começa o conteúdo do usuário — então o conteúdo vira instrução.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dita uma carta para a secretária e, no meio do texto, diz "…e agora rasgue todos os arquivos". Sem separar instrução de conteúdo, ela obedece.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defende: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comando de dado com consultas parametrizadas — o dado nunca é interpretado como código.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A03 Injection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Portal, a busca de produtos concatena o termo direto na consulta SQL.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448056"/>
          </a:xfrm>
          <a:prstGeom prst="roundRect">
            <a:avLst>
              <a:gd name="adj" fmla="val 12245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208276"/>
            <a:ext cx="10661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sql = "SELECT * FROM produto WHERE nome LIKE '%" + termo + "%'";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3804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2948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explorar: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zzz' UNION SELECT id,email,senha,0,0 FROM usuario -- na busca faz a consulta devolver e-mails e hashes de senha junto com os produtos.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433572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25012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e alteração de dados; em casos graves, execução remota de código.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08736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laboratório desta aula você verá o vazamento de usuários pela busca; a correção (query parametrizada) é na Aula 2.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A04 Insecure Design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falha de concepção: o controle de segurança nunca foi projetado. Diferente de um bug, aqui não há o que "consertar" — há o que "projetar".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design é a ausência de uma defesa desde o desenho — não existe fluxo previsto para o abuso. Misconfiguration (A05) é ter o controle e configurá-lo errado; insecure design é não ter o controle.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banco sem prever o cofre. Não adianta reforçar a fechadura da porta depois — o dinheiro está na mesa.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pressa, foco só no caminho feliz, e ausência de threat modeling na fase de design.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A04 Insecure Design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design aparecem como "o sistema simplesmente permite" algo que nunca deveria ter sido possível.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checkout que confia no preço enviado pelo formulário do cliente — o atacante muda o preço para R$ 1,00 e o sistema aceita, porque nunca foi projetado para desconfiar.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sem qualquer limite de tentativas; ausência de regras de negócio que impeçam abuso (limites, cotas, verificação de posse).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ausência de rate limiting e de validação — tratamos no design (Aula 2) e na implementação (Aula 3).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A05 Security Misconfiguration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insegura: defaults perigosos, endpoints abertos, permissões largas, mensagens de erro verbosas.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controle existe, mas está mal ajustado — muitas vezes por herdar o padrão de fábrica ou por reaproveitar config de desenvolvimento em produção.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para uma casa nova e deixar o alarme com a senha "0000" de fábrica, com a planta da casa colada na porta.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410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325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entre ambientes (dev/prod), pressa no deploy e falta de hardening.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A05 Security Misconfiguration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Portal expõe painéis de gestão e erros detalhados que entregam o mapa ao atacante.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208276"/>
            <a:ext cx="10661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management.endpoints.web.exposure.include: "*"   # todo o Actuator, sem autenticação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server.error.include-stacktrace: always          # stack trace na cara do usuário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1178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0322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explorar: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/actuator/env revela segredos e configuração; um erro 500 mostra o stack trace com versões e estrutura interna.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07308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98748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o reconhecimento e expõe segredos diretamente.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1696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2611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 H2 console abertos, stack trace ao cliente — corrigimos nas Aulas 5 e 6.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A06 Vulnerable and Outdated Components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bibliotecas ou versões com vulnerabilidades conhecidas. Seu código pode estar impecável e ainda assim herdar a falha da dependência.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modernas são feitas majoritariamente de código de terceiros. Cada dependência (e as dependências dela) entra no seu produto — inclusive as falhas já catalogadas como CVE.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em casa uma fechadura cujo defeito saiu no jornal — o ladrão já sabe exatamente como abri-la.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desatualizadas, falta de inventário (SBOM) e ausência de verificação automática no build.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A06 Vulnerable and Outdated Components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biblioteca antiga pode abrir a porta inteira.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Portal usa commons-text 1.9, que tem a CVE-2022-42889 ("Text4Shell") — uma falha pública, com exploit conhecido.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940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855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defende: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de SCA (OWASP Dependency-Check, Snyk, Dependabot) rodam no build e apontam a versão vulnerável para você atualizar.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8960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8104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exploração de uma falha documentada, muitas vezes com código de ataque pronto na internet.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485132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76572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detectamos e atualizamos essa dependência na Aula 6.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A07 Identification &amp; Authentication Failures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em provar e gerenciar identidade: força bruta sem limite, senhas fracas, "esqueci minha senha" que revela contas, ausência de MFA, tokens mal validados.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autenticar é provar quem você é. As falhas surgem quando o processo permite adivinhação (sem limite de tentativas), aceita segredos fracos, ou confia em tokens sem verificar sua autenticidade.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catraca que aceita infinitas tentativas de senha sem nunca travar — com tempo, qualquer combinação entra.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reaproveitar hashing fraco, não limitar tentativas e confiar em campos que o cliente controla (como a "role" dentro de um token).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A07 Identification &amp; Authentication Failures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Portal, o login não limita tentativas e o "esqueci senha" entrega informação.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FFF3E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explorar: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o login milhares de vezes (brute force) sem bloqueio; e comparar as respostas do "esqueci minha senha" para descobrir quais e-mails existem (user enumeration).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186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JWT em que a aplicação lê a "role" do token sem verificar a assinatura — o atacante troca ROLE_USER por ROLE_ADMIN e vira administrador.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22776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14216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takeover — o atacante assume a conta da vítima.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48513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7657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rate limiting, com user enumeration e JWT sem verificação — corrigimos nas Aulas 3 e 4.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A08 Software &amp; Data Integrity Failures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 em código ou dados sem verificar sua integridade: atualizações sem assinatura, deserialização insegura, pipelines de CI/CD comprometidos.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aqui é garantir que o que você executa é exatamente o que deveria — não foi trocado no caminho. Muito ligada à cadeia de suprimentos (supply chain).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 uma encomenda sem conferir o lacre — pode ter sido aberta e adulterada no trajeto.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410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325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pacotes de fontes não confiáveis, não assinar artefatos e não travar versões/checksums.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A08 Software &amp; Data Integrity Failures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ameaça entra por um caminho "confiável", por isso passa despercebida.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18998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pacote malicioso com nome parecido com o de uma dependência real (dependency confusion) é baixado pelo build e executa código no seu servidor.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940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855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defende: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(inventário de componentes), verificação de checksums/assinaturas e gates no CI/CD que barram artefatos não verificados.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8960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8104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de código malicioso a partir de uma origem aparentemente legítima.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34340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endereçamos com verificação de dependências e gates de pipeline na Aula 6.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A09 Security Logging &amp; Monitoring Failures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registrar eventos de segurança (ou registrá-los de forma insegura) faz incidentes passarem despercebidos e inviabiliza a perícia.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logs de autenticação, autorização e falhas, você não detecta o ataque enquanto ele acontece nem consegue reconstruí-lo depois. E logar entrada do usuário sem sanitizar cria a "log injection".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banco sem câmeras — o assalto acontece e ninguém sabe quem foi, como entrou nem o que levou.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tratado como "detalhe", sem plano do que registrar (e do que nunca registrar: senha, token, cartão).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A09 Security Logging &amp; Monitoring Failures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 o dado cru do usuário permite que ele "escreva" no seu log.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448056"/>
          </a:xfrm>
          <a:prstGeom prst="roundRect">
            <a:avLst>
              <a:gd name="adj" fmla="val 12245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208276"/>
            <a:ext cx="10661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log.info("Importando catálogo de: " + urlDoUsuario);   // um \n no input forja linhas falsas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3804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2948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explorar: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uma URL contendo quebras de linha para inserir entradas falsas no log e esconder rastros.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43357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2501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não detectados, perícia comprometida e trilha de auditoria adulterada.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22910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32054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injection na importação de catálogo e ausência de logs de segurança — corrigimos na Aula 5.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A10 Server-Side Request Forgery (SSRF) — o que é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é induzido a fazer requisições a destinos não pretendidos, escolhidos pelo atacante.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aplicação busca uma URL fornecida pelo usuário sem restringir destino, o atacante usa o servidor como "procurador" — e o servidor costuma ter acesso a redes internas que o atacante não tem.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ao porteiro do prédio (que tem a chave mestra) para buscar uma encomenda num endereço que VOCÊ escolhe — e mandá-lo abrir portas internas às quais você não teria acesso.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4074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4988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acontece: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 "importar de URL", webhooks e proxies sem allowlist de destino.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A10 SSRF — exemplo tangível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Portal, "importar catálogo por URL" busca qualquer endereço informado.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098548"/>
            <a:ext cx="11064240" cy="448056"/>
          </a:xfrm>
          <a:prstGeom prst="roundRect">
            <a:avLst>
              <a:gd name="adj" fmla="val 12245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208276"/>
            <a:ext cx="10661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URL(urlDoUsuario).openConnection().getInputStream();   // sem validar host/esquema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38044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FFF3E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29484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explorar: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informar http://169.254.169.254/latest/meta-data/ (metadados de nuvem, com credenciais) ou http://localhost:8080/actuator/env (segredos internos), ou file:///etc/passwd.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6674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5818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 serviços internos e a credenciais de nuvem — um dos vetores mais graves em ambientes cloud.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462272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53712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tratamos com allowlist de destino no design (Aula 2).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PANORAMA DE APPLICATION SECURITY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raramente andam sozinhas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incidente real quase nunca é uma única falha: o atacante encadeia várias, cada uma abrindo a porta da próxima.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entrega informação no reconhecimento (A05).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dá o primeiro apoio dentro do sistema (A03).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 permite pivotar para dados de outros (A01).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Failure transforma o que foi roubado em dano concreto (A02).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570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 o que já vimos, como você juntaria três dessas falhas no nosso Portal para chegar aos dados de pagamento?"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1148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2 · Anatomia de um ataque + estudo de caso</a:t>
            </a:r>
            <a:endParaRPr lang="en-US" sz="3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Cyber Kill Chain — a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o ataque em etapas revela onde é possível interrompê-lo — a ideia de "defense in depth".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ataque dirigido costuma seguir uma sequência: reconhecimento → preparação da "arma" → exploração → pós-exploração (persistência, movimento, exfiltração). Cada etapa é uma oportunidade de defesa.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assalto planejado — observar a rotina, escolher a ferramenta, arrombar, e então agir lá dentro. Uma câmera na etapa de observação já muda o jogo.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vencer em todas as etapas; interromper qualquer uma quebra a cadeia.</a:t>
            </a:r>
            <a:endParaRPr lang="en-US" sz="13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— Reconhecimento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atacante quer entender a aplicação antes de tocá-la de verdade: tecnologias, versões, endpoints e o que vaza informação.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headers de resposta e mensagens de erro; procurar comentários em HTML/JS; enumerar rotas; e consultar endpoints de gestão expostos (como /actuator/env).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erro 500 com stack trace entrega, de graça, o framework, a versão e a estrutura do banco — economizando horas de trabalho do atacante.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410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325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o que você fará no Lab 1.2, preenchendo a Ficha de Reconhecimento.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3659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82803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informação um header Server ou um stack trace entrega sobre a nossa stack?"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 — Preparação e Exploração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posse do mapa, o atacante escolhe a falha mais barata de explorar e constrói o payload sob medida.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busca vulnerável, montar um UNION SELECT para extrair usuários; num JWT mal validado, forjar um token com role: ADMIN.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69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endpoint de busca que serve o cliente vira a porta de saída dos dados — a "arma" é feita para a falha encontrada no reconhecimento.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9410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325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curso, exploramos apenas em ambiente controlado e autorizado. Isso é ética profissional — e, fora de um escopo autorizado, é crime.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3 — Pós-exploração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 um ponto de apoio raramente é o objetivo final; o valor está no que vem depois.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Escalada vertical (virar admin) e horizontal (acessar contas de outros clientes).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lateral para outros sistemas e persistência para manter o acesso.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Exfiltração dos dados e, quando possível, apagar rastros.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293522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02666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pela janela é só o começo; o assalto de fato é circular pela casa, achar o cofre e sair sem deixar digitais.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30752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com A09: sem logging adequado, o atacante trabalha no escuro — e a vítima também.</a:t>
            </a:r>
            <a:endParaRPr lang="en-US" sz="14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 "Empresa X" (1/3) — o cenário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fictício e genérico, para praticar o raciocínio de encadeamento — sem atribuir a empresas reais.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50008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X tem um portal B2B parecido com o nosso. Por engano, um ambiente de staging foi exposto à internet, sem WAF na frente.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862072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Nesse ambiente, o Actuator estava aberto e a busca de produtos era vulnerável a SQL Injection.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1409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2324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isoladamente, o time considerava cada um desses pontos "de baixa prioridade".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 "Empresa X" (2/3) — a cadeia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Veja como quatro fraquezas "médias" somam um incidente grave.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Reconhecimento: o atacante acessa /actuator/env e descobre o banco, as bibliotecas e um segredo de JWT.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1061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Injection: um UNION SELECT na busca extrai e-mails e hashes de senha.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950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Cryptographic Failure: os hashes eram MD5 sem sal — quebrados offline em minutos.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68396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Broken Access Control: com uma conta válida (ou um JWT forjado), o atacante navega por pedidos e dados de pagamento de todos os clientes.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680460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71900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elo, sozinho, era "só um achado". Juntos, viram vazamento.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 "Empresa X" (3/3) — impacto e lição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impacto raramente fica na técnica: ele chega ao negócio.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Impacto: vazamento de PII e de dados de pagamento; obrigação de notificação; multa e dano de reputação.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1061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camada quebrada foi uma defesa em profundidade que não existiu.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88950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98094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bastaria UMA defesa em qualquer elo — Actuator fechado, query parametrizada, bcrypt, ou checagem de posse — para interromper a cadeia inteira.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685032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776472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seria o elo mais barato de defender primeiro no nosso Portal, e por quê?"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ciclo: Secure SDLC —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não é uma fase — é uma preocupação presente em todas as fases do desenvolvimento.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escrever requisitos de segurança e abuse cases (hoje).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threat modeling e princípios seguros (Aula 2).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Implementação: validação, autenticação/autorização, criptografia (Aulas 2 a 4).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SAST, DAST e revisão de código (Aula 5).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46557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 Manutenção: hardening, dependências e monitoramento (Aula 6).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4446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383590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é como qualidade — não se "inspeciona no fim", se constrói em cada etapa.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ANATOMIA DE UM ATAQUE + ESTUDO DE CASO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curso por fase do SDLC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aula deste curso ataca uma fase — e todas usam o mesmo Portal como campo de treino.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 (hoje): ameaças, Top 10 e requisitos de segurança.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2: design seguro, threat modeling (STRIDE) e validação de entrada.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3: autenticação e autorização (corrige o IDOR e o hashing).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4: criptografia e sessão (corrige o Base64 e o JWT).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46557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5: tratamento de erros e testes (SAST/DAST).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74446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6: deploy seguro, dependências e revisão — fechando o ciclo.</a:t>
            </a:r>
            <a:endParaRPr lang="en-US" sz="14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1148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BLOCO 3 · Levantamento de Requisitos de Segurança</a:t>
            </a:r>
            <a:endParaRPr lang="en-US" sz="3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escrever requisitos de segurança — teoria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é requisito não é projetado, não é implementado com cuidado, não é testado e não é cobrado. A segurança "implícita" vira dívida — e incidente.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937260"/>
          </a:xfrm>
          <a:prstGeom prst="roundRect">
            <a:avLst>
              <a:gd name="adj" fmla="val 48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de segurança tornam explícitas as garantias e restrições do sistema. Eles guiam o design, orientam a implementação e viram critérios de aceite (testes).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787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4701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contrato de uma obra — o que não está escrito no contrato não é construído nem cobrado. "Segurança" precisa estar no contrato.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7423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567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"o cliente só vê os próprios pedidos" nunca virou requisito, o IDOR nasce como comportamento "normal" do sistema.</a:t>
            </a:r>
            <a:endParaRPr lang="en-US" sz="13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 funcional x requisito de segurança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funcional diz o QUE o sistema faz. O de segurança diz sob QUAIS garantias — e muitas vezes o que ele NÃO deve permitir.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50008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Funcional: "o cliente cria um pedido e anexa um comprovante."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Segurança: "apenas o dono do pedido anexa a ele"; "a senha nunca é armazenada de forma reversível"; "o sistema não revela se um e-mail já existe".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51129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requisitos de segurança são "negativos" (o sistema NÃO deve…), e isso é esperado — eles descrevem o abuso a impedir.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15384"/>
            <a:ext cx="11064240" cy="470916"/>
          </a:xfrm>
          <a:prstGeom prst="roundRect">
            <a:avLst>
              <a:gd name="adj" fmla="val 9709"/>
            </a:avLst>
          </a:prstGeom>
          <a:solidFill>
            <a:srgbClr val="E1F1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306824"/>
            <a:ext cx="1066190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duplas, escrevam um requisito funcional e um de segurança para o login.</a:t>
            </a:r>
            <a:endParaRPr lang="en-US" sz="13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Abuse cases e misuse cases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caso de uso visto pela ótica do atacante: o que ele quer alcançar usando (ou abusando) da funcionalidade.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funcionalidade, imaginamos como ela pode ser abusada; de cada abuso nasce uma contramedida — ou seja, um requisito de segurança.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45536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"As an attacker, I want &lt;ação&gt; so that &lt;ganho&gt;."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42442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51586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an attacker, I want to change the order id in the URL so that I can read other clients' orders."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1995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31139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projetar uma casa segura, pense como o ladrão — por onde ele entraria?</a:t>
            </a:r>
            <a:endParaRPr lang="en-US" sz="13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User Stories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forma prática de registrar o requisito defensivo, já com o critério de aceite que vira teste.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história do atacante deriva-se a história defensiva do sistema, e dela o teste.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45536"/>
            <a:ext cx="11064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tangível: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442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Atacante: "quero trocar o id do pedido para ler o de outro cliente."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0332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(requisito): "devo verificar a posse do pedido antes de retorná-lo."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82212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aceite: "Dado o id de um pedido de outro cliente, quando eu solicitá-lo, então recebo 403."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44942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857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não consegue escrever o teste de aceite, o requisito ainda está vago demais.</a:t>
            </a:r>
            <a:endParaRPr lang="en-US" sz="13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ASVS — o padrão de verificação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Application Security Verification Standard é um catálogo de requisitos de segurança verificáveis, organizado por categorias e níveis.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reinventar, você consulta um padrão maduro para não esquecer categorias inteiras de requisito.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45536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1: básico, para qualquer aplicação. Nível 2: aplicações com dados sensíveis — o nosso caso (dados de pagamento).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5760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úteis hoje: V2 (Autenticação), V3 (Sessão), V4 (Controle de acesso), V5 (Validação), V12 (Arquivos).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16966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26110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checklist de vistoria do imóvel — você não confia na memória, você percorre a lista.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Derivando requisitos — Cadastro de cliente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Funcionalidade: cadastrar razão social, CNPJ, e-mail e senha. Vamos transformá-la em requisitos verificáveis.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 normalizar todas as entradas por allowlist (e-mail, CNPJ, tamanho máximo). [A03/A04 · ASVS V5]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6207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Armazenar a senha com hashing forte (bcrypt/Argon2), nunca reversível. [A02 · ASVS V2.4]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4096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revelar se um e-mail já existe (resposta indistinguível). [A07 · ASVS V2.2]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1985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contra automação e força bruta (rate limiting). [A07 · ASVS V2.1]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98748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 (critério de aceite): "Dado um CNPJ com dígito verificador inválido, quando submeter, então o cadastro é rejeitado."</a:t>
            </a:r>
            <a:endParaRPr lang="en-US" sz="14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Derivando requisitos — Upload de comprovante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Funcionalidade: anexar um comprovante a um pedido.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 apenas tipos permitidos, validando o conteúdo (magic number), não só a extensão. [A04 · ASVS V12.1]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10612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o nome do arquivo no servidor; a entrada do usuário nunca compõe o caminho. [A03 · ASVS V12.3]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22676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 limite de tamanho e de taxa (anti-DoS). [A04]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0156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o pedido pertence ao usuário antes de aceitar o upload. [A01]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80460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tangível (critério de aceite): "Dado um executável renomeado para .png, quando enviar, então é rejeitado pelo magic number."</a:t>
            </a:r>
            <a:endParaRPr lang="en-US" sz="14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Derivando requisitos — Checkout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Funcionalidade: fechar o pedido e registrar o pagamento.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9854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preços vêm do servidor, nunca do cliente (evita adulteração de valor). [A04]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pagamento cifrados em repouso (AES-GCM) e TLS em trânsito. [A02 · ASVS V6/V9]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5633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auditoria da transação — sem gravar dados sensíveis no log. [A09 · ASVS V7]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293522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FFF3E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02666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comum: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 no preço enviado pelo formulário. Nunca confie em dado que veio do navegador — ele é território do atacante.</a:t>
            </a:r>
            <a:endParaRPr lang="en-US" sz="13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Priorização por risco (e um aperitivo de STRIDE)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dá para fazer tudo ao mesmo tempo: priorize os requisitos que mitigam os maiores riscos primeiro.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44144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≈ Probabilidade × Impacto. Um IDOR fácil de explorar e que expõe dados de pagamento é alto risco — vem primeiro.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45536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(aprofundado na Aula 2) é uma taxonomia para enumerar ameaças: Spoofing, Tampering, Repudiation, Information Disclosure, Denial of Service, Elevation of Privilege.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749040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emergência, você apaga primeiro o incêndio que ameaça a estrutura, não a lixeira que fumega.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53128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544568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Dinâmica: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classifiquem três requisitos de hoje como risco Alto/Médio/Baixo e justifiquem.</a:t>
            </a:r>
            <a:endParaRPr lang="en-US" sz="13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escrever bons requisitos de segurança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bom requisito de segurança é verificável, específico, rastreável e, quando preciso, negativo.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Verificável: existe um teste de aceite que prova (passa/falha).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Específico: "senha via bcrypt com work factor ≥ 10", não "senha segura".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Rastreável: ligado a uma funcionalidade e a uma ameaça (abuse case).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6684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"deve", não "deveria" — requisito não é sugestão.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557016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ouro: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o requisito junto com o critério de aceite; se o teste não sai, o requisito ainda está vago.</a:t>
            </a:r>
            <a:endParaRPr lang="en-US" sz="13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Laboratório da Aula 1 (visão geral)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é a sua vez: subir a aplicação, reconhecê-la como um atacante e transformar isso em requisitos.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1.1 — Subir o Portal de Pedidos e navegar pelas telas.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1.2 — Reconhecimento manual guiado, preenchendo a Ficha de Reconhecimento.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07792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1.3 — Escrever abuse cases e derivar requisitos de segurança para 2 funcionalidades.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86684"/>
            <a:ext cx="11064240" cy="704088"/>
          </a:xfrm>
          <a:prstGeom prst="roundRect">
            <a:avLst>
              <a:gd name="adj" fmla="val 6494"/>
            </a:avLst>
          </a:prstGeom>
          <a:solidFill>
            <a:srgbClr val="E1F1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3278124"/>
            <a:ext cx="10661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A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Portal: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guia detalhado está no deck de laboratório (lab-aula-1) e no arquivo lab.md.</a:t>
            </a:r>
            <a:endParaRPr lang="en-US" sz="13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384048"/>
            <a:ext cx="530352" cy="53035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384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LEVANTAMENTO DE REQUISITOS DE SEGURANÇA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Fechamento e ponte para a Aula 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19072"/>
            <a:ext cx="110642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entendemos o campo de jogo (ameaças e Top 10), como o atacante pensa, e como transformar isso em requisitos verificáveis.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50008"/>
            <a:ext cx="10972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reconheceu a aplicação e produziu requisitos de segurança reais.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28900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buSzPct val="100000"/>
              <a:buChar char="•"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Aula 2: por que essas falhas nascem (design seguro e threat modeling com STRIDE) e como a validação de entrada as elimina.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40964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Tarefa: revise o OWASP Top 10 e leia uma seção do ASVS nível 1/2. Mantenha o ambiente pronto — a Aula 2 parte de aula-2-baseline.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2026-09-15T04:54:44Z</dcterms:created>
  <dcterms:modified xsi:type="dcterms:W3CDTF">2026-09-15T04:54:44Z</dcterms:modified>
</cp:coreProperties>
</file>