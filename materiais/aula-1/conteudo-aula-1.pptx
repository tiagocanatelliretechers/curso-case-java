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-1463040"/>
            <a:ext cx="4023360" cy="40233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389120"/>
            <a:ext cx="3474720" cy="347472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APPLICATION SECURITY ENGINEER — JAVA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Security, Ameaças e Ataques + Levantamento de Requisitos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conteúdo · leitura e apresentação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1 · Panorama de Application Security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PANORAMA DE APPLICATION SECURITY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Application Security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Security (AppSec) é o conjunto de práticas que protege o software contra uso indevido ao longo de todo o seu ciclo de vida — do requisito ao deploy e à manutenção.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01468"/>
            <a:ext cx="11064240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AppSec olha para o comportamento do software: a lógica, os dados que ele manipula e as decisões que ele toma. Não é um produto que se "instala no fim"; é uma propriedade que emerge de como a aplicação é projetada, escrita, testada e operada.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346704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3438144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de aplicação é garantir que a aplicação faça o que deve — e, principalmente, que NÃO faça o que não deve, mesmo diante de entradas e usuários maliciosos.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3754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44668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João acessa /pedidos/2, é o código da aplicação (não a rede) que decide se ele pode ver aquele pedido. Essa decisão é AppSec.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170932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5262372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à turma exemplos de "coisas que a aplicação não deveria deixar acontecer" no dia a dia deles.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PANORAMA DE APPLICATION SECURITY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AppSec é diferente de segurança de rede/infra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Firewalls, IDS e segmentação protegem o transporte e o perímetro. Eles não enxergam a lógica de negócio.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50008"/>
            <a:ext cx="11064240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camada de rede vê pacotes e conexões; ela não sabe se "este usuário pode ver este pedido". Uma requisição de ataque na camada de aplicação normalmente é uma requisição HTTP perfeitamente válida.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09524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firewall deixa passar GET /pedidos/2 — para ele, é tráfego HTTPS legítimo na porta 443.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74136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WAF pode ajudar bloqueando padrões conhecidos, mas é mitigação, não correção: o atacante adapta o payload.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88620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responsabilidade muda de lugar: infra é do time de operações; boa parte da AppSec é do desenvolvedor.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39826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3E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48970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que "temos firewall e HTTPS, então estamos seguros". HTTPS protege o dado em trânsito, não a lógica da aplicação.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193792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5285232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decide autorização, valida entrada e trata o dado é o código — portanto é onde a segurança precisa morar.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PANORAMA DE APPLICATION SECURITY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ataca, e por quê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 atacante ajuda a priorizar defesas: nem todo alvo interessa a todo adversário, mas software exposto quase sempre interessa a alguém.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5000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Cibercriminosos: motivação financeira — fraude, ransomware, roubo e revenda de dados.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2890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Insiders: funcionários ou parceiros com acesso, por descuido ou má-fé.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0779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Hacktivistas e Estados-nação: ideologia, espionagem, sabotagem.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8668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Pesquisadores e "script kiddies": desde reporte responsável até uso de ferramentas automatizadas em massa.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9874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superfície de ataque cresce com APIs, mobile, nuvem e dependências de terceiros — cada integração é uma porta a mais.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210812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4302252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"Quem teria interesse em atacar o nosso Portal de Pedidos B2B, e o que ganharia com isso?"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PANORAMA DE APPLICATION SECURITY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custo de uma brecha e o "shift-left"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tarde uma falha é descoberta, mais cara ela é para corrigir — e uma falha explorada custa muito mais do que uma corrigida a tempo.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500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diretos: resposta a incidente, perícia, correção emergencial, notificação de afetados.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62072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indiretos: multas regulatórias (LGPD/GDPR), perda de clientes, reputação e litígio.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7413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um requisito mal escrito no início custa uma fração do que custa corrigir o mesmo problema em produção, sob incidente.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977640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"shift-left" — antecipar a segurança para as fases iniciais (requisito, design) é a decisão de maior retorno em AppSec.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68172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3E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477316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fontes reconhecidas (OWASP, relatórios de mercado) para embasar custos — evite citar números específicos sem referência verificável.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PANORAMA DE APPLICATION SECURITY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base: tríade CIA (e um pouco além)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vulnerabilidade viola uma ou mais propriedades de segurança. Nomeá-las ajuda a comunicar impacto.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500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(Confidencialidade): só quem pode ver, vê. Ex.: vazar dados de pagamento fere confidencialidade.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62072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(Integridade): dados e comportamento não são adulterados indevidamente. Ex.: alterar o preço de um pedido.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74136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(Disponibilidade): o sistema permanece utilizável. Ex.: um upload gigante derruba o serviço.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886200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Complementos importantes: Autenticação (provar quem é), Autorização (o que pode fazer), Accountability/auditoria (registrar quem fez o quê) e Não-repúdio.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39826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48970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falha citada hoje, pergunte à turma "qual propriedade da CIA isso quebra?".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PANORAMA DE APPLICATION SECURITY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Top 10 (2021): o que é e como usar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OWASP Top 10 é uma lista das dez categorias de risco mais críticas em aplicações web. É uma ferramenta de conscientização e priorização — não um checklist completo.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5000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verificação detalhada existe o ASVS (veremos no Bloco 3). O Top 10 serve para alinhar vocabulário e priorizar o que dói mais.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862072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1F1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953512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 de referência do curso já nasce com exemplos vivos das dez categorias — vamos encontrá-los no laboratório de hoje e corrigi-los nas próximas aulas.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89077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seguir, um slide por categoria: definição, um exemplo em Java e o impacto de negócio.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PANORAMA DE APPLICATION SECURITY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A01 — Broken Access Control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Ocorre quando um usuário consegue fazer algo além do que sua permissão deveria permitir: ver dados de outros, agir como admin, ou acessar telas escondidas.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5000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categoria nº 1 de 2021. Inclui IDOR (referência direta a objeto sem checar posse) e escalada de privilégio.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862072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1018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971800"/>
            <a:ext cx="10661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@GetMapping("/pedidos/{id}")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Pedido ver(@PathVariable Long id){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repo.findById(id).get();   // NÃO verifica se o pedido é do usuário logado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9227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3E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40142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vazamento e alteração de dados de outros clientes; acesso a áreas administrativas.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7183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48097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/pedidos/{id} devolve o pedido de qualquer cliente — corrigimos isso na Aula 3.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PANORAMA DE APPLICATION SECURITY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A02 — Cryptographic Failures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sensíveis expostos por criptografia ausente, fraca ou mal utilizada.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9854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 senha em texto claro, hashing fraco (MD5), e o clássico "confundir codificação com criptografia".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610612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1018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720340"/>
            <a:ext cx="10661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Base64 é CODIFICAÇÃO, não criptografia — qualquer um reverte sem chave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protegido = Base64.getEncoder().encodeToString(cartao.getBytes());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2384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FFF3E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41528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de senhas, cartões e PII; quebra de sigilo e de conformidade.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3977640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em MD5 e "dados de pagamento" em Base64 — corrigimos nas Aulas 3 e 4.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PANORAMA DE APPLICATION SECURITY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A03 — Injection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Acontece quando dado não confiável é interpretado como comando: SQL, comandos de SO, LDAP, XPath. Inclui também XSS na taxonomia de 2021.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5000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causa raiz é misturar dados com instruções. A defesa primária é separar os dois (consultas parametrizadas).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862072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1018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971800"/>
            <a:ext cx="10661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Vulnerável: o termo do usuário vira parte do comando SQL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sql = "SELECT * FROM produto WHERE nome LIKE '%" + termo + "%'";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57530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FFF3E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66674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e alteração de dados, e em casos graves execução remota de código.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137660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4229100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na busca de produtos — corrigimos na Aula 2.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PANORAMA DE APPLICATION SECURITY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A04 — Insecure Design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falha de concepção: o controle de segurança nunca foi projetado. Não é um bug de implementação — é a ausência de uma defesa desde o desenho.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5000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 um fluxo de login sem qualquer limite de tentativas; preços que vêm do cliente; ausência de threat modeling.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862072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3E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953512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inteiras de ataque ficam viáveis porque nada foi projetado para impedi-las.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3E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749040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tentar "corrigir com um patch" algo que precisaria ter sido projetado com segurança desde o início.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45312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454456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rate limiting e de validação — tratamos no design (Aula 2) e na implementação (Aula 3).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PANORAMA DE APPLICATION SECURITY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A05 — Security Misconfiguration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insegura: defaults perigosos, endpoints abertos, permissões largas, mensagens de erro verbosas.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1018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59736"/>
            <a:ext cx="10661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management.endpoints.web.exposure.include: "*"   # expõe todo o Actuator, sem auth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server.error.include-stacktrace: always          # vaza stack trace ao usuário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FFF3E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154680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o reconhecimento do atacante e expõe segredos e detalhes internos.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2559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1703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e H2 console abertos, stack trace ao cliente — corrigimos nas Aulas 5 e 6.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PANORAMA DE APPLICATION SECURITY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A06 — Vulnerable and Outdated Components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bibliotecas ou versões com vulnerabilidades conhecidas. Você herda a falha da dependência, mesmo que seu código esteja correto.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414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versão antiga de uma biblioteca com CVE pública (ex.: commons-text 1.9, "Text4Shell").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FFF3E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36976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 de uma falha já documentada e, muitas vezes, com exploit pronto.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707892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99332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uma dependência com CVE didática — detectamos e atualizamos na Aula 6 com o Dependency-Check.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PANORAMA DE APPLICATION SECURITY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A07 — Identification and Authentication Failures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em provar e gerenciar identidade: força bruta sem limite, senhas fracas, "esqueci minha senha" que revela contas, ausência de MFA, tokens mal validados.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1018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59736"/>
            <a:ext cx="10661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Sem rate limiting: o atacante testa milhares de senhas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(usuario == null || !senhaConfere(senha, usuario.getHash())) return erro401();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FFF3E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154680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takeover — o atacante assume a conta da vítima.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2559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1703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sem rate limiting, user enumeration e JWT sem verificação — Aulas 3 e 4.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PANORAMA DE APPLICATION SECURITY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A08 — Software and Data Integrity Failures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Confiar em código ou dados sem verificar sua integridade: atualizações sem assinatura, deserialização insegura, pipelines de CI/CD comprometidos.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50008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ligada à cadeia de suprimentos (supply chain): um pacote adulterado entra no seu build.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628900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FFF3E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720340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de código malicioso a partir de uma fonte "confiável".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19125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28269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sem verificação de dependências/artefatos — endereçamos com SBOM e gates de CI na Aula 6.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PANORAMA DE APPLICATION SECURITY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A09 — Security Logging and Monitoring Failures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registrar eventos de segurança (ou registrá-los de forma insegura) faz incidentes passarem despercebidos e inviabiliza a perícia.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50008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 log injection: registrar entrada do usuário sem sanitizar permite forjar linhas de log.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628900"/>
            <a:ext cx="11064240" cy="448056"/>
          </a:xfrm>
          <a:prstGeom prst="roundRect">
            <a:avLst>
              <a:gd name="adj" fmla="val 12245"/>
            </a:avLst>
          </a:prstGeom>
          <a:solidFill>
            <a:srgbClr val="1018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738628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log.info("Importando de: " + urlDoUsuario);   // \n no input forja linhas falsas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6839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3E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25983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atacante age sem ser detectado e apaga rastros; a resposta a incidente fica cega.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96392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405536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injection na importação e ausência de logs de segurança — Aula 5.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PANORAMA DE APPLICATION SECURITY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A10 — Server-Side Request Forgery (SSRF)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servidor é induzido a fazer requisições a destinos não pretendidos, informados pelo atacante.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1018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59736"/>
            <a:ext cx="10661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Sem allowlist: busca QUALQUER URL, inclusive interna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URL(urlDoUsuario).openConnection().getInputStream();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3E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154680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serviços internos e a metadados de nuvem (ex.: credenciais em 169.254.169.254).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5876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95020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"importar catálogo por URL" busca qualquer endereço — tratamos com allowlist (design, Aula 2).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PANORAMA DE APPLICATION SECURITY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Falhas raramente andam sozinhas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incidente real quase nunca é uma única falha: o atacante encadeia várias, cada uma abrindo a porta da próxima.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5000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Misconfiguration entrega informação no reconhecimento.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2890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dá o primeiro apoio dentro do sistema.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0779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 permite pivotar para dados de outros.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8668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Failure transforma o que foi roubado em dano concreto.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5570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adiante o estudo de caso — "com o que já vimos, como você juntaria 3 dessas falhas no nosso Portal?".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2 · Anatomia de um ataque + estudo de caso</a:t>
            </a:r>
            <a:endParaRPr lang="en-US" sz="3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ANATOMIA DE UM ATAQUE + ESTUDO DE CASO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Cyber Kill Chain (simplificada)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o ataque em etapas ajuda a defender em cada uma delas — a ideia de "defense in depth".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5000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(reconhecimento): mapear o alvo com o mínimo de ruído.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2890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Weaponization/Exploitation: escolher a falha e construir o payload que a explora.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07792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Post-Exploitation: escalar privilégio, mover-se lateralmente, persistir e exfiltrar dados.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419856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quebrada por uma defesa encarece o ataque e aumenta a chance de detecção.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ANATOMIA DE UM ATAQUE + ESTUDO DE CASO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1 — Reconhecimento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atacante quer entender a aplicação antes de tocá-la: tecnologias, versões, endpoints, mensagens que vazam informação.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5000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headers de resposta, mensagens de erro e comentários em HTML/JS.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2890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Enumerar endpoints e procurar rotas não linkadas (forced browsing).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07792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endpoints de gestão expostos (ex.: /actuator/env) em busca de segredos e configuração.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41985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51129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exatamente o que vocês farão no Lab 1.2, preenchendo a Ficha de Reconhecimento.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21538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430682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 informação um erro 500 com stack trace entrega de graça ao atacante?"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ANATOMIA DE UM ATAQUE + ESTUDO DE CASO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2 — Weaponization e Exploitation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posse do mapa, o atacante escolhe a falha mais barata de explorar e monta o payload.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5000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busca vulnerável, montar um UNION SELECT para extrair usuários e hashes.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2890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 JWT mal validado, forjar um token com role: ADMIN.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07792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"arma" é sob medida para a falha encontrada — por isso o reconhecimento importa tanto.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18668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3E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27812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curso, exploramos em ambiente controlado e autorizado. Isso é ética profissional, não opcional.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ANATOMIA DE UM ATAQUE + ESTUDO DE CASO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3 — Pós-exploração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 um ponto de apoio raramente é o objetivo final; o valor está no que vem depois.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Escalada vertical (virar admin) e horizontal (acessar contas de outros clientes).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Movimento lateral para outros sistemas e persistência para manter o acesso.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Exfiltração dos dados e, quando possível, apagar os rastros.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935224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com A09: sem logging adequado, o atacante trabalha no escuro — e a vítima também.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ANATOMIA DE UM ATAQUE + ESTUDO DE CASO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 "Empresa X" (1/3) — o cenário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fictício e genérico, para praticar o raciocínio de encadeamento — sem atribuir a empresas reais.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5000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X tem um portal B2B parecido com o nosso. Por engano, um ambiente de staging foi exposto à internet, sem WAF na frente.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62072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Nesse ambiente, o Actuator estava aberto e a busca de produtos era vulnerável a SQL Injection.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40964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inicial: nenhuma dessas falhas, isoladamente, "parecia" crítica para o time.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ANATOMIA DE UM ATAQUE + ESTUDO DE CASO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 "Empresa X" (2/3) — a cadeia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como quatro fraquezas "médias" somam um incidente grave.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854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Reconhecimento: o atacante acessa /actuator/env e descobre o banco, bibliotecas e um segredo de JWT.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1061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Injection: um UNION SELECT na busca extrai e-mails e hashes de senha.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8950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Cryptographic Failure: os hashes eram MD5 sem salt — quebrados offline em minutos.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68396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Broken Access Control: com uma conta válida (ou um JWT forjado), o atacante navega por pedidos e dados de pagamento de todos os clientes.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80460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elo, sozinho, seria "só um achado". Juntos, viram vazamento de dados.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ANATOMIA DE UM ATAQUE + ESTUDO DE CASO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 "Empresa X" (3/3) — impacto e lição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impacto raramente fica na técnica: ele chega ao negócio.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854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vazamento de PII e de dados de pagamento; obrigação de notificação; multa e dano de reputação.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1061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camada quebrada foi uma oportunidade de defesa em profundidade que não existiu.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8895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09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qualquer um dos elos tivesse uma defesa (Actuator fechado, query parametrizada, bcrypt, checagem de posse), a cadeia teria sido interrompida.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76472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"Qual seria o elo mais barato de defender primeiro, e por quê?"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ANATOMIA DE UM ATAQUE + ESTUDO DE CASO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ciclo: Secure SDLC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não é uma fase — é uma preocupação em todas as fases do desenvolvimento.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Requisitos: escrever requisitos de segurança e abuse cases (hoje, Bloco 3).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threat modeling e princípios seguros (Aula 2).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Implementação: validação, autenticação/autorização, criptografia (Aulas 2 a 4).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3522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SAST, DAST e revisão de código (Aula 5).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14116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 Manutenção: hardening, dependências e monitoramento (Aula 6).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93008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é o mapa do curso inteiro: cada aula ataca uma fase do SDLC.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3 · Levantamento de Requisitos de Segurança</a:t>
            </a:r>
            <a:endParaRPr lang="en-US" sz="3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LEVANTAMENTO DE REQUISITOS DE SEGURANÇA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escrever requisitos de segurança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é requisito não é projetado, não é implementado com cuidado, não é testado e não é cobrado. A segurança "implícita" vira dívida — e incidente.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5000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"o cliente só pode ver os próprios pedidos" nunca virou requisito escrito, o IDOR nasce como comportamento "normal" do sistema.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62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 segurança guiam o design, orientam a implementação e viram critérios de aceite (testes).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37413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46557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 1.3 vocês transformam funcionalidades em requisitos de segurança verificáveis.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LEVANTAMENTO DE REQUISITOS DE SEGURANÇA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 funcional vs. requisito de segurança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funcional diz o QUE o sistema faz. O de segurança diz sob QUAIS garantias e restrições — e muitas vezes o que ele NÃO deve permitir.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5000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Funcional: "o cliente cria um pedido e anexa um comprovante."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2890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Segurança: "apenas o dono do pedido anexa a ele"; "a senha nunca é armazenada de forma reversível"; "o sistema não revela se um e-mail já existe".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4096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requisitos de segurança são "negativos" (o sistema NÃO deve…), e isso é normal e desejável.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65302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74446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pegue uma funcionalidade citada pela turma e peça, em duplas, um requisito funcional e um de segurança para ela.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LEVANTAMENTO DE REQUISITOS DE SEGURANÇA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Abuse cases e misuse cases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caso de uso visto pela ótica do atacante: o que ele quer alcançar usando (ou abusando) da funcionalidade.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50008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simples: "As an attacker, I want &lt;ação&gt; so that &lt;ganho&gt;."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628900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720340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 an attacker, I want to change the order id in the URL so that I can read other clients' orders."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424428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abuse case nasce uma contramedida — ou seja, um requisito de segurança.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94760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upload de comprovante, quantos abuse cases a turma consegue listar em 3 minutos?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LEVANTAMENTO DE REQUISITOS DE SEGURANÇA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User Stories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forma prática de registrar o requisito defensivo, com critério de aceite que vira teste.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50008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história do atacante deriva-se a história defensiva do sistema: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2890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Atacante: "quero trocar o id do pedido para ler o de outro cliente."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0779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Sistema: "devo verificar a posse do pedido antes de retorná-lo."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1866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aceite: "Dado o id de um pedido de outro cliente, quando eu solicitá-lo, então recebo 403."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6987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901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não consegue escrever o teste de aceite, o requisito ainda está vago demais.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LEVANTAMENTO DE REQUISITOS DE SEGURANÇA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ASVS — o padrão de verificação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Application Security Verification Standard é um catálogo de requisitos de segurança verificáveis, organizado por categorias e níveis.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5000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1: básico, para qualquer aplicação.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2890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2: para aplicações que lidam com dados sensíveis — é o nosso caso (dados de pagamento).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4096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úteis hoje: V2 (Autenticação), V3 (Sessão), V4 (Controle de acesso), V5 (Validação), V12 (Arquivos).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65302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usar: não é para decorar; é para consultar e não esquecer categorias inteiras de requisito.</a:t>
            </a:r>
            <a:endParaRPr lang="en-US" sz="14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LEVANTAMENTO DE REQUISITOS DE SEGURANÇA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Derivando requisitos — Cadastro de cliente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Funcionalidade: cadastrar razão social, CNPJ, e-mail e senha.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854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 normalizar todas as entradas por allowlist (formato de e-mail, CNPJ válido, tamanho máximo). [A03/A04 · ASVS V5]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1061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Armazenar a senha com hashing forte (bcrypt/Argon2), nunca reversível. [A02 · ASVS V2.4]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8950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revelar se um e-mail já existe (resposta indistinguível). [A07 · ASVS V2.2]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68396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contra automação e força bruta (rate limiting). [A07 · ASVS V2.1]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4728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aceite (ex.): "Dado um CNPJ com dígito verificador inválido, quando submeter, então o cadastro é rejeitado."</a:t>
            </a:r>
            <a:endParaRPr lang="en-US" sz="14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LEVANTAMENTO DE REQUISITOS DE SEGURANÇA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Derivando requisitos — Upload de comprovante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Funcionalidade: anexar um comprovante a um pedido.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854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 apenas tipos permitidos, validando o conteúdo (magic number), não só a extensão. [A04 · ASVS V12.1]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10612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o nome do arquivo no servidor; a entrada do usuário nunca compõe o caminho. [A03 · ASVS V12.3]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22676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 limite de tamanho e de taxa (anti-DoS). [A04]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0156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o pedido pertence ao usuário antes de aceitar o upload. [A01]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80460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aceite (ex.): "Dado um executável renomeado para .png, quando enviar, então é rejeitado pelo magic number."</a:t>
            </a:r>
            <a:endParaRPr lang="en-US" sz="14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LEVANTAMENTO DE REQUISITOS DE SEGURANÇA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Derivando requisitos — Checkout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Funcionalidade: fechar o pedido e registrar o pagamento.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preços vêm do servidor, nunca do cliente (evita adulteração de valor). [A04]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pagamento cifrados em repouso (AES-GCM) e TLS em trânsito. [A02 · ASVS V6/V9]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auditoria da transação — sem gravar dados sensíveis no log. [A09 · ASVS V7]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93522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3E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02666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confiar no preço enviado pelo formulário do cliente. Nunca confie em dado que veio do navegador.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LEVANTAMENTO DE REQUISITOS DE SEGURANÇA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Priorização por risco (e um aperitivo de STRIDE)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dá para fazer tudo ao mesmo tempo: priorize os requisitos que mitigam os maiores riscos primeiro.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5000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≈ Probabilidade × Impacto. Um IDOR fácil de explorar e que expõe dados de pagamento é risco alto — vem primeiro.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62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(aprofundado na Aula 2) é uma taxonomia para enumerar ameaças: Spoofing, Tampering, Repudiation, Information Disclosure, Denial of Service, Elevation of Privilege.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37413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46557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classifique 3 requisitos derivados hoje como risco Alto/Médio/Baixo e justifique.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LEVANTAMENTO DE REQUISITOS DE SEGURANÇA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escrever bons requisitos de segurança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bom requisito de segurança é verificável, específico, rastreável e, quando preciso, negativo.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5000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Verificável: existe um teste de aceite que prova (passa/falha).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2890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Específico: "senha via bcrypt com work factor ≥ 10", não "senha segura".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0779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Rastreável: ligado a uma funcionalidade e a uma ameaça (abuse case).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8668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"deve", não "deveria" — requisito não é sugestão.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5570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o requisito junto com o seu critério de aceite; se o teste não sai, o requisito ainda está vago.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LEVANTAMENTO DE REQUISITOS DE SEGURANÇA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 da Aula 1 (visão geral)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é a sua vez: subir a aplicação, reconhecê-la como um atacante e transformar isso em requisitos.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5000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1.1 — Subir o Portal de Pedidos e navegar pelas telas.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2890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1.2 — Reconhecimento manual guiado, preenchendo a Ficha de Reconhecimento.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0779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1.3 — Escrever abuse cases e derivar requisitos de segurança para 2 funcionalidades.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186684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guia detalhado está no deck de laboratório (lab-aula-1) e no arquivo lab.md.</a:t>
            </a:r>
            <a:endParaRPr lang="en-US" sz="14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LEVANTAMENTO DE REQUISITOS DE SEGURANÇA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Fechamento e ponte para a Aula 2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entendemos o campo de jogo (ameaças e Top 10), como o atacante pensa, e como transformar isso em requisitos verificáveis.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5000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reconheceu a aplicação e produziu requisitos de segurança reais.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2890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2: por que essas falhas nascem (design seguro e threat modeling com STRIDE) e como a validação de entrada as elimina.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4096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Tarefa: revise o OWASP Top 10 e leia uma seção do ASVS nível 1/2. Mantenha o ambiente pronto — a Aula 2 parte de aula-2-baseline.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2026-09-15T04:45:32Z</dcterms:created>
  <dcterms:modified xsi:type="dcterms:W3CDTF">2026-09-15T04:45:32Z</dcterms:modified>
</cp:coreProperties>
</file>