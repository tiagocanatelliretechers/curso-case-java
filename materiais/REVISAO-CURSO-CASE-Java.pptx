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51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completa do curso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aulas em uma visão — conceitos, vulnerabilidades e correções no Portal de Pedidos B2B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2281428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22814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AppSec &amp; Requisitos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6100" y="4846320"/>
            <a:ext cx="1801368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100" y="4846320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Design &amp;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2060" y="4846320"/>
            <a:ext cx="1513332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2060" y="4846320"/>
            <a:ext cx="15133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Authn/Authz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9984" y="4846320"/>
            <a:ext cx="1897380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4846320"/>
            <a:ext cx="1897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Cripto &amp; Sessão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91956" y="4846320"/>
            <a:ext cx="2089404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91956" y="4846320"/>
            <a:ext cx="2089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Erros + SAST/DAST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045952" y="4846320"/>
            <a:ext cx="1705356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45952" y="4846320"/>
            <a:ext cx="1705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Deploy Seguro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para compartilhar e discutir com o time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ESTA REVISÃO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este material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visão de ponta a ponta das 6 aulas: o fio condutor, os conceitos-chave e o que foi corrigido na aplicação.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aula: os conceitos (o “porquê”) e um quadro antes → depois (a prova no código).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Rastreabilidade: módulos CASE e OWASP Top 10 (2021) mapeados por aula.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Ferramentas, ciclo DevSecOps (shift-left) e os repositórios para praticar.</a:t>
            </a:r>
            <a:endParaRPr lang="en-US" sz="1600" dirty="0"/>
          </a:p>
          <a:p>
            <a:pPr marL="228600" indent="-228600">
              <a:lnSpc>
                <a:spcPct val="102000"/>
              </a:lnSpc>
              <a:spcBef>
                <a:spcPts val="1600"/>
              </a:spcBef>
              <a:buSzPct val="100000"/>
              <a:buChar char="▪"/>
            </a:pPr>
            <a:r>
              <a:rPr lang="en-US" sz="16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Pensado para discussão em equipe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há uma lista de pontos de debate e um checklist de Secure SDLC para levar ao trabalho.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do curso: a mesma app evolui de vulnerável (baseline) para corrigida (hardened), aula a aula.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arco das 6 aulas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383280"/>
                <a:gridCol w="7068312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AppSec, Ameaças &amp; Requisitos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pensam os atacantes; OWASP Top 10; levantar requisitos de segurança.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Seguro &amp; Input Validation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by Design, threat modeling (STRIDE); corrigir SQLi e validação.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Autenticação &amp; Autorização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IDOR, RBAC, hashing de senha (BCrypt), rate limiting.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Criptografia &amp; Sessão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Base64→AES-GCM, JWT com assinatura, cookie seguro, CSRF.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Handling + SAST/DAST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sem vazamento; análise estática (SonarLint) e dinâmica (ZAP).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Seguro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Actuator, SCA (Text4Shell), Dockerfile hardened, gates de CI.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 do curso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LABORATÓRIO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aplicação-alvo: Portal de Pedidos B2B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Spring Boot 3 / Java 17, propositalmente vulnerável — um e-commerce B2B (clientes, pedidos, pagamento, admin).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plantadas cobrindo o OWASP Top 10: SQLi, IDOR, senha em MD5, “cripto” Base64, JWT sem verificação, CSRF off, sessão frágil, Actuator aberto, dependência com CVE, Dockerfile inseguro.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sem Docker: perfil H2 em memória — ./scripts/start.sh --no-docker (ou -NoDocker).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de teste: admin@portal.com / admin123 · joao@acme.com / senha123 · maria@globex.com / senha123.</a:t>
            </a:r>
            <a:endParaRPr lang="en-US" sz="1600" dirty="0"/>
          </a:p>
          <a:p>
            <a:pPr marL="228600" indent="-228600">
              <a:lnSpc>
                <a:spcPct val="102000"/>
              </a:lnSpc>
              <a:spcBef>
                <a:spcPts val="1400"/>
              </a:spcBef>
              <a:buSzPct val="100000"/>
              <a:buChar char="▪"/>
            </a:pPr>
            <a:r>
              <a:rPr lang="en-US" sz="16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aula, a turma repara uma classe de falha e vê o comportamento mudar — da brecha à defesa.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Aplicação-alvo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ESTUDO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hardened: a app que evolui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A1A1E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aula-N-baseline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vulnerável — ponto de partida da aula.</a:t>
            </a:r>
            <a:endParaRPr lang="en-US" sz="13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Contém a falha que vamos explorar e provar.</a:t>
            </a:r>
            <a:endParaRPr lang="en-US" sz="13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Invariante: aula-N-baseline = aula-(N-1)-hardened (o corrigido acumula).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6241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aula-N-hardened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5146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de referência — a falha corrigida.</a:t>
            </a:r>
            <a:endParaRPr lang="en-US" sz="13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trecho exato que mudou (o “depois”).</a:t>
            </a:r>
            <a:endParaRPr lang="en-US" sz="13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Comparar: git checkout aula-N-hardened.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demo segue o mesmo ritmo: falha no baseline → troca para hardened → prova que bloqueou → mostra o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CURRICULAR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módulos CASE ×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40080"/>
                <a:gridCol w="4233672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AppSec, Ameaças &amp; Ataques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Panorama Top 10, anatomia de ataque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Levantamento de Requisitos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Abuse cases, ASVS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Design &amp; Arquitetura Seguros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STRIDE, mitigações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A04 · A10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Input Validation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SQLi, Bean Validation, upload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A03 · A04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Authn &amp; Authz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IDOR, BCrypt, rate limit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 · A07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Criptografia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AES-GCM, JWT assinado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Gestão de Sessão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Cookie, regeneração, CSRF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Error Handling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Handler global, log seguro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A05 · A09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SAST &amp; DAST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SonarQube/Semgrep + ZAP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Deploy &amp; Manutenção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Actuator, SCA, Docker, 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A05 · A06 · A08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cada risco é tratado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6245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 Access 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3 (IDOR, /admin) · Aula 2 (design)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Cryptographic Failures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3 (senha) · Aula 4 (AES, JWT)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2 (SQLi, upload)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Insecure Design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Aulas 1–2 (requisitos, threat modeling)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Misconfiguration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Aulas 5–6 (erros, Actuator, Docker)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Vulnerable Components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6 (Dependency-Check / Trivy)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Identification &amp; Auth Failures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Aulas 3–4 (rate limit, JWT)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Software/Data Integrity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6 (SCA, SBOM, CI/CD)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Logging &amp; Monitoring Failures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5 (log seguro, log injection)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6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2 (allowlist) · discutido na Aula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× Aula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AppSec, Ameaças &amp; Requisitos de Segurança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· panorama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AppSec ≠ segurança de rede: firewall/WAF não enxergam lógica de negócio — um IDOR é um HTTP perfeitamente “válido”.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Tríade CIA + Autenticação, Autorização, Accountability e Não-repúdio — cada falha viola uma ou mais.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(2021): conscientização e priorização (não é checklist — para isso, ASVS).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 ataque: reconhecimento → exploração → persistência; pensar como atacante.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SDLC &amp; shift-left: achar cedo custa menos; segurança é propriedade do ciclo, não um produto no fim.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requisitos de segurança: abuse cases, security user stories e ASVS como baseline.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 do curso: tudo que foi reconhecido aqui é aprofundado e corrigido nas aulas seguintes.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— do reconhecimento ao plano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tratada como “caixa-preta” — sem visão de risco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ameaças sobre o Portal (Top 10)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só funcionais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cases + security user stories + ASVS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“Segurança é problema da infra”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também do desenvolvedor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Falhas desconhecidas no código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senha extraído via SQLi (prova do risco)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Seguro &amp; Validação de Entrada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· A04 · A10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Design: least privilege, defense in depth, fail securely, complete mediation, Zero Trust.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com STRIDE sobre o DFD do Portal — antecipar ameaças antes de codar.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validar: cliente = UX (nunca confiar); borda = sintaxe (Bean Validation nos DTOs); domínio = regra de negócio.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Injection: a causa é concatenar entrada na query; a cura é consulta parametrizada / PreparedStatement.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seguro: validar tipo/tamanho, nome, destino fora da raiz web; allowlist no lugar de blocklist.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e “preço vem do servidor”: o cliente propõe, o servidor decide.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compra tempo; não corrige a vulnerabilidade — a decisão mora no código.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design e input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montada por concatenação (SQLi)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parametrizada (PreparedStatement/JPA)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aceita sem validação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Validation + allowlist na borda e no domínio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confia no nome/tipo do cliente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tipo/tamanho/destino seguro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Preço/《regra》 vindos do cliente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é a fonte da verdade (fail secure)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&amp; Autorização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· A07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(provar quem é) × Authz (o que pode fazer) — a confusão nº 1.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Senha: nunca texto/MD5/SHA-1 puro. Usar BCrypt/Argon2/PBKDF2 — lentos, com salt e work factor.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NIST 800-63B: comprimento &gt; complexidade; checar listas vazadas; rate limiting em vez de rotação forçada.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(Broken Access Control): checar a posse do objeto no servidor — não confiar no id da URL.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RBAC/ABAC e Spring Security: proteger /admin por papel; negar por padrão.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Anti-enumeration: respostas genéricas em login e “esqueci a senha”.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por objeto precisa existir em alguma camada — o design decide onde ela mora.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authn &amp; authz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/pedidos/2 devolve pedido de outro (IDOR)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Checagem de posse no servidor → 403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0672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em MD5 sem salt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090672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090672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com salt e work factor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03904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sem limite de tentativas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3803904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3803904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(bucket4j)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17136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517136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 acessível a qualquer logado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517136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517136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por papel (RBAC) no Spring 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230368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revela se e-mail existe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5230368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5230368"/>
            <a:ext cx="5074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genérica (anti-enumeration)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Aplicada &amp; Gestão de Sessão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· A07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Primitiva certa: cifra (recuperar dado) × hash (só verificar) × HMAC (integridade + autenticidade).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NÃO é criptografia — é codificação reversível sem chave. Dado de pagamento exige cifra real.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(AEAD): confidencialidade + integridade; IV/nonce único por operação (SecureRandom, nunca Random).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 fora do código (env/KMS/Vault); separe a chave do ciphertext.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JWT: verificar sempre assinatura, issuer e audience — rejeitar alg:none. parseClaimsJws (com “s”).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Sessão: cookie HttpOnly/Secure/SameSite; regenerar o id no login (anti-fixation); CSRF token na web.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Pergunta-chave da cripto: “preciso ler de volta?” Sim → cifra; Não → hash.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cripto &amp; sessão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“protegido” só com Base64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AES-256-GCM, chave no ambiente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aceito sem verificar assinatura (alg:none)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+ issuer/audience validados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sem flags; sessão não regenera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HttpOnly/Secure/SameSite + regeneração no login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desligado (ação forjada passa)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exigido na web (API com JWT isenta)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+ SAST &amp; DAST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· A09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securely: em erro, negar por padrão e não vazar detalhes. Cliente vê genérico; servidor loga o detalhe.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global com traceId de correlação; nada de stack trace na resposta.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seguro: sem segredos; sanitizar entrada (anti log injection com \r\n).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(análise estática): lê o código, acha padrões perigosos — mas erra; o trabalho é triar VP × FP.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(análise dinâmica): vê a app rodando, de fora; acha cabeçalhos ausentes, exposições — sem olhar o código.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open-source: SonarQube/Semgrep (SAST) + OWASP ZAP (DAST). Sem Docker: SonarLint na IDE + ZAP cross-platform.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sem interpretação é ruído — o valor do analista é triar e validar o achado.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erros &amp; testes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/api/pedidos/abc devolve stack trace completa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{"erro":"… Ref: &lt;uuid&gt;"} + detalhe no log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com \n polui o log (log injection)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sanitizada antes de logar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manual não escala / sem SAST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SonarLint na IDE: triagem de findings (VP/FP)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de segurança ausentes (CSP, X-Frame, HSTS)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evidencia e orienta correção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CONCEITOS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Seguro — ponta a ponta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50292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· A06 · A08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Superfície mínima em produção: fechar Actuator (/actuator/env vaza segredos) e desabilitar o H2 console.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(Software Composition Analysis): a maior parte do código não é seu. commons-text 1.9 → CVE-2022-42889 (Text4Shell).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de container segura: multi-stage, usuário não-root, sem segredo em layer, base mínima (…-jre).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 segurança no CI (shift-left): o crítico não passa do merge — proteção automática, não depende de lembrar.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Ferramentas: OWASP Dependency-Check (NVD key) e Trivy (deps/Dockerfile).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 do ciclo: código seguro (2–5) → operação → dependências → empacotamento → pipeline.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sala: Labs 6.1 (Actuator) e 6.2 (SCA) hands-on; 6.3 e 6.4 como Extra na nuvem.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ANTES →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— deploy seguro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2A1A1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(vulnerável)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6241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HARDENED (corrigido)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/actuator/env e H2 console abertos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377440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37744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mínima (health,info) + H2 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commons-text 1.9 (Text4Shell, CRITICAL)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218688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21868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para 1.11.0 (sem CVE)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root, segredo em ENV, “gordo”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059936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4059936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Multi-stage, USER appuser, base -jre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sem gates (crítico passa)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901184"/>
            <a:ext cx="5394960" cy="731520"/>
          </a:xfrm>
          <a:prstGeom prst="roundRect">
            <a:avLst>
              <a:gd name="adj" fmla="val 6250"/>
            </a:avLst>
          </a:prstGeom>
          <a:solidFill>
            <a:srgbClr val="1B2330"/>
          </a:solidFill>
          <a:ln w="635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49011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reprova em HIGH/CRITICAL (exit 1)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NOVIDADE · AULA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6.3 e 6.4 na nuvem (sem instalar nada)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roda o Trivy nos servidores do GitHub a cada push/PR — sem Trivy local, sem Docker, sem NVD key na máquina.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validado: baseline (main) fica 🔴 vermelho (Text4Shell CRITICAL + Dockerfile root HIGH); hardened fica 🟢 verde.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(nativo): abre PR de atualização e, com alertas ligados, lista a CVE na aba Security — sem configurar scanner.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(opcional): Fork → habilitar Actions → ver rodar no próprio. Quem não tem conta, só assiste.</a:t>
            </a:r>
            <a:endParaRPr lang="en-US" sz="1600" dirty="0"/>
          </a:p>
          <a:p>
            <a:pPr marL="228600" indent="-228600">
              <a:lnSpc>
                <a:spcPct val="102000"/>
              </a:lnSpc>
              <a:spcBef>
                <a:spcPts val="1400"/>
              </a:spcBef>
              <a:buSzPct val="100000"/>
              <a:buChar char="▪"/>
            </a:pPr>
            <a:r>
              <a:rPr lang="en-US" sz="16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de vez as dores do laboratório local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Antivírus bloqueando ZAP/Trivy, VM sem Docker, NVD key lenta — tudo contornado pela nuvem.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na nuvem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DE FERRAMENTAS DO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usamos e para quê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188720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39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Authn/Authz, CSRF, headers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874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874520"/>
            <a:ext cx="82296" cy="1188720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039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/ JCA-JCE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senha, AES-GCM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874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874520"/>
            <a:ext cx="82296" cy="118872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744" y="2039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SonarLint / SonarQube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38744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(análise estática)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46120"/>
            <a:ext cx="82296" cy="118872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ZAP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813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(análise dinâmica)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79392" y="32461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3246120"/>
            <a:ext cx="82296" cy="1188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Dependency-Check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3813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via Maven (NVD)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0144" y="32461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3246120"/>
            <a:ext cx="82296" cy="1188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744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38744" y="3813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Deps + Dockerfile/imagem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617720"/>
            <a:ext cx="82296" cy="1188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82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84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nativo + PRs de update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79392" y="46177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4617720"/>
            <a:ext cx="82296" cy="1188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07992" y="4782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7992" y="5184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 gates (shift-left)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10144" y="46177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10144" y="4617720"/>
            <a:ext cx="82296" cy="1188720"/>
          </a:xfrm>
          <a:prstGeom prst="rect">
            <a:avLst/>
          </a:prstGeom>
          <a:solidFill>
            <a:srgbClr val="9AA7B8"/>
          </a:solidFill>
          <a:ln/>
        </p:spPr>
      </p:sp>
      <p:sp>
        <p:nvSpPr>
          <p:cNvPr id="39" name="Text 37"/>
          <p:cNvSpPr/>
          <p:nvPr/>
        </p:nvSpPr>
        <p:spPr>
          <a:xfrm>
            <a:off x="8238744" y="4782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Postman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38744" y="5184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sem Docker · cenários HTTP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FIO CONDUTOR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&amp; shift-left — o ciclo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cases, ASVS (A1)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04288" y="3063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STRIDE, Secure by Design (A2)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33088" y="3063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input, authz, cripto, sessão (A2–A4)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1888" y="3063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+ DAST (A5)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90688" y="3063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Build/Deps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SCA, imagem (A6)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19488" y="3063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0" y="25603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697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92640" y="30632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38360" y="34015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no CI (A6)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à esquerda a falha é pega, mais barata a correção. Cada aula adicionou uma defesa ao ciclo.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PRATICAR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 &amp; branches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curso-case-java — laboratório completo (app + scripts + materiais).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curso-case-java-aula-3-autorizacao · -aula-4-cripto-sessao · -aula-5-sast-dast · -aula-6-deploy-seguro — um repo por tema, autocontido.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cada repo: main = baseline (vulnerável) · hardened = solução de referência.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antes/depois: git checkout aula-N-hardened (ou a branch hardened).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na nuvem: o repo já traz .github/workflows (Trivy) e dependabot.yml — é só dar fork e habilitar Actions.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local: ./scripts/start.sh --no-docker  (Windows: .\scripts\start.ps1 -NoDocker) → http://localhost:8080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AO TRABALHO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Secure SDLC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de segurança + abuse cases no backlog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(STRIDE) no design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na borda e no domínio (allowlist)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sempre parametrizadas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com BCrypt/Argon2; segredos fora do código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por objeto (anti-IDOR)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45352" y="18745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forte (AES-GCM) para dado sensível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JWT: validar assinatura/issuer/audience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HttpOnly/Secure/SameSite + CSRF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genérico ao cliente; log seguro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+ DAST no fluxo; triar VP/FP</a:t>
            </a:r>
            <a:endParaRPr lang="en-US" sz="1300" dirty="0"/>
          </a:p>
          <a:p>
            <a:pPr marL="254000" indent="-254000">
              <a:spcBef>
                <a:spcPts val="800"/>
              </a:spcBef>
              <a:buSzPct val="100000"/>
              <a:buChar char="✓"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+ gate de CI: crítico não passa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 COM O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debate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destas falhas existem hoje nos nossos sistemas? Como saberíamos?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Temos SAST/DAST/SCA no pipeline? Em qual estágio e com qual gate?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moram nossos segredos — código, env, Vault? Como rotacionamos?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por objeto: conseguimos provar que um usuário não acessa dados de outro?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“tria” os achados das ferramentas hoje? Vira backlog ou vira ruído?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daria para adotar já na próxima sprint (quick wins) vs. o que é projeto?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buSzPct val="100000"/>
              <a:buChar char="▪"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CTF: desafio prático reunindo as vulnerabilidades do curso (anexos/ctf.md).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 final: questões de certificação (materiais/simulado-final.md).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Praticar o Extra da Aula 6 na nuvem (fork → Actions → Dependabot).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2–3 quick wins do checklist e levar para a próxima sprint.</a:t>
            </a:r>
            <a:endParaRPr lang="en-US" sz="1600" dirty="0"/>
          </a:p>
          <a:p>
            <a:pPr lvl="1" marL="457200" indent="-228600">
              <a:lnSpc>
                <a:spcPct val="102000"/>
              </a:lnSpc>
              <a:spcBef>
                <a:spcPts val="400"/>
              </a:spcBef>
              <a:buSzPct val="100000"/>
              <a:buChar char="–"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Revisitar o antes → depois de cada aula direto nas branches hardened.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Java — Revisão do curso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é propriedade do ciclo 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um produto acoplado no fim.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ameaça ao requisito, do código ao pipeline: a mesma app, seis aulas, ponta a ponta.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CASE Java — Certified Application Security Engineer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— perguntas e discussão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— Curso CASE Java (6 aulas)</dc:title>
  <dc:subject>PptxGenJS Presentation</dc:subject>
  <dc:creator>Curso CASE Java</dc:creator>
  <cp:lastModifiedBy>Curso CASE Java</cp:lastModifiedBy>
  <cp:revision>1</cp:revision>
  <dcterms:created xsi:type="dcterms:W3CDTF">2026-10-13T21:44:34Z</dcterms:created>
  <dcterms:modified xsi:type="dcterms:W3CDTF">2026-10-13T21:44:34Z</dcterms:modified>
</cp:coreProperties>
</file>