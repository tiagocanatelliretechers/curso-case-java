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claro: não precisa de Docker. SonarLint e ZAP Desktop cobrem tudo no aluno.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blocos: erro (código), SAST (código estático), DAST (runtime).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 vaza; hardened generaliza. Mostre o console com o detalhe + traceId.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SonarLint ao vivo. O ponto é a triagem VP/FP, não só rodar.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ZAP Desktop, sem Docker. O ponto é validar manualmente 1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conceitual dos dois.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Circule; ajude na triagem e na validação — é onde surgem dúvidas.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554480"/>
            <a:ext cx="4937760" cy="4937760"/>
          </a:xfrm>
          <a:prstGeom prst="ellipse">
            <a:avLst/>
          </a:prstGeom>
          <a:ln w="19050">
            <a:solidFill>
              <a:srgbClr val="2E5E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731520"/>
            <a:ext cx="3291840" cy="3291840"/>
          </a:xfrm>
          <a:prstGeom prst="ellipse">
            <a:avLst/>
          </a:prstGeom>
          <a:ln w="19050">
            <a:solidFill>
              <a:srgbClr val="5AA1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01400" y="868680"/>
            <a:ext cx="457200" cy="457200"/>
          </a:xfrm>
          <a:prstGeom prst="ellipse">
            <a:avLst/>
          </a:prstGeom>
          <a:solidFill>
            <a:srgbClr val="7FD3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4630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LABORATÓRIO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0116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</a:t>
            </a:r>
            <a:pPr indent="0" marL="0">
              <a:buNone/>
            </a:pPr>
            <a:r>
              <a:rPr lang="en-US" sz="4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Laboratório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880360"/>
            <a:ext cx="1105783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· SAST · DAST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160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Parar de vazar erros e usar ferramentas para achar (e interpretar) falhas.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928" y="5029200"/>
            <a:ext cx="1199693" cy="274320"/>
          </a:xfrm>
          <a:prstGeom prst="roundRect">
            <a:avLst>
              <a:gd name="adj" fmla="val 50000"/>
            </a:avLst>
          </a:prstGeom>
          <a:solidFill>
            <a:srgbClr val="5AA1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5029200"/>
            <a:ext cx="11996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10128" y="5029200"/>
            <a:ext cx="1342339" cy="274320"/>
          </a:xfrm>
          <a:prstGeom prst="roundRect">
            <a:avLst>
              <a:gd name="adj" fmla="val 50000"/>
            </a:avLst>
          </a:prstGeom>
          <a:solidFill>
            <a:srgbClr val="7FD3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10128" y="5029200"/>
            <a:ext cx="13423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· SonarLint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36208" y="502920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8B3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36208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· ZAP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532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DOCKER — SonarLint + ZAP Desktop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guiada, depois você põe a mão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5300320" cy="2377440"/>
          </a:xfrm>
          <a:prstGeom prst="roundRect">
            <a:avLst>
              <a:gd name="adj" fmla="val 3077"/>
            </a:avLst>
          </a:prstGeom>
          <a:solidFill>
            <a:srgbClr val="1B2330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2359152"/>
            <a:ext cx="1841602" cy="274320"/>
          </a:xfrm>
          <a:prstGeom prst="roundRect">
            <a:avLst>
              <a:gd name="adj" fmla="val 50000"/>
            </a:avLst>
          </a:prstGeom>
          <a:solidFill>
            <a:srgbClr val="5AA1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9536" y="2359152"/>
            <a:ext cx="1841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INSTRUTOR DEMONSTRA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2816352"/>
            <a:ext cx="475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5.1: falha no baseline → hardened → prova → código</a:t>
            </a:r>
            <a:endParaRPr lang="en-US" sz="13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SAST: rodar e TRIAR um finding (VP × FP)</a:t>
            </a:r>
            <a:endParaRPr lang="en-US" sz="13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DAST: rodar e VALIDAR um finding manualmente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24448" y="2103120"/>
            <a:ext cx="5300320" cy="2377440"/>
          </a:xfrm>
          <a:prstGeom prst="roundRect">
            <a:avLst>
              <a:gd name="adj" fmla="val 3077"/>
            </a:avLst>
          </a:prstGeom>
          <a:solidFill>
            <a:srgbClr val="1B2330"/>
          </a:solidFill>
          <a:ln w="12700">
            <a:solidFill>
              <a:srgbClr val="E8B3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17056" y="2359152"/>
            <a:ext cx="1841602" cy="274320"/>
          </a:xfrm>
          <a:prstGeom prst="roundRect">
            <a:avLst>
              <a:gd name="adj" fmla="val 50000"/>
            </a:avLst>
          </a:prstGeom>
          <a:solidFill>
            <a:srgbClr val="E8B3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17056" y="2359152"/>
            <a:ext cx="1841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VOCÊ REFAZ (lab.md)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617056" y="2816352"/>
            <a:ext cx="475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passo diz o que observar e o que significa</a:t>
            </a:r>
            <a:endParaRPr lang="en-US" sz="13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sem interpretação é ruído</a:t>
            </a:r>
            <a:endParaRPr lang="en-US" sz="13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é entender o finding, não só rodar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4709160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222C3B"/>
          </a:solidFill>
          <a:ln w="12700">
            <a:solidFill>
              <a:srgbClr val="7FD3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" y="4864608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Docker nas VMs: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= SonarLint (plugin da IDE, sem servidor) · DAST = OWASP ZAP Desktop (app nativo). Containers são opcionais.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TEORIA VIRA PRÁTICA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Mapa: conceito → laboratório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48840"/>
            <a:ext cx="11057839" cy="1005840"/>
          </a:xfrm>
          <a:prstGeom prst="roundRect">
            <a:avLst>
              <a:gd name="adj" fmla="val 7273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2578608"/>
            <a:ext cx="201168" cy="201168"/>
          </a:xfrm>
          <a:prstGeom prst="ellipse">
            <a:avLst/>
          </a:prstGeom>
          <a:solidFill>
            <a:srgbClr val="5AA1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80160" y="2331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erro seguro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876288" y="23317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 vaza; log injection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253167" y="2514600"/>
            <a:ext cx="700430" cy="274320"/>
          </a:xfrm>
          <a:prstGeom prst="roundRect">
            <a:avLst>
              <a:gd name="adj" fmla="val 50000"/>
            </a:avLst>
          </a:prstGeom>
          <a:solidFill>
            <a:srgbClr val="5AA17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253167" y="2514600"/>
            <a:ext cx="700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5.1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3300984"/>
            <a:ext cx="11057839" cy="1005840"/>
          </a:xfrm>
          <a:prstGeom prst="roundRect">
            <a:avLst>
              <a:gd name="adj" fmla="val 7273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" y="3730752"/>
            <a:ext cx="201168" cy="201168"/>
          </a:xfrm>
          <a:prstGeom prst="ellipse">
            <a:avLst/>
          </a:prstGeom>
          <a:solidFill>
            <a:srgbClr val="7FD3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80160" y="348386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— análise estática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76288" y="348386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visíveis no código-fonte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253167" y="3666744"/>
            <a:ext cx="700430" cy="274320"/>
          </a:xfrm>
          <a:prstGeom prst="roundRect">
            <a:avLst>
              <a:gd name="adj" fmla="val 50000"/>
            </a:avLst>
          </a:prstGeom>
          <a:solidFill>
            <a:srgbClr val="7FD3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253167" y="3666744"/>
            <a:ext cx="700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5.2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4453128"/>
            <a:ext cx="11057839" cy="1005840"/>
          </a:xfrm>
          <a:prstGeom prst="roundRect">
            <a:avLst>
              <a:gd name="adj" fmla="val 7273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" y="4882896"/>
            <a:ext cx="201168" cy="201168"/>
          </a:xfrm>
          <a:prstGeom prst="ellipse">
            <a:avLst/>
          </a:prstGeom>
          <a:solidFill>
            <a:srgbClr val="E8B3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80160" y="463600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— análise dinâmica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76288" y="46360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visíveis na app rodando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253167" y="4818888"/>
            <a:ext cx="700430" cy="274320"/>
          </a:xfrm>
          <a:prstGeom prst="roundRect">
            <a:avLst>
              <a:gd name="adj" fmla="val 50000"/>
            </a:avLst>
          </a:prstGeom>
          <a:solidFill>
            <a:srgbClr val="E8B3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253167" y="4818888"/>
            <a:ext cx="700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5.3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· ERROR HANDLING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 conta demais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96596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249424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313432"/>
            <a:ext cx="106920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25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//localhost:8080/pedidos/abc"   # id inválido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971800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3A2430"/>
          </a:solidFill>
          <a:ln w="12700">
            <a:solidFill>
              <a:srgbClr val="E079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68" y="3127248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 </a:t>
            </a:r>
            <a:pPr indent="0" marL="0">
              <a:buNone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 + mensagem da exceção </a:t>
            </a:r>
            <a:pPr indent="0" marL="0">
              <a:buNone/>
            </a:pPr>
            <a:r>
              <a:rPr lang="en-US" sz="1350" i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classes, query, caminhos, versões: mapa da app.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4023360"/>
            <a:ext cx="11057839" cy="1463040"/>
          </a:xfrm>
          <a:prstGeom prst="roundRect">
            <a:avLst>
              <a:gd name="adj" fmla="val 5000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11480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hardened — o código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4398264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4462272"/>
            <a:ext cx="1069207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GlobalExceptionHandler.java (hardened)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traceId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randomUUID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toString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Falha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[{}]",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traceId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algn="l"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detalhe SÓ no log do servidor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Ocorreu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traceId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traceId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5321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vê genérico + traceId; o detalhe fica no servidor. + limpar \r\n do input antes de logar (anti log-injection).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· SAST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o código e TRIAR (SonarLint, sem Docker)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lê o código sem executar (segue o dado da entrada 'source' até o uso perigoso 'sink'). Acha cedo — mas gera falsos positivos. A habilidade é triar.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697480"/>
            <a:ext cx="5300320" cy="2651760"/>
          </a:xfrm>
          <a:prstGeom prst="roundRect">
            <a:avLst>
              <a:gd name="adj" fmla="val 2759"/>
            </a:avLst>
          </a:prstGeom>
          <a:solidFill>
            <a:srgbClr val="1B2330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2953512"/>
            <a:ext cx="475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(SONARLINT)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337560"/>
            <a:ext cx="479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na IDE (Eclipse/VS Code)</a:t>
            </a:r>
            <a:endParaRPr lang="en-US" sz="13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 ao abrir os arquivos</a:t>
            </a:r>
            <a:endParaRPr lang="en-US" sz="13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motor do SonarQube, local</a:t>
            </a:r>
            <a:endParaRPr lang="en-US" sz="13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servidor, sem Docker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24448" y="2697480"/>
            <a:ext cx="5300320" cy="2651760"/>
          </a:xfrm>
          <a:prstGeom prst="roundRect">
            <a:avLst>
              <a:gd name="adj" fmla="val 2759"/>
            </a:avLst>
          </a:prstGeom>
          <a:solidFill>
            <a:srgbClr val="1B2330"/>
          </a:solidFill>
          <a:ln w="12700">
            <a:solidFill>
              <a:srgbClr val="E8B3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953512"/>
            <a:ext cx="475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TRIAR CADA FINDING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98768" y="3337560"/>
            <a:ext cx="479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e severidade</a:t>
            </a:r>
            <a:endParaRPr lang="en-US" sz="13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Verdadeiro (VP) ou falso positivo (FP)?</a:t>
            </a:r>
            <a:endParaRPr lang="en-US" sz="13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corrigir / suprimir / backlog</a:t>
            </a:r>
            <a:endParaRPr lang="en-US" sz="13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Corrija 1 alto e re-verifique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 · DAST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Atacar a app rodando e VALIDAR (ZAP Desktop)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ataca a aplicação viva, de fora (caixa-preta): rastreia páginas e envia payloads. Vê o que só aparece em runtime — e também erra. Valide manualmente.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697480"/>
            <a:ext cx="5300320" cy="2651760"/>
          </a:xfrm>
          <a:prstGeom prst="roundRect">
            <a:avLst>
              <a:gd name="adj" fmla="val 2759"/>
            </a:avLst>
          </a:prstGeom>
          <a:solidFill>
            <a:srgbClr val="1B2330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2953512"/>
            <a:ext cx="475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(ZAP DESKTOP)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337560"/>
            <a:ext cx="479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nativo Java (sem Docker)</a:t>
            </a:r>
            <a:endParaRPr lang="en-US" sz="13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 → Automated Scan</a:t>
            </a:r>
            <a:endParaRPr lang="en-US" sz="13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http://localhost:8080</a:t>
            </a:r>
            <a:endParaRPr lang="en-US" sz="13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Alerts: headers, cookies, etc.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24448" y="2697480"/>
            <a:ext cx="5300320" cy="2651760"/>
          </a:xfrm>
          <a:prstGeom prst="roundRect">
            <a:avLst>
              <a:gd name="adj" fmla="val 2759"/>
            </a:avLst>
          </a:prstGeom>
          <a:solidFill>
            <a:srgbClr val="1B2330"/>
          </a:solidFill>
          <a:ln w="12700">
            <a:solidFill>
              <a:srgbClr val="E8B3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953512"/>
            <a:ext cx="475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1 FINDING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98768" y="3319272"/>
            <a:ext cx="4751680" cy="1051560"/>
          </a:xfrm>
          <a:prstGeom prst="roundRect">
            <a:avLst>
              <a:gd name="adj" fmla="val 6957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81648" y="3447288"/>
            <a:ext cx="43859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//localhost:8080/ | \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'content-security-policy'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98768" y="4480560"/>
            <a:ext cx="475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Reproduza a requisição e confirme. Nunca confie no relatório sem validar.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× DAST — o que cada um vê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48840"/>
            <a:ext cx="5300320" cy="3108960"/>
          </a:xfrm>
          <a:prstGeom prst="roundRect">
            <a:avLst>
              <a:gd name="adj" fmla="val 2353"/>
            </a:avLst>
          </a:prstGeom>
          <a:solidFill>
            <a:srgbClr val="1B2330"/>
          </a:solidFill>
          <a:ln w="12700">
            <a:solidFill>
              <a:srgbClr val="7FD3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2423160"/>
            <a:ext cx="486461" cy="274320"/>
          </a:xfrm>
          <a:prstGeom prst="roundRect">
            <a:avLst>
              <a:gd name="adj" fmla="val 50000"/>
            </a:avLst>
          </a:prstGeom>
          <a:solidFill>
            <a:srgbClr val="7FD3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9536" y="2423160"/>
            <a:ext cx="486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2926080"/>
            <a:ext cx="475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 o CÓDIGO (não roda)</a:t>
            </a:r>
            <a:endParaRPr lang="en-US" sz="14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a linha exata</a:t>
            </a:r>
            <a:endParaRPr lang="en-US" sz="14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 cedo (no dev)</a:t>
            </a:r>
            <a:endParaRPr lang="en-US" sz="14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 por falta de contexto de runtime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24448" y="2148840"/>
            <a:ext cx="5300320" cy="3108960"/>
          </a:xfrm>
          <a:prstGeom prst="roundRect">
            <a:avLst>
              <a:gd name="adj" fmla="val 2353"/>
            </a:avLst>
          </a:prstGeom>
          <a:solidFill>
            <a:srgbClr val="1B2330"/>
          </a:solidFill>
          <a:ln w="12700">
            <a:solidFill>
              <a:srgbClr val="E8B3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17056" y="2423160"/>
            <a:ext cx="486461" cy="274320"/>
          </a:xfrm>
          <a:prstGeom prst="roundRect">
            <a:avLst>
              <a:gd name="adj" fmla="val 50000"/>
            </a:avLst>
          </a:prstGeom>
          <a:solidFill>
            <a:srgbClr val="E8B3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17056" y="2423160"/>
            <a:ext cx="486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617056" y="2926080"/>
            <a:ext cx="475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 a APP rodando (não vê o código)</a:t>
            </a:r>
            <a:endParaRPr lang="en-US" sz="14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em runtime</a:t>
            </a:r>
            <a:endParaRPr lang="en-US" sz="14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 headers/cookies/comportamento</a:t>
            </a:r>
            <a:endParaRPr lang="en-US" sz="14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diz onde no código está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44068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não substitui o outro — juntos cobrem código e runtime.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COM VOCÊ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— refaça no lab.md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48840"/>
            <a:ext cx="11057839" cy="822960"/>
          </a:xfrm>
          <a:prstGeom prst="roundRect">
            <a:avLst>
              <a:gd name="adj" fmla="val 8889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377440"/>
            <a:ext cx="365760" cy="365760"/>
          </a:xfrm>
          <a:prstGeom prst="ellipse">
            <a:avLst/>
          </a:prstGeom>
          <a:solidFill>
            <a:srgbClr val="5AA1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21488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seguro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053328" y="2148840"/>
            <a:ext cx="53885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global + log sem injeção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136392"/>
            <a:ext cx="11057839" cy="822960"/>
          </a:xfrm>
          <a:prstGeom prst="roundRect">
            <a:avLst>
              <a:gd name="adj" fmla="val 8889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364992"/>
            <a:ext cx="365760" cy="365760"/>
          </a:xfrm>
          <a:prstGeom prst="ellipse">
            <a:avLst/>
          </a:prstGeom>
          <a:solidFill>
            <a:srgbClr val="7FD3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313639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(SonarLint)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053328" y="3136392"/>
            <a:ext cx="53885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triar ≥ 5 findings (VP×FP) + corrigir 1 alto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4123944"/>
            <a:ext cx="11057839" cy="822960"/>
          </a:xfrm>
          <a:prstGeom prst="roundRect">
            <a:avLst>
              <a:gd name="adj" fmla="val 8889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352544"/>
            <a:ext cx="365760" cy="365760"/>
          </a:xfrm>
          <a:prstGeom prst="ellipse">
            <a:avLst/>
          </a:prstGeom>
          <a:solidFill>
            <a:srgbClr val="E8B36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4123944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(ZAP Desktop)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053328" y="4123944"/>
            <a:ext cx="53885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o scan + validar 1 finding manualmente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5321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Docker? É o caso das VMs — SonarLint e ZAP Desktop cobrem tudo.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CHECAGEM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deve saber explicar…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ENTENDIMENTO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9456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2E5E43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2194560"/>
            <a:ext cx="10326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informações um stack trace vaza — e por que ajuda o atacante.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66928" y="299923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2E5E43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161288" y="2999232"/>
            <a:ext cx="10326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entre o que SAST e DAST enxergam.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66928" y="3803904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2E5E43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803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" y="3803904"/>
            <a:ext cx="10326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decidir se um finding é verdadeiro ou falso positivo.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66928" y="460857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2E5E43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608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61288" y="4608576"/>
            <a:ext cx="10326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validar manualmente um finding do DAST.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474720"/>
            <a:ext cx="5486400" cy="5486400"/>
          </a:xfrm>
          <a:prstGeom prst="ellipse">
            <a:avLst/>
          </a:prstGeom>
          <a:ln w="19050">
            <a:solidFill>
              <a:srgbClr val="2E5E4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146304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28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entregar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74320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Correções do 5.1 (handler global + log seguro), com antes/depois de /pedidos/abc.</a:t>
            </a:r>
            <a:endParaRPr lang="en-US" sz="15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triagem SAST (≥ 5 findings) + 1 correção confirmada.</a:t>
            </a:r>
            <a:endParaRPr lang="en-US" sz="15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Achados do DAST + 1 finding validado manualmente.</a:t>
            </a:r>
            <a:endParaRPr lang="en-US" sz="15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frase por lab respondendo ao 'Ponto de entendimento'.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4937760"/>
            <a:ext cx="11057839" cy="914400"/>
          </a:xfrm>
          <a:prstGeom prst="roundRect">
            <a:avLst>
              <a:gd name="adj" fmla="val 8000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5120640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do 5.1:  </a:t>
            </a:r>
            <a:pPr indent="0" marL="0">
              <a:buNone/>
            </a:pPr>
            <a:r>
              <a:rPr lang="en-US" sz="14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aula-5-hardened</a:t>
            </a:r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Próxima: Aula 6 — Deploy seguro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· LABORATÓRIO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05 — Laboratório: Erros + SAST &amp; DAST</dc:title>
  <dc:subject>PptxGenJS Presentation</dc:subject>
  <dc:creator>Curso CASE Java</dc:creator>
  <cp:lastModifiedBy>Curso CASE Java</cp:lastModifiedBy>
  <cp:revision>1</cp:revision>
  <dcterms:created xsi:type="dcterms:W3CDTF">2026-09-27T21:40:27Z</dcterms:created>
  <dcterms:modified xsi:type="dcterms:W3CDTF">2026-09-27T21:40:27Z</dcterms:modified>
</cp:coreProperties>
</file>