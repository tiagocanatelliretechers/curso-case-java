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Enquadre: a demo é para entender o conceito; o hands-on consolida. Não é para 'seguir passos'.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mapa amarra cada bloco teórico ao exercício. Volte a ele quando alguém perguntar 'por que isso?'.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na tela E na API. Frase-chave: autenticado != autorizado para AQUELE objeto.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403 no alheio, 200 no próprio. Abra PedidoService no hardened e leia a linha da posse em voz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SELECT antes/depois do login. Arquivo: MigratingPasswordEncoder / PortalUserDetailsPasswordService.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Brute force fica inviável no tempo. Em produção: bucket no Redis.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palavra muda tudo: authenticated() -&gt; hasRole('ADMIN'). hasRole adiciona ROLE_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aluno refaz. Circule pela sala; use os 'pontos de entendimento' para checar compreensão.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como fechamento e para identificar quem precisa de reforço.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Entrega inclui responder aos pontos de entendimento — reforça compreensão sobre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554480"/>
            <a:ext cx="4937760" cy="493776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-731520"/>
            <a:ext cx="3291840" cy="3291840"/>
          </a:xfrm>
          <a:prstGeom prst="ellipse">
            <a:avLst/>
          </a:prstGeom>
          <a:ln w="19050">
            <a:solidFill>
              <a:srgbClr val="5AA1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01400" y="868680"/>
            <a:ext cx="457200" cy="45720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46304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 · LABORATÓRIO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01168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</a:t>
            </a:r>
            <a:pPr indent="0" marL="0">
              <a:buNone/>
            </a:pPr>
            <a:r>
              <a:rPr lang="en-US" sz="46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Laboratório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880360"/>
            <a:ext cx="1105783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&amp; Senhas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41605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a falha  →  corrigir com o código pronto  →  provar que bloqueou.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928" y="5029200"/>
            <a:ext cx="486461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5029200"/>
            <a:ext cx="48646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5029200"/>
            <a:ext cx="1057046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29968" y="5029200"/>
            <a:ext cx="10570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→ BCRYPT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5029200"/>
            <a:ext cx="91440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73168" y="5029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67728" y="5029200"/>
            <a:ext cx="985723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67728" y="5029200"/>
            <a:ext cx="98572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/admin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guiada, depois você põe a mão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423160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9536" y="242316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INSTRUTOR DEMONSTRA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5953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Vemos a falha no código baseline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Trocamos para a solução pronta (hardened)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Provamos que o ataque agora falha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Abrimos o trecho de código que mudou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24448" y="2148840"/>
            <a:ext cx="5300320" cy="3200400"/>
          </a:xfrm>
          <a:prstGeom prst="roundRect">
            <a:avLst>
              <a:gd name="adj" fmla="val 2286"/>
            </a:avLst>
          </a:prstGeom>
          <a:solidFill>
            <a:srgbClr val="1B2330"/>
          </a:solidFill>
          <a:ln w="12700">
            <a:solidFill>
              <a:srgbClr val="E8B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17056" y="2423160"/>
            <a:ext cx="1841602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17056" y="2423160"/>
            <a:ext cx="1841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VOCÊ REFAZ (lab.md)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17056" y="2926080"/>
            <a:ext cx="475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passo diz o que observar e o que significa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entendimento: saiba explicar o porquê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Travou? Use o troubleshooting ou chame o instrutor</a:t>
            </a:r>
            <a:endParaRPr lang="en-US" sz="14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é entender, não só entregar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TEORIA VIRA PRÁTICA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Mapa: conceito → laboratório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9536" y="2359152"/>
            <a:ext cx="182880" cy="182880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52728" y="213969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por objeto (posse)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6510528" y="213969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 em /pedidos/{id}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0253167" y="2286000"/>
            <a:ext cx="1128370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253167" y="2286000"/>
            <a:ext cx="11283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 → 3.2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" y="2980944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3328416"/>
            <a:ext cx="182880" cy="182880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52728" y="31089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Hashing de senha (MD5 × BCrypt)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6510528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em MD5 sem sal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10253167" y="3255264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7FD3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253167" y="3255264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3950208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4297680"/>
            <a:ext cx="182880" cy="182880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52728" y="407822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 force / política de senha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6510528" y="407822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sem limite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10253167" y="4224528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E8B3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253167" y="4224528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66928" y="4919472"/>
            <a:ext cx="11057839" cy="841248"/>
          </a:xfrm>
          <a:prstGeom prst="roundRect">
            <a:avLst>
              <a:gd name="adj" fmla="val 8696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" y="5266944"/>
            <a:ext cx="182880" cy="182880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252728" y="50474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papel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6510528" y="5047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/admin só exige login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10253167" y="5193792"/>
            <a:ext cx="700430" cy="274320"/>
          </a:xfrm>
          <a:prstGeom prst="roundRect">
            <a:avLst>
              <a:gd name="adj" fmla="val 50000"/>
            </a:avLst>
          </a:prstGeom>
          <a:solidFill>
            <a:srgbClr val="BFE3C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253167" y="5193792"/>
            <a:ext cx="7004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IDOR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falha — trocar o id na URL (baseline)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8288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Logado como joao@acme.com (cliente 1), tento ler o pedido 2 (da Globex).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66928" y="2423160"/>
            <a:ext cx="11057839" cy="1691640"/>
          </a:xfrm>
          <a:prstGeom prst="roundRect">
            <a:avLst>
              <a:gd name="adj" fmla="val 432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25146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7980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9808" y="2862072"/>
            <a:ext cx="106920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//localhost:8080/pedidos/2   -&gt; mostra pedido alheio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'{"email":"joao@acme.com","senha":"senha123"}'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jq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"Authorization: Bearer $TOKEN"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343400"/>
            <a:ext cx="11057839" cy="1097280"/>
          </a:xfrm>
          <a:prstGeom prst="roundRect">
            <a:avLst>
              <a:gd name="adj" fmla="val 6667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526280"/>
            <a:ext cx="104177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+ JSON do pedido de OUTRO cliente. </a:t>
            </a:r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fez findById(2) e devolveu — nunca perguntou de quem é.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 · IDOR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correção pronta (hardened) — e a prova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74520"/>
            <a:ext cx="11057839" cy="1371600"/>
          </a:xfrm>
          <a:prstGeom prst="roundRect">
            <a:avLst>
              <a:gd name="adj" fmla="val 5333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6596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 — provar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4942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13432"/>
            <a:ext cx="1069207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aula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&amp;&amp;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'%{http_code}\n'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"Authorization: Bearer $TOKEN"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403</a:t>
            </a:r>
            <a:endParaRPr lang="en-US" sz="115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'%{http_code}\n'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"Authorization: Bearer $TOKEN"</a:t>
            </a:r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200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429000"/>
            <a:ext cx="11057839" cy="1965960"/>
          </a:xfrm>
          <a:prstGeom prst="roundRect">
            <a:avLst>
              <a:gd name="adj" fmla="val 3721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52044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código que mudou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80390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867912"/>
            <a:ext cx="1069207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PedidoService.java — a regra de posse vive em UM lugar (web + API)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porIdDoCliente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pedidoRepository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findById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orElseThrow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(!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getClienteId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().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clienteId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este objeto e dele?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throw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AccessDeniedException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pertence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 · MD5 → BCRYPT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hash e migrar sem quebrar o login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5300320" cy="1554480"/>
          </a:xfrm>
          <a:prstGeom prst="roundRect">
            <a:avLst>
              <a:gd name="adj" fmla="val 4706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497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baseline: MD5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4971136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59152"/>
            <a:ext cx="493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//localhost:8080/h2-console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jdbc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portal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senha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611880"/>
            <a:ext cx="5300320" cy="1737360"/>
          </a:xfrm>
          <a:prstGeom prst="roundRect">
            <a:avLst>
              <a:gd name="adj" fmla="val 4211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" y="3749040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Hashes de 32 hex (MD5, sem sal).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admin123 → 0192023a7bbd7325...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senhas iguais = mesmo hash → rainbow table.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24448" y="1920240"/>
            <a:ext cx="5300320" cy="1554480"/>
          </a:xfrm>
          <a:prstGeom prst="roundRect">
            <a:avLst>
              <a:gd name="adj" fmla="val 4706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89040" y="2011680"/>
            <a:ext cx="497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hardened: migra no login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89040" y="2295144"/>
            <a:ext cx="4971136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07328" y="2359152"/>
            <a:ext cx="493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login do usuario antigo migra sozinho: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startsWith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"))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md5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equals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hash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setSenha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bcrypt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));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324448" y="3611880"/>
            <a:ext cx="5300320" cy="1737360"/>
          </a:xfrm>
          <a:prstGeom prst="roundRect">
            <a:avLst>
              <a:gd name="adj" fmla="val 4211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98768" y="3749040"/>
            <a:ext cx="4751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login do João, o SELECT mostra o hash começando com $2a$ (BCrypt).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automática — ninguém redefine senha.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3 · RATE LIMITING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5x e ver a catraca travar (hardened)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920240"/>
            <a:ext cx="11057839" cy="1691640"/>
          </a:xfrm>
          <a:prstGeom prst="roundRect">
            <a:avLst>
              <a:gd name="adj" fmla="val 432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hardened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29514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2359152"/>
            <a:ext cx="10692079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7FD3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"tentativa $i -&gt; %{http_code}\n"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'Content-Type: application/json'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'{"email":"joao@acme.com","senha":"errada"}'</a:t>
            </a:r>
            <a:endParaRPr lang="en-US" sz="12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1ª → 401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440381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40381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2ª → 401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13834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313834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3ª → 401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87288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7288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4ª → 401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60741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60741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5ª → 401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934194" y="3840480"/>
            <a:ext cx="1690573" cy="822960"/>
          </a:xfrm>
          <a:prstGeom prst="roundRect">
            <a:avLst>
              <a:gd name="adj" fmla="val 8889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34194" y="3840480"/>
            <a:ext cx="169057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E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6ª → 429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66928" y="480060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5/min por IP. A 6ª tentativa é barrada com 429. Arquivo: RateLimitFilter.java.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4 · RBAC /ADMIN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logado ≠ ter o papel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5300320" cy="1737360"/>
          </a:xfrm>
          <a:prstGeom prst="roundRect">
            <a:avLst>
              <a:gd name="adj" fmla="val 4211"/>
            </a:avLst>
          </a:prstGeom>
          <a:solidFill>
            <a:srgbClr val="3A2430"/>
          </a:solidFill>
          <a:ln w="12700">
            <a:solidFill>
              <a:srgbClr val="E079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267712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E0796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41248" y="2267712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697480"/>
            <a:ext cx="475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joao@acme.com abre /admin → ENTRA (escalada vertical).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24448" y="2011680"/>
            <a:ext cx="5300320" cy="1737360"/>
          </a:xfrm>
          <a:prstGeom prst="roundRect">
            <a:avLst>
              <a:gd name="adj" fmla="val 4211"/>
            </a:avLst>
          </a:prstGeom>
          <a:solidFill>
            <a:srgbClr val="1B2330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98768" y="2267712"/>
            <a:ext cx="771754" cy="274320"/>
          </a:xfrm>
          <a:prstGeom prst="roundRect">
            <a:avLst>
              <a:gd name="adj" fmla="val 50000"/>
            </a:avLst>
          </a:prstGeom>
          <a:solidFill>
            <a:srgbClr val="5AA1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98768" y="2267712"/>
            <a:ext cx="7717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97480"/>
            <a:ext cx="475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joao → 403 · admin@portal.com → 200.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66928" y="4023360"/>
            <a:ext cx="11057839" cy="1280160"/>
          </a:xfrm>
          <a:prstGeom prst="roundRect">
            <a:avLst>
              <a:gd name="adj" fmla="val 5714"/>
            </a:avLst>
          </a:prstGeom>
          <a:solidFill>
            <a:srgbClr val="0A0F16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114800"/>
            <a:ext cx="107286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A1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código que mudou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398264"/>
            <a:ext cx="10728655" cy="0"/>
          </a:xfrm>
          <a:prstGeom prst="line">
            <a:avLst/>
          </a:prstGeom>
          <a:noFill/>
          <a:ln w="12700">
            <a:solidFill>
              <a:srgbClr val="2A34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462272"/>
            <a:ext cx="1069207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SecurityConfig.java</a:t>
            </a:r>
            <a:endParaRPr lang="en-US" sz="13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AEB7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requestMatchers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("/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/**").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hasRole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("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BFE3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pPr algn="l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pPr algn="l" indent="0" marL="0">
              <a:lnSpc>
                <a:spcPct val="106000"/>
              </a:lnSpc>
              <a:buNone/>
            </a:pPr>
            <a:r>
              <a:rPr lang="en-US" sz="1300" i="1" dirty="0">
                <a:solidFill>
                  <a:srgbClr val="6B78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era .authenticated()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COM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— refaça no lab.md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185416"/>
            <a:ext cx="310896" cy="310896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185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2057400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o IDOR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504688" y="2057400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comprove o acesso alheio (web + API)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734056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" y="2862072"/>
            <a:ext cx="310896" cy="310896"/>
          </a:xfrm>
          <a:prstGeom prst="ellipse">
            <a:avLst/>
          </a:prstGeom>
          <a:solidFill>
            <a:srgbClr val="5AA17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2862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35608" y="273405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o IDOR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04688" y="2734056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 no Service + testes 200/403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10712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3538728"/>
            <a:ext cx="310896" cy="310896"/>
          </a:xfrm>
          <a:prstGeom prst="ellipse">
            <a:avLst/>
          </a:prstGeom>
          <a:solidFill>
            <a:srgbClr val="7FD3A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04672" y="35387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35608" y="3410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MD5 → BCrypt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504688" y="3410712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o encoder + migração no login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4087368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" y="4215384"/>
            <a:ext cx="310896" cy="310896"/>
          </a:xfrm>
          <a:prstGeom prst="ellipse">
            <a:avLst/>
          </a:prstGeom>
          <a:solidFill>
            <a:srgbClr val="E8B36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04672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408736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política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04688" y="4087368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freie o brute force; recuse senha curta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66928" y="4764024"/>
            <a:ext cx="11057839" cy="566928"/>
          </a:xfrm>
          <a:prstGeom prst="roundRect">
            <a:avLst>
              <a:gd name="adj" fmla="val 12903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4672" y="4892040"/>
            <a:ext cx="310896" cy="310896"/>
          </a:xfrm>
          <a:prstGeom prst="ellipse">
            <a:avLst/>
          </a:prstGeom>
          <a:solidFill>
            <a:srgbClr val="BFE3C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4672" y="48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435608" y="4764024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/admin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504688" y="4764024"/>
            <a:ext cx="593719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hasRole('ADMIN') + teste (se sobrar tempo)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CHECAGEM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76656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deve saber explicar…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ENTENDIMENTO</a:t>
            </a:r>
            <a:endParaRPr lang="en-US" sz="850" dirty="0"/>
          </a:p>
        </p:txBody>
      </p:sp>
      <p:sp>
        <p:nvSpPr>
          <p:cNvPr id="6" name="Text 4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194560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2194560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ver /pedidos/2 é um IDOR — e onde a correção deve morar.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66928" y="2999232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161288" y="2999232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no banco quando um usuário MD5 loga após o Lab 3.3.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66928" y="3803904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8039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3803904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rate limiting é melhor que bloquear a conta de vez.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66928" y="4608576"/>
            <a:ext cx="402336" cy="402336"/>
          </a:xfrm>
          <a:prstGeom prst="roundRect">
            <a:avLst>
              <a:gd name="adj" fmla="val 13636"/>
            </a:avLst>
          </a:prstGeom>
          <a:solidFill>
            <a:srgbClr val="2E5E43"/>
          </a:solidFill>
          <a:ln w="12700">
            <a:solidFill>
              <a:srgbClr val="5AA17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6928" y="46085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161288" y="4608576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diferença entre authenticated() e hasRole('ADMIN').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55778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i="1" dirty="0">
                <a:solidFill>
                  <a:srgbClr val="BF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travar em alguma, volte ao 'Conceito em 1 minuto' do lab antes de seguir para a Aula 4.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474720"/>
            <a:ext cx="5486400" cy="5486400"/>
          </a:xfrm>
          <a:prstGeom prst="ellipse">
            <a:avLst/>
          </a:prstGeom>
          <a:ln w="19050">
            <a:solidFill>
              <a:srgbClr val="2E5E4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66928" y="1463040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entregar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4320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corrigido (Labs 3.2–3.5) + testes (IDOR e admin).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do IDOR (Lab 3.1) ANTES da correção (print + URL).</a:t>
            </a:r>
            <a:endParaRPr lang="en-US" sz="1600" dirty="0"/>
          </a:p>
          <a:p>
            <a:pPr algn="l" marL="177800" indent="-1778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4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frase por lab respondendo ao 'Ponto de entendimento'.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66928" y="4754880"/>
            <a:ext cx="11057839" cy="960120"/>
          </a:xfrm>
          <a:prstGeom prst="roundRect">
            <a:avLst>
              <a:gd name="adj" fmla="val 7619"/>
            </a:avLst>
          </a:prstGeom>
          <a:solidFill>
            <a:srgbClr val="1B2330"/>
          </a:solidFill>
          <a:ln w="12700">
            <a:solidFill>
              <a:srgbClr val="2A344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4937760"/>
            <a:ext cx="1041775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a solução:  </a:t>
            </a:r>
            <a:pPr indent="0" marL="0">
              <a:buNone/>
            </a:pPr>
            <a:r>
              <a:rPr lang="en-US" sz="1400" dirty="0">
                <a:solidFill>
                  <a:srgbClr val="E4EA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aula-3-hardened</a:t>
            </a:r>
            <a:pPr indent="0" marL="0">
              <a:buNone/>
            </a:pPr>
            <a:r>
              <a:rPr lang="en-US" sz="1400" dirty="0">
                <a:solidFill>
                  <a:srgbClr val="AEB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Próxima: Aula 4 — Criptografia &amp; Sessão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6B78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03 · LABORATÓRIO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4773168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200" kern="0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3825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A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03 — Laboratório: Autorização &amp; Senhas</dc:title>
  <dc:subject>PptxGenJS Presentation</dc:subject>
  <dc:creator>Curso CASE Java</dc:creator>
  <cp:lastModifiedBy>Curso CASE Java</cp:lastModifiedBy>
  <cp:revision>1</cp:revision>
  <dcterms:created xsi:type="dcterms:W3CDTF">2026-09-27T21:01:29Z</dcterms:created>
  <dcterms:modified xsi:type="dcterms:W3CDTF">2026-09-27T21:01:29Z</dcterms:modified>
</cp:coreProperties>
</file>