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2 da Aula 3, após o laboratório. Foco: autorização (controle de acesso). Vamos do conceito (AuthN x AuthZ) aos modelos (RBAC/ABAC/ReBAC), Broken Access Control (IDOR, escalada), e a implementação no Spring Security, terminando com senhas (BCrypt) e rate limiting.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Situamos o aluno: Parte 1 e o lab já foram. Agora a autorização.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da parte 2 em 6 blocos.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Distinção central. O IDOR nasce de tratar 'autenticado' como se fosse 'autorizado para aquele objeto'.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modelos. O Portal combina RBAC e ReBAC — daí o IDOR ser resolvido por posse (ReBAC).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RBAC resolve 'vertical' (admin x user), mas NÃO resolve posse — por isso o IDOR precisa de ReBAC/posse.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ABAC entra quando o papel não basta — regras dependentes de contexto/valor.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ReBAC = posse. Guardar bem esse conceito: é o coração do anti-IDOR.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RBAC do Portal + a falha do /admin que o Lab 3.5 corrige.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princípios que sustentam toda a autorização: menor privilégio e deny-by-default.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OWASP Top 10 2021. Números para dimensionar a importância.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IDOR conceitual. É o núcleo do Lab 3.1/3.2. Mostrar como trocar o id expõe dados alheios.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código busca por id e retorna. Nunca compara o dono. Trocar o id vaza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correção do Lab 3.2: checagem de posse no Service. AccessDeniedException =&gt; 403.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Comando do Lab 3.1. Serve de evidência antes/depois.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Vertical = sobe de nível; horizontal = anda de lado (IDOR). O Portal tem os dois.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vetores frequentes. Mass assignment: sempre use DTOs de entrada e whitelists de campos.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perguntas. A terceira (posse) é a que quase todo mundo esquece.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 é usabilidade, não segurança. O gate é no servidor.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Rota → método → objeto. Cada uma cobre um tipo de falha.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Checklist mental dos erros que mais causam A01.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acionável de defesa em camadas.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macro do Spring Security. Filtros em ordem; o de autorização decide o acesso.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 central de RBAC por rota. Enfatizar deny-by-default e ordem dos matchers.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beans centrais: quem carrega o usuário e quem confere a senha.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 x Post. Regra prática: posse no Service; anotações reforçam.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 rápido de escolha entre as anotações.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Vocabulário SpEL essencial para autorização.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jeito recomendado no gabarito: posse no Service, controllers só delegam.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 do Lab 3.2. @WithUserDetails injeta o usuário; 403 para o pedido alheio.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Comparação direta. MD5 no baseline (extraído por SQLi na Aula 1); BCrypt no Lab 3.3.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Decodificar o formato ajuda a entender sal embutido e work factor.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Estratégia do Lab 3.3: usuários antigos migram sozinhos no primeiro login correto.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Rate limiting do Lab 3.4. Bucket4j em memória; Redis em produção.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Camadas extras: NIST 800-63B, MFA/step-up e mensagens genéricas contra enumeração.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Placar dos labs da Aula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prático do/don't da autorização e senhas.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final da Aula 3 inteira (Parte 1 + Parte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 para a Aula 4. Ambiente já pronto com o modo H2 (sem Docker).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554480"/>
            <a:ext cx="4937760" cy="4937760"/>
          </a:xfrm>
          <a:prstGeom prst="ellipse">
            <a:avLst/>
          </a:prstGeom>
          <a:ln w="19050">
            <a:solidFill>
              <a:srgbClr val="2E5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-731520"/>
            <a:ext cx="3291840" cy="3291840"/>
          </a:xfrm>
          <a:prstGeom prst="ellipse">
            <a:avLst/>
          </a:prstGeom>
          <a:ln w="19050">
            <a:solidFill>
              <a:srgbClr val="5AA1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01400" y="868680"/>
            <a:ext cx="457200" cy="457200"/>
          </a:xfrm>
          <a:prstGeom prst="ellipse">
            <a:avLst/>
          </a:prstGeom>
          <a:solidFill>
            <a:srgbClr val="7FD3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13716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96596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</a:t>
            </a:r>
            <a:pPr indent="0" marL="0">
              <a:buNone/>
            </a:pPr>
            <a:r>
              <a:rPr lang="en-US" sz="52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Parte 2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926080"/>
            <a:ext cx="1105783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</a:t>
            </a:r>
            <a:endParaRPr lang="en-US" sz="72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29768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o que o usuário pode fazer: RBAC, ABAC/ReBAC, IDOR e autorização por objeto — e como o Spring Security aplica tudo isso na prática.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66928" y="5440680"/>
            <a:ext cx="1435608" cy="274320"/>
          </a:xfrm>
          <a:prstGeom prst="roundRect">
            <a:avLst>
              <a:gd name="adj" fmla="val 50000"/>
            </a:avLst>
          </a:prstGeom>
          <a:solidFill>
            <a:srgbClr val="E8B3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5440680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O LABORATÓRIO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18688" y="5440680"/>
            <a:ext cx="1229868" cy="274320"/>
          </a:xfrm>
          <a:prstGeom prst="roundRect">
            <a:avLst>
              <a:gd name="adj" fmla="val 50000"/>
            </a:avLst>
          </a:prstGeom>
          <a:solidFill>
            <a:srgbClr val="5AA17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218688" y="5440680"/>
            <a:ext cx="1229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A01 · A07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estamos na Aula 3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48840"/>
            <a:ext cx="3442106" cy="3291840"/>
          </a:xfrm>
          <a:prstGeom prst="roundRect">
            <a:avLst>
              <a:gd name="adj" fmla="val 2222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441448"/>
            <a:ext cx="548640" cy="548640"/>
          </a:xfrm>
          <a:prstGeom prst="ellipse">
            <a:avLst/>
          </a:prstGeom>
          <a:solidFill>
            <a:srgbClr val="5AA1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" y="2441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200400"/>
            <a:ext cx="28934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447288"/>
            <a:ext cx="28934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— Autenticação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4114800"/>
            <a:ext cx="289346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Provamos quem é o usuário: senhas, hashing, MFA, SSO e gestão de segredos.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74794" y="2148840"/>
            <a:ext cx="3442106" cy="3291840"/>
          </a:xfrm>
          <a:prstGeom prst="roundRect">
            <a:avLst>
              <a:gd name="adj" fmla="val 2222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49114" y="2441448"/>
            <a:ext cx="548640" cy="548640"/>
          </a:xfrm>
          <a:prstGeom prst="ellipse">
            <a:avLst/>
          </a:prstGeom>
          <a:solidFill>
            <a:srgbClr val="5AA17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49114" y="2441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649114" y="3200400"/>
            <a:ext cx="28934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649114" y="3447288"/>
            <a:ext cx="28934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4649114" y="4114800"/>
            <a:ext cx="289346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Exploramos e corrigimos o IDOR, migramos para BCrypt e limitamos tentativas de login.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82661" y="2148840"/>
            <a:ext cx="3442106" cy="3291840"/>
          </a:xfrm>
          <a:prstGeom prst="roundRect">
            <a:avLst>
              <a:gd name="adj" fmla="val 2222"/>
            </a:avLst>
          </a:prstGeom>
          <a:solidFill>
            <a:srgbClr val="27303F"/>
          </a:solidFill>
          <a:ln w="19050">
            <a:solidFill>
              <a:srgbClr val="5AA17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56981" y="2441448"/>
            <a:ext cx="548640" cy="548640"/>
          </a:xfrm>
          <a:prstGeom prst="ellipse">
            <a:avLst/>
          </a:prstGeom>
          <a:solidFill>
            <a:srgbClr val="E8B3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56981" y="2441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8456981" y="3200400"/>
            <a:ext cx="28934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456981" y="3447288"/>
            <a:ext cx="28934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— Autorização</a:t>
            </a:r>
            <a:endParaRPr lang="en-US" sz="1650" dirty="0"/>
          </a:p>
        </p:txBody>
      </p:sp>
      <p:sp>
        <p:nvSpPr>
          <p:cNvPr id="24" name="Text 22"/>
          <p:cNvSpPr txBox="1"/>
          <p:nvPr/>
        </p:nvSpPr>
        <p:spPr>
          <a:xfrm>
            <a:off x="8456981" y="4114800"/>
            <a:ext cx="289346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identidade resolvida, decidimos o que cada usuário pode ver e fazer.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6235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B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estar autenticado (ter o crachá) não é o mesmo que estar autorizado (poder passar pela catraca).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vem nesta parte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5346040" cy="1298448"/>
          </a:xfrm>
          <a:prstGeom prst="roundRect">
            <a:avLst>
              <a:gd name="adj" fmla="val 5634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359152"/>
            <a:ext cx="457200" cy="457200"/>
          </a:xfrm>
          <a:prstGeom prst="ellipse">
            <a:avLst/>
          </a:prstGeom>
          <a:solidFill>
            <a:srgbClr val="5AA1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2322576"/>
            <a:ext cx="420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autorização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2706624"/>
            <a:ext cx="424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ABAC e ReBAC — e qual o Portal precisa.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78728" y="2103120"/>
            <a:ext cx="5346040" cy="1298448"/>
          </a:xfrm>
          <a:prstGeom prst="roundRect">
            <a:avLst>
              <a:gd name="adj" fmla="val 5634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4760" y="2359152"/>
            <a:ext cx="457200" cy="457200"/>
          </a:xfrm>
          <a:prstGeom prst="ellipse">
            <a:avLst/>
          </a:prstGeom>
          <a:solidFill>
            <a:srgbClr val="5AA17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476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193128" y="2322576"/>
            <a:ext cx="420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193128" y="2706624"/>
            <a:ext cx="424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IDOR, escalada de privilégio e forced browsing (OWASP A01).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3547872"/>
            <a:ext cx="5346040" cy="1298448"/>
          </a:xfrm>
          <a:prstGeom prst="roundRect">
            <a:avLst>
              <a:gd name="adj" fmla="val 5634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803904"/>
            <a:ext cx="457200" cy="457200"/>
          </a:xfrm>
          <a:prstGeom prst="ellipse">
            <a:avLst/>
          </a:prstGeom>
          <a:solidFill>
            <a:srgbClr val="7FD3A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3767328"/>
            <a:ext cx="420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em camadas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81328" y="4151376"/>
            <a:ext cx="424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 no servidor, em toda rota e no nível do objeto.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78728" y="3547872"/>
            <a:ext cx="5346040" cy="1298448"/>
          </a:xfrm>
          <a:prstGeom prst="roundRect">
            <a:avLst>
              <a:gd name="adj" fmla="val 5634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34760" y="3803904"/>
            <a:ext cx="457200" cy="457200"/>
          </a:xfrm>
          <a:prstGeom prst="ellipse">
            <a:avLst/>
          </a:prstGeom>
          <a:solidFill>
            <a:srgbClr val="7FD3A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34760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193128" y="3767328"/>
            <a:ext cx="420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aplicado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193128" y="4151376"/>
            <a:ext cx="424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 de filtros, RBAC por rota e method security.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4992624"/>
            <a:ext cx="5346040" cy="1298448"/>
          </a:xfrm>
          <a:prstGeom prst="roundRect">
            <a:avLst>
              <a:gd name="adj" fmla="val 5634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5248656"/>
            <a:ext cx="457200" cy="457200"/>
          </a:xfrm>
          <a:prstGeom prst="ellipse">
            <a:avLst/>
          </a:prstGeom>
          <a:solidFill>
            <a:srgbClr val="E8B36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248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481328" y="5212080"/>
            <a:ext cx="420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e brute force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481328" y="5596128"/>
            <a:ext cx="424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→ BCrypt com migração e rate limiting no login.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78728" y="4992624"/>
            <a:ext cx="5346040" cy="1298448"/>
          </a:xfrm>
          <a:prstGeom prst="roundRect">
            <a:avLst>
              <a:gd name="adj" fmla="val 5634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34760" y="5248656"/>
            <a:ext cx="457200" cy="457200"/>
          </a:xfrm>
          <a:prstGeom prst="ellipse">
            <a:avLst/>
          </a:prstGeom>
          <a:solidFill>
            <a:srgbClr val="E8B36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34760" y="5248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193128" y="5212080"/>
            <a:ext cx="420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 &amp; fechamento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193128" y="5596128"/>
            <a:ext cx="424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corrigido nos Labs 3.2 a 3.5 e boas práticas.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× Autorização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5300320" cy="2651760"/>
          </a:xfrm>
          <a:prstGeom prst="roundRect">
            <a:avLst>
              <a:gd name="adj" fmla="val 2759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86968" y="2377440"/>
            <a:ext cx="466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2633472"/>
            <a:ext cx="466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você?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86968" y="3200400"/>
            <a:ext cx="466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a identidade — a credencial (senha, token, biometria) confirma que você é quem diz ser.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86968" y="4251960"/>
            <a:ext cx="886968" cy="274320"/>
          </a:xfrm>
          <a:prstGeom prst="roundRect">
            <a:avLst>
              <a:gd name="adj" fmla="val 50000"/>
            </a:avLst>
          </a:prstGeom>
          <a:solidFill>
            <a:srgbClr val="2E5E4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86968" y="4251960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🪪  CRACHÁ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24448" y="2103120"/>
            <a:ext cx="5300320" cy="2651760"/>
          </a:xfrm>
          <a:prstGeom prst="roundRect">
            <a:avLst>
              <a:gd name="adj" fmla="val 2759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44488" y="2377440"/>
            <a:ext cx="466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44488" y="2633472"/>
            <a:ext cx="466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pode fazer?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644488" y="3200400"/>
            <a:ext cx="466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 acesso — mesmo autenticado, você só passa pelas portas para as quais tem permissão.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44488" y="4251960"/>
            <a:ext cx="955548" cy="274320"/>
          </a:xfrm>
          <a:prstGeom prst="roundRect">
            <a:avLst>
              <a:gd name="adj" fmla="val 50000"/>
            </a:avLst>
          </a:prstGeom>
          <a:solidFill>
            <a:srgbClr val="E8B36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44488" y="4251960"/>
            <a:ext cx="955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  CATRACA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4983480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222C3B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6968" y="5138928"/>
            <a:ext cx="10417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 o crachá (autenticado) não significa poder passar por todas as catracas (autorizado). Confundir os dois é a origem de metade das falhas de acesso.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291840"/>
            <a:ext cx="5486400" cy="5486400"/>
          </a:xfrm>
          <a:prstGeom prst="ellipse">
            <a:avLst/>
          </a:prstGeom>
          <a:ln w="19050">
            <a:solidFill>
              <a:srgbClr val="2E5E4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321040" y="64008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222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2860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69748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autorização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480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expressar 'quem pode o quê' — por papel, por atributo ou por relacionamento.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2148840"/>
            <a:ext cx="146304" cy="146304"/>
          </a:xfrm>
          <a:prstGeom prst="ellipse">
            <a:avLst/>
          </a:prstGeom>
          <a:solidFill>
            <a:srgbClr val="7FD3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· ABAC · ReBAC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3442106" cy="3383280"/>
          </a:xfrm>
          <a:prstGeom prst="roundRect">
            <a:avLst>
              <a:gd name="adj" fmla="val 2162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377440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5AA1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" y="237744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788920"/>
            <a:ext cx="28934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papel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218688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usuário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3703320"/>
            <a:ext cx="293918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 e estável</a:t>
            </a:r>
            <a:endParaRPr lang="en-US" sz="130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mapeiam funções</a:t>
            </a:r>
            <a:endParaRPr lang="en-US" sz="130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só admin acessa /admin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74794" y="2103120"/>
            <a:ext cx="3442106" cy="3383280"/>
          </a:xfrm>
          <a:prstGeom prst="roundRect">
            <a:avLst>
              <a:gd name="adj" fmla="val 2162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49114" y="2377440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7FD3A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49114" y="237744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ABAC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649114" y="2788920"/>
            <a:ext cx="28934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atributo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649114" y="3218688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regras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649114" y="3703320"/>
            <a:ext cx="293918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flexível</a:t>
            </a:r>
            <a:endParaRPr lang="en-US" sz="130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Horário, valor, região</a:t>
            </a:r>
            <a:endParaRPr lang="en-US" sz="130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aprovar &gt; R$ X exige gerente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82661" y="2103120"/>
            <a:ext cx="3442106" cy="3383280"/>
          </a:xfrm>
          <a:prstGeom prst="roundRect">
            <a:avLst>
              <a:gd name="adj" fmla="val 2162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56981" y="2377440"/>
            <a:ext cx="544068" cy="274320"/>
          </a:xfrm>
          <a:prstGeom prst="roundRect">
            <a:avLst>
              <a:gd name="adj" fmla="val 50000"/>
            </a:avLst>
          </a:prstGeom>
          <a:solidFill>
            <a:srgbClr val="E8B3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56981" y="2377440"/>
            <a:ext cx="5440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ReBAC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456981" y="2788920"/>
            <a:ext cx="28934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relacionamento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8456981" y="3218688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'é dono de'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456981" y="3703320"/>
            <a:ext cx="293918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posse</a:t>
            </a:r>
            <a:endParaRPr lang="en-US" sz="130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Compartilhamento entre users</a:t>
            </a:r>
            <a:endParaRPr lang="en-US" sz="130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o cliente é dono do pedido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66928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B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 precisamos de RBAC (admin × cliente) e de ReBAC (o cliente é dono do pedido).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· RBAC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por papel (Role-Based)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7452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 são atribuídas a papéis; usuários recebem papéis. É o modelo mais comum e o ponto de partida da maioria das aplicações.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697480"/>
            <a:ext cx="5300320" cy="2651760"/>
          </a:xfrm>
          <a:prstGeom prst="roundRect">
            <a:avLst>
              <a:gd name="adj" fmla="val 2759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2953512"/>
            <a:ext cx="475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337560"/>
            <a:ext cx="479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 de entender e auditar</a:t>
            </a:r>
            <a:endParaRPr lang="en-US" sz="14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Estável: papéis mudam pouco</a:t>
            </a:r>
            <a:endParaRPr lang="en-US" sz="14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mapear para telas e rotas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24448" y="2697480"/>
            <a:ext cx="5300320" cy="2651760"/>
          </a:xfrm>
          <a:prstGeom prst="roundRect">
            <a:avLst>
              <a:gd name="adj" fmla="val 2759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953512"/>
            <a:ext cx="475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98768" y="3337560"/>
            <a:ext cx="479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 em papéis quando há muitas exceções</a:t>
            </a:r>
            <a:endParaRPr lang="en-US" sz="14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expressa 'é dono de' (posse)</a:t>
            </a:r>
            <a:endParaRPr lang="en-US" sz="14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contexto não cabem no papel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· ABAC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por atributo (Attribute-Based)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7452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considera atributos do usuário, do recurso e do ambiente (horário, valor, região, dispositivo). Muito flexível — e mais complexo de auditar.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697480"/>
            <a:ext cx="11057839" cy="914400"/>
          </a:xfrm>
          <a:prstGeom prst="roundRect">
            <a:avLst>
              <a:gd name="adj" fmla="val 8000"/>
            </a:avLst>
          </a:prstGeom>
          <a:solidFill>
            <a:srgbClr val="222C3B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28163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política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108960"/>
            <a:ext cx="10509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“Aprovar pedido acima de R$ 50.000 exige papel GERENTE e horário comercial.”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3886200"/>
            <a:ext cx="3442106" cy="1554480"/>
          </a:xfrm>
          <a:prstGeom prst="roundRect">
            <a:avLst>
              <a:gd name="adj" fmla="val 4706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114800"/>
            <a:ext cx="29849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SUJEITO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434840"/>
            <a:ext cx="29849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papel, departamento, senioridade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74794" y="3886200"/>
            <a:ext cx="3442106" cy="1554480"/>
          </a:xfrm>
          <a:prstGeom prst="roundRect">
            <a:avLst>
              <a:gd name="adj" fmla="val 4706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30826" y="4114800"/>
            <a:ext cx="29849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630826" y="4434840"/>
            <a:ext cx="29849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valor, dono, classificação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82661" y="3886200"/>
            <a:ext cx="3442106" cy="1554480"/>
          </a:xfrm>
          <a:prstGeom prst="roundRect">
            <a:avLst>
              <a:gd name="adj" fmla="val 4706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38693" y="4114800"/>
            <a:ext cx="29849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438693" y="4434840"/>
            <a:ext cx="29849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horário, IP, dispositivo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· REBAC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por relacionamento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7452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permissão vem de uma relação entre o usuário e o objeto — 'é dono de', 'é membro de', 'foi convidado para'. É o modelo natural para posse e compartilhamento.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834640"/>
            <a:ext cx="3108960" cy="1828800"/>
          </a:xfrm>
          <a:prstGeom prst="roundRect">
            <a:avLst>
              <a:gd name="adj" fmla="val 4000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520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(cliente 1)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22208" y="2834640"/>
            <a:ext cx="3108960" cy="1828800"/>
          </a:xfrm>
          <a:prstGeom prst="roundRect">
            <a:avLst>
              <a:gd name="adj" fmla="val 4000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22208" y="3520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#1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75888" y="3749040"/>
            <a:ext cx="4846320" cy="0"/>
          </a:xfrm>
          <a:prstGeom prst="line">
            <a:avLst/>
          </a:prstGeom>
          <a:noFill/>
          <a:ln w="25400">
            <a:solidFill>
              <a:srgbClr val="5AA17A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3675888" y="3291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dono de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75888" y="38587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clienteId == 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4937760"/>
            <a:ext cx="11057839" cy="822960"/>
          </a:xfrm>
          <a:prstGeom prst="roundRect">
            <a:avLst>
              <a:gd name="adj" fmla="val 8889"/>
            </a:avLst>
          </a:prstGeom>
          <a:solidFill>
            <a:srgbClr val="222C3B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968" y="5074920"/>
            <a:ext cx="10417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autorização de um pedido é ReBAC — comparamos o dono do pedido (clienteId) com o usuário autenticado. É exatamente o que resolve o IDOR.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no Portal de Pedidos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1B2330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340864"/>
            <a:ext cx="818388" cy="274320"/>
          </a:xfrm>
          <a:prstGeom prst="roundRect">
            <a:avLst>
              <a:gd name="adj" fmla="val 50000"/>
            </a:avLst>
          </a:prstGeom>
          <a:solidFill>
            <a:srgbClr val="5AA1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340864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ROLE_USER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614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— vê só o que é seu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65760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1B2330"/>
          </a:solidFill>
          <a:ln w="12700">
            <a:solidFill>
              <a:srgbClr val="E8B3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895344"/>
            <a:ext cx="886968" cy="274320"/>
          </a:xfrm>
          <a:prstGeom prst="roundRect">
            <a:avLst>
              <a:gd name="adj" fmla="val 50000"/>
            </a:avLst>
          </a:prstGeom>
          <a:solidFill>
            <a:srgbClr val="E8B3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89534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ROLE_ADMIN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3159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— vê tudo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67728" y="2103120"/>
            <a:ext cx="4657039" cy="621792"/>
          </a:xfrm>
          <a:prstGeom prst="roundRect">
            <a:avLst>
              <a:gd name="adj" fmla="val 11765"/>
            </a:avLst>
          </a:prstGeom>
          <a:solidFill>
            <a:srgbClr val="222C3B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42048" y="2103120"/>
            <a:ext cx="41083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/pedidos (próprios)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11696" y="2340864"/>
            <a:ext cx="146304" cy="146304"/>
          </a:xfrm>
          <a:prstGeom prst="ellipse">
            <a:avLst/>
          </a:prstGeom>
          <a:solidFill>
            <a:srgbClr val="5AA17A"/>
          </a:solidFill>
          <a:ln/>
        </p:spPr>
      </p:sp>
      <p:sp>
        <p:nvSpPr>
          <p:cNvPr id="18" name="Shape 16"/>
          <p:cNvSpPr/>
          <p:nvPr/>
        </p:nvSpPr>
        <p:spPr>
          <a:xfrm>
            <a:off x="6967728" y="2880360"/>
            <a:ext cx="4657039" cy="621792"/>
          </a:xfrm>
          <a:prstGeom prst="roundRect">
            <a:avLst>
              <a:gd name="adj" fmla="val 11765"/>
            </a:avLst>
          </a:prstGeom>
          <a:solidFill>
            <a:srgbClr val="222C3B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42048" y="2880360"/>
            <a:ext cx="41083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/produtos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11696" y="3118104"/>
            <a:ext cx="146304" cy="146304"/>
          </a:xfrm>
          <a:prstGeom prst="ellipse">
            <a:avLst/>
          </a:prstGeom>
          <a:solidFill>
            <a:srgbClr val="5AA17A"/>
          </a:solidFill>
          <a:ln/>
        </p:spPr>
      </p:sp>
      <p:sp>
        <p:nvSpPr>
          <p:cNvPr id="21" name="Shape 19"/>
          <p:cNvSpPr/>
          <p:nvPr/>
        </p:nvSpPr>
        <p:spPr>
          <a:xfrm>
            <a:off x="6967728" y="3657600"/>
            <a:ext cx="4657039" cy="621792"/>
          </a:xfrm>
          <a:prstGeom prst="roundRect">
            <a:avLst>
              <a:gd name="adj" fmla="val 11765"/>
            </a:avLst>
          </a:prstGeom>
          <a:solidFill>
            <a:srgbClr val="222C3B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42048" y="3657600"/>
            <a:ext cx="41083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711696" y="3895344"/>
            <a:ext cx="146304" cy="146304"/>
          </a:xfrm>
          <a:prstGeom prst="ellipse">
            <a:avLst/>
          </a:prstGeom>
          <a:solidFill>
            <a:srgbClr val="E8B36B"/>
          </a:solidFill>
          <a:ln/>
        </p:spPr>
      </p:sp>
      <p:sp>
        <p:nvSpPr>
          <p:cNvPr id="24" name="Shape 22"/>
          <p:cNvSpPr/>
          <p:nvPr/>
        </p:nvSpPr>
        <p:spPr>
          <a:xfrm>
            <a:off x="6967728" y="4434840"/>
            <a:ext cx="4657039" cy="621792"/>
          </a:xfrm>
          <a:prstGeom prst="roundRect">
            <a:avLst>
              <a:gd name="adj" fmla="val 11765"/>
            </a:avLst>
          </a:prstGeom>
          <a:solidFill>
            <a:srgbClr val="222C3B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42048" y="4434840"/>
            <a:ext cx="41083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todos os pedidos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711696" y="4672584"/>
            <a:ext cx="146304" cy="146304"/>
          </a:xfrm>
          <a:prstGeom prst="ellipse">
            <a:avLst/>
          </a:prstGeom>
          <a:solidFill>
            <a:srgbClr val="E8B36B"/>
          </a:solidFill>
          <a:ln/>
        </p:spPr>
      </p:sp>
      <p:sp>
        <p:nvSpPr>
          <p:cNvPr id="27" name="Shape 25"/>
          <p:cNvSpPr/>
          <p:nvPr/>
        </p:nvSpPr>
        <p:spPr>
          <a:xfrm>
            <a:off x="3767328" y="2697480"/>
            <a:ext cx="2926080" cy="-283464"/>
          </a:xfrm>
          <a:prstGeom prst="line">
            <a:avLst/>
          </a:prstGeom>
          <a:noFill/>
          <a:ln w="19050">
            <a:solidFill>
              <a:srgbClr val="5AA17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767328" y="2697480"/>
            <a:ext cx="2926080" cy="493776"/>
          </a:xfrm>
          <a:prstGeom prst="line">
            <a:avLst/>
          </a:prstGeom>
          <a:noFill/>
          <a:ln w="19050">
            <a:solidFill>
              <a:srgbClr val="5AA17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767328" y="4251960"/>
            <a:ext cx="2926080" cy="-283464"/>
          </a:xfrm>
          <a:prstGeom prst="line">
            <a:avLst/>
          </a:prstGeom>
          <a:noFill/>
          <a:ln w="19050">
            <a:solidFill>
              <a:srgbClr val="E8B36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767328" y="4251960"/>
            <a:ext cx="2926080" cy="493776"/>
          </a:xfrm>
          <a:prstGeom prst="line">
            <a:avLst/>
          </a:prstGeom>
          <a:noFill/>
          <a:ln w="19050">
            <a:solidFill>
              <a:srgbClr val="E8B36B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566928" y="56235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B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→ só recursos próprios (posse). Admin → todos. Hoje /admin está apenas 'authenticated' — deveria exigir hasRole('ADMIN') (Lab 3.5).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privilégio &amp; negar por padrão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5300320" cy="3291840"/>
          </a:xfrm>
          <a:prstGeom prst="roundRect">
            <a:avLst>
              <a:gd name="adj" fmla="val 2222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2377440"/>
            <a:ext cx="475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PRIVILÉGIO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743200"/>
            <a:ext cx="473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usuário (e serviço) recebe só as permissões estritamente necessárias — nada além.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3794760"/>
            <a:ext cx="475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o raio de dano de uma conta comprometida</a:t>
            </a:r>
            <a:endParaRPr lang="en-US" sz="13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enxutos, revisados periodicamente</a:t>
            </a:r>
            <a:endParaRPr lang="en-US" sz="13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'admin por conveniência'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24448" y="2103120"/>
            <a:ext cx="5300320" cy="3291840"/>
          </a:xfrm>
          <a:prstGeom prst="roundRect">
            <a:avLst>
              <a:gd name="adj" fmla="val 2222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17056" y="2377440"/>
            <a:ext cx="475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NEGAR POR PADRÃO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17056" y="2743200"/>
            <a:ext cx="473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 é bloquear. Só o que é explicitamente liberado passa — o resto cai em 'authenticated/denied'.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17056" y="3794760"/>
            <a:ext cx="4715104" cy="1371600"/>
          </a:xfrm>
          <a:prstGeom prst="roundRect">
            <a:avLst>
              <a:gd name="adj" fmla="val 5333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99936" y="3922776"/>
            <a:ext cx="434934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requestMatchers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("/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/**")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hasRole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anyRequest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authenticated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resto: exige login (deny)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291840"/>
            <a:ext cx="5486400" cy="5486400"/>
          </a:xfrm>
          <a:prstGeom prst="ellipse">
            <a:avLst/>
          </a:prstGeom>
          <a:ln w="19050">
            <a:solidFill>
              <a:srgbClr val="2E5E4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321040" y="64008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222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2860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69748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480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categoria nº 1 do OWASP Top 10 (A01:2021). Três formas que você precisa reconhecer.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2148840"/>
            <a:ext cx="146304" cy="146304"/>
          </a:xfrm>
          <a:prstGeom prst="ellipse">
            <a:avLst/>
          </a:prstGeom>
          <a:solidFill>
            <a:srgbClr val="7FD3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A01:2021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 em números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 · PANORAMA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94560"/>
            <a:ext cx="3442106" cy="2194560"/>
          </a:xfrm>
          <a:prstGeom prst="roundRect">
            <a:avLst>
              <a:gd name="adj" fmla="val 3333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41248" y="2514600"/>
            <a:ext cx="28934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520440"/>
            <a:ext cx="28934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do OWASP Top 10 (2021)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74794" y="2194560"/>
            <a:ext cx="3442106" cy="2194560"/>
          </a:xfrm>
          <a:prstGeom prst="roundRect">
            <a:avLst>
              <a:gd name="adj" fmla="val 3333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49114" y="2514600"/>
            <a:ext cx="28934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5200" dirty="0"/>
          </a:p>
        </p:txBody>
      </p:sp>
      <p:sp>
        <p:nvSpPr>
          <p:cNvPr id="12" name="Text 10"/>
          <p:cNvSpPr txBox="1"/>
          <p:nvPr/>
        </p:nvSpPr>
        <p:spPr>
          <a:xfrm>
            <a:off x="4649114" y="3520440"/>
            <a:ext cx="28934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aplicações testadas tinham alguma forma de BAC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82661" y="2194560"/>
            <a:ext cx="3442106" cy="2194560"/>
          </a:xfrm>
          <a:prstGeom prst="roundRect">
            <a:avLst>
              <a:gd name="adj" fmla="val 3333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56981" y="2514600"/>
            <a:ext cx="28934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</a:t>
            </a:r>
            <a:endParaRPr lang="en-US" sz="5200" dirty="0"/>
          </a:p>
        </p:txBody>
      </p:sp>
      <p:sp>
        <p:nvSpPr>
          <p:cNvPr id="15" name="Text 13"/>
          <p:cNvSpPr txBox="1"/>
          <p:nvPr/>
        </p:nvSpPr>
        <p:spPr>
          <a:xfrm>
            <a:off x="8456981" y="3520440"/>
            <a:ext cx="28934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da categoria — subiu do 5º lugar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663440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222C3B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6968" y="4809744"/>
            <a:ext cx="104177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lidera? Controle de acesso é lógica de negócio espalhada por muitos pontos — basta esquecer um. Ferramentas automáticas raramente pegam: exige revisão e testes por rota/objeto.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formas de Broken Access Control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 · FORMAS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3442106" cy="3383280"/>
          </a:xfrm>
          <a:prstGeom prst="roundRect">
            <a:avLst>
              <a:gd name="adj" fmla="val 2162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432304"/>
            <a:ext cx="256032" cy="256032"/>
          </a:xfrm>
          <a:prstGeom prst="ellipse">
            <a:avLst/>
          </a:prstGeom>
          <a:solidFill>
            <a:srgbClr val="E0796B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2377440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E079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25296" y="237744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816352"/>
            <a:ext cx="28934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direta a objeto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3520440"/>
            <a:ext cx="293918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 recurso por id sem checar posse</a:t>
            </a:r>
            <a:endParaRPr lang="en-US" sz="13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o número na URL</a:t>
            </a:r>
            <a:endParaRPr lang="en-US" sz="13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/pedidos/2 sem ser o dono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74794" y="2103120"/>
            <a:ext cx="3442106" cy="3383280"/>
          </a:xfrm>
          <a:prstGeom prst="roundRect">
            <a:avLst>
              <a:gd name="adj" fmla="val 2162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49114" y="2432304"/>
            <a:ext cx="256032" cy="256032"/>
          </a:xfrm>
          <a:prstGeom prst="ellipse">
            <a:avLst/>
          </a:prstGeom>
          <a:solidFill>
            <a:srgbClr val="E8B36B"/>
          </a:solidFill>
          <a:ln/>
        </p:spPr>
      </p:sp>
      <p:sp>
        <p:nvSpPr>
          <p:cNvPr id="15" name="Shape 13"/>
          <p:cNvSpPr/>
          <p:nvPr/>
        </p:nvSpPr>
        <p:spPr>
          <a:xfrm>
            <a:off x="5033162" y="237744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8B3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33162" y="23774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649114" y="2816352"/>
            <a:ext cx="28934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649114" y="3520440"/>
            <a:ext cx="293918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Vertical: user → admin</a:t>
            </a:r>
            <a:endParaRPr lang="en-US" sz="13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Horizontal: user → outro user</a:t>
            </a:r>
            <a:endParaRPr lang="en-US" sz="13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forjada em token não verificado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82661" y="2103120"/>
            <a:ext cx="3442106" cy="3383280"/>
          </a:xfrm>
          <a:prstGeom prst="roundRect">
            <a:avLst>
              <a:gd name="adj" fmla="val 2162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56981" y="2432304"/>
            <a:ext cx="256032" cy="256032"/>
          </a:xfrm>
          <a:prstGeom prst="ellipse">
            <a:avLst/>
          </a:prstGeom>
          <a:solidFill>
            <a:srgbClr val="7FD3A6"/>
          </a:solidFill>
          <a:ln/>
        </p:spPr>
      </p:sp>
      <p:sp>
        <p:nvSpPr>
          <p:cNvPr id="21" name="Shape 19"/>
          <p:cNvSpPr/>
          <p:nvPr/>
        </p:nvSpPr>
        <p:spPr>
          <a:xfrm>
            <a:off x="8841029" y="2377440"/>
            <a:ext cx="1229868" cy="274320"/>
          </a:xfrm>
          <a:prstGeom prst="roundRect">
            <a:avLst>
              <a:gd name="adj" fmla="val 50000"/>
            </a:avLst>
          </a:prstGeom>
          <a:solidFill>
            <a:srgbClr val="7FD3A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841029" y="2377440"/>
            <a:ext cx="1229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BROWSING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456981" y="2816352"/>
            <a:ext cx="28934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não linkadas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456981" y="3520440"/>
            <a:ext cx="293918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URLs 'escondidas'</a:t>
            </a:r>
            <a:endParaRPr lang="en-US" sz="13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de API sem UI</a:t>
            </a:r>
            <a:endParaRPr lang="en-US" sz="13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'Não tem link' não é proteção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66928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B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 temos as três: /pedidos/{id} (IDOR/horizontal), /admin (vertical) e endpoints de API acessíveis direto.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Direct Object Reference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 · IDOR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7452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aplicação expõe uma referência direta a um objeto (um id) e usa esse id para buscar o recurso — sem verificar se ele pertence a quem pediu. Basta trocar o número.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66928" y="2834640"/>
            <a:ext cx="11057839" cy="2286000"/>
          </a:xfrm>
          <a:prstGeom prst="roundRect">
            <a:avLst>
              <a:gd name="adj" fmla="val 3200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3017520"/>
            <a:ext cx="10509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URL vira o controle de acesso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3474720"/>
            <a:ext cx="10326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/pedidos/1</a:t>
            </a:r>
            <a:pPr indent="0" marL="0">
              <a:buNone/>
            </a:pPr>
            <a:r>
              <a:rPr lang="en-US" sz="17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meu pedido        </a:t>
            </a:r>
            <a:pPr indent="0" marL="0">
              <a:buNone/>
            </a:pPr>
            <a:r>
              <a:rPr lang="en-US" sz="17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3977640"/>
            <a:ext cx="10326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/pedidos/2</a:t>
            </a:r>
            <a:pPr indent="0" marL="0">
              <a:buNone/>
            </a:pPr>
            <a:r>
              <a:rPr lang="en-US" sz="17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pedido de OUTRO   </a:t>
            </a:r>
            <a:pPr indent="0" marL="0">
              <a:buNone/>
            </a:pPr>
            <a:r>
              <a:rPr lang="en-US" sz="1700" b="1" dirty="0">
                <a:solidFill>
                  <a:srgbClr val="E07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  ✗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4526280"/>
            <a:ext cx="103263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servidor nunca perguntou: este pedido é do usuário logado?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· ANTES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Vulnerável — busca só pelo id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 · IDOR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57400"/>
            <a:ext cx="3472586" cy="1417320"/>
          </a:xfrm>
          <a:prstGeom prst="roundRect">
            <a:avLst>
              <a:gd name="adj" fmla="val 5161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368296"/>
            <a:ext cx="3106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(cliente 1)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834640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logado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39514" y="2766060"/>
            <a:ext cx="320040" cy="0"/>
          </a:xfrm>
          <a:prstGeom prst="line">
            <a:avLst/>
          </a:prstGeom>
          <a:noFill/>
          <a:ln w="22225">
            <a:solidFill>
              <a:srgbClr val="AEB7C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59554" y="2057400"/>
            <a:ext cx="3472586" cy="1417320"/>
          </a:xfrm>
          <a:prstGeom prst="roundRect">
            <a:avLst>
              <a:gd name="adj" fmla="val 5161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42434" y="2368296"/>
            <a:ext cx="3106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/pedidos/2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42434" y="2834640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(pedido da Globex)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32141" y="2766060"/>
            <a:ext cx="320040" cy="0"/>
          </a:xfrm>
          <a:prstGeom prst="line">
            <a:avLst/>
          </a:prstGeom>
          <a:noFill/>
          <a:ln w="22225">
            <a:solidFill>
              <a:srgbClr val="AEB7C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52181" y="2057400"/>
            <a:ext cx="3472586" cy="1417320"/>
          </a:xfrm>
          <a:prstGeom prst="roundRect">
            <a:avLst>
              <a:gd name="adj" fmla="val 5161"/>
            </a:avLst>
          </a:prstGeom>
          <a:solidFill>
            <a:srgbClr val="3A2430"/>
          </a:solidFill>
          <a:ln w="12700">
            <a:solidFill>
              <a:srgbClr val="E079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35061" y="2368296"/>
            <a:ext cx="3106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35061" y="2834640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 alheios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794760"/>
            <a:ext cx="11057839" cy="2148840"/>
          </a:xfrm>
          <a:prstGeom prst="roundRect">
            <a:avLst>
              <a:gd name="adj" fmla="val 3404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886200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VULNERÁVEL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69664"/>
            <a:ext cx="10728655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" y="4233672"/>
            <a:ext cx="1069207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PedidoController (baseline) — NENHUMA checagem de posse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B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@GetMapping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("/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/{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}")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(@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PathVariable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pedidoRepository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findById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06000"/>
              </a:lnSpc>
              <a:buNone/>
            </a:pPr>
            <a:r>
              <a:rPr lang="en-US" sz="125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acha por id...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orElseThrow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</a:t>
            </a:r>
            <a:pPr algn="l" indent="0" marL="0">
              <a:lnSpc>
                <a:spcPct val="106000"/>
              </a:lnSpc>
              <a:buNone/>
            </a:pPr>
            <a:r>
              <a:rPr lang="en-US" sz="125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...e devolve p/ qualquer um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addAttribute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"pedidos/detalhe"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· DEPOIS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Corrigido — autorização por objeto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 · IDOR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57400"/>
            <a:ext cx="3472586" cy="1417320"/>
          </a:xfrm>
          <a:prstGeom prst="roundRect">
            <a:avLst>
              <a:gd name="adj" fmla="val 5161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368296"/>
            <a:ext cx="3106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(cliente 1)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834640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logado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39514" y="2766060"/>
            <a:ext cx="320040" cy="0"/>
          </a:xfrm>
          <a:prstGeom prst="line">
            <a:avLst/>
          </a:prstGeom>
          <a:noFill/>
          <a:ln w="22225">
            <a:solidFill>
              <a:srgbClr val="5AA17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59554" y="2057400"/>
            <a:ext cx="3472586" cy="1417320"/>
          </a:xfrm>
          <a:prstGeom prst="roundRect">
            <a:avLst>
              <a:gd name="adj" fmla="val 5161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42434" y="2368296"/>
            <a:ext cx="3106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pedido.clienteId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42434" y="2834640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usuário?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32141" y="2766060"/>
            <a:ext cx="320040" cy="0"/>
          </a:xfrm>
          <a:prstGeom prst="line">
            <a:avLst/>
          </a:prstGeom>
          <a:noFill/>
          <a:ln w="22225">
            <a:solidFill>
              <a:srgbClr val="5AA17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52181" y="2057400"/>
            <a:ext cx="3472586" cy="1417320"/>
          </a:xfrm>
          <a:prstGeom prst="roundRect">
            <a:avLst>
              <a:gd name="adj" fmla="val 5161"/>
            </a:avLst>
          </a:prstGeom>
          <a:solidFill>
            <a:srgbClr val="1B2330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35061" y="2368296"/>
            <a:ext cx="3106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Forbidden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35061" y="2834640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não é o dono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794760"/>
            <a:ext cx="11057839" cy="2148840"/>
          </a:xfrm>
          <a:prstGeom prst="roundRect">
            <a:avLst>
              <a:gd name="adj" fmla="val 3404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886200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CORRIGIDO — Lab 3.2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69664"/>
            <a:ext cx="10728655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" y="4233672"/>
            <a:ext cx="1069207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PedidoService — a regra de posse fica em UM lugar (ReBAC)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porIdDoCliente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clienteId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pedidoRepository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findById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orElseThrow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ResponseStatusException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NOT_FOUND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(!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getClienteId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equals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clienteId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algn="l" indent="0" marL="0">
              <a:lnSpc>
                <a:spcPct val="106000"/>
              </a:lnSpc>
              <a:buNone/>
            </a:pPr>
            <a:r>
              <a:rPr lang="en-US" sz="125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este objeto e dele?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AccessDeniedException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nao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pertence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· PROVA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Reproduzindo o ataque na API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 · IDOR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7452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3.1 — comprovar o IDOR antes de corrigir (postura ofensiva). Mesmo com um token válido de João, o id 2 não deveria ser acessível.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2606040"/>
            <a:ext cx="11057839" cy="2286000"/>
          </a:xfrm>
          <a:prstGeom prst="roundRect">
            <a:avLst>
              <a:gd name="adj" fmla="val 3200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697480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980944"/>
            <a:ext cx="10728655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044952"/>
            <a:ext cx="1069207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como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Joao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captura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'Content-Type: application/json'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'{"email":"joao@acme.com","senha":"senha123"}'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jq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tenta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ler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Globex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Joao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"Authorization: Bearer $TOKEN"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alheio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IDOR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corrigido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Forbidden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0749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B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corrigir, o mesmo comando deve retornar 403 — e há teste automatizado provando isso.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ESCALADA DE PRIVILÉGIO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× Horizontal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 · ESCALADA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48840"/>
            <a:ext cx="5300320" cy="3200400"/>
          </a:xfrm>
          <a:prstGeom prst="roundRect">
            <a:avLst>
              <a:gd name="adj" fmla="val 2286"/>
            </a:avLst>
          </a:prstGeom>
          <a:solidFill>
            <a:srgbClr val="1B2330"/>
          </a:solidFill>
          <a:ln w="12700">
            <a:solidFill>
              <a:srgbClr val="E8B3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2423160"/>
            <a:ext cx="475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 (USER → ADMIN)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807208"/>
            <a:ext cx="473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Ganha permissões de um nível maior do que deveria.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3520440"/>
            <a:ext cx="475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comum abre /admin</a:t>
            </a:r>
            <a:endParaRPr lang="en-US" sz="13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ADMIN forjada num JWT não verificado</a:t>
            </a:r>
            <a:endParaRPr lang="en-US" sz="13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de admin sem checagem de papel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24448" y="2148840"/>
            <a:ext cx="5300320" cy="3200400"/>
          </a:xfrm>
          <a:prstGeom prst="roundRect">
            <a:avLst>
              <a:gd name="adj" fmla="val 2286"/>
            </a:avLst>
          </a:prstGeom>
          <a:solidFill>
            <a:srgbClr val="1B2330"/>
          </a:solidFill>
          <a:ln w="12700">
            <a:solidFill>
              <a:srgbClr val="E079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17056" y="2423160"/>
            <a:ext cx="475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 (USER → OUTRO USER)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17056" y="2807208"/>
            <a:ext cx="473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 dados de outro usuário do mesmo nível.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617056" y="3520440"/>
            <a:ext cx="475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próprio IDOR: /pedidos/{id} alheio</a:t>
            </a:r>
            <a:endParaRPr lang="en-US" sz="13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Ver/editar o perfil de outro cliente</a:t>
            </a:r>
            <a:endParaRPr lang="en-US" sz="13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Baixar comprovante de outra conta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VETORES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browsing &amp; mass assignment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 · VETORES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48840"/>
            <a:ext cx="5300320" cy="3200400"/>
          </a:xfrm>
          <a:prstGeom prst="roundRect">
            <a:avLst>
              <a:gd name="adj" fmla="val 2286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2423160"/>
            <a:ext cx="475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BROWSING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807208"/>
            <a:ext cx="473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rotas que existem mas não têm link na interface — a ausência de link não é controle.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59536" y="3749040"/>
            <a:ext cx="4715104" cy="1280160"/>
          </a:xfrm>
          <a:prstGeom prst="roundRect">
            <a:avLst>
              <a:gd name="adj" fmla="val 5714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2416" y="3877056"/>
            <a:ext cx="434934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endpoint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direto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actuator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exposto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24448" y="2148840"/>
            <a:ext cx="5300320" cy="3200400"/>
          </a:xfrm>
          <a:prstGeom prst="roundRect">
            <a:avLst>
              <a:gd name="adj" fmla="val 2286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17056" y="2423160"/>
            <a:ext cx="475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ASSIGNMENT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617056" y="2807208"/>
            <a:ext cx="473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envia campos que não deveria controlar — e o bind aceita, sobrescrevendo dados sensíveis.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17056" y="3749040"/>
            <a:ext cx="4715104" cy="1280160"/>
          </a:xfrm>
          <a:prstGeom prst="roundRect">
            <a:avLst>
              <a:gd name="adj" fmla="val 5714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99936" y="3877056"/>
            <a:ext cx="434934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pedido enviado pelo cliente: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"item"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"X"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"clienteId"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"ADMIN"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&lt;- nao confie!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PADRÃO-CHAVE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Object-level authorization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 · OBJETO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7452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de 'está logado?' e 'tem o papel?', falta a pergunta decisiva: este objeto é dele? É a causa nº 1 de vazamento em APIs REST.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66928" y="2743200"/>
            <a:ext cx="3472586" cy="868680"/>
          </a:xfrm>
          <a:prstGeom prst="roundRect">
            <a:avLst>
              <a:gd name="adj" fmla="val 8421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2889504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Autenticado?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3246120"/>
            <a:ext cx="3015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crachá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59554" y="2743200"/>
            <a:ext cx="3472586" cy="868680"/>
          </a:xfrm>
          <a:prstGeom prst="roundRect">
            <a:avLst>
              <a:gd name="adj" fmla="val 8421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88154" y="2889504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Tem o papel?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88154" y="3246120"/>
            <a:ext cx="3015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52181" y="2743200"/>
            <a:ext cx="3472586" cy="868680"/>
          </a:xfrm>
          <a:prstGeom prst="roundRect">
            <a:avLst>
              <a:gd name="adj" fmla="val 8421"/>
            </a:avLst>
          </a:prstGeom>
          <a:solidFill>
            <a:srgbClr val="1B2330"/>
          </a:solidFill>
          <a:ln w="12700">
            <a:solidFill>
              <a:srgbClr val="E8B3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80781" y="2889504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É o dono?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80781" y="3246120"/>
            <a:ext cx="3015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ReBAC / posse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3886200"/>
            <a:ext cx="11057839" cy="1828800"/>
          </a:xfrm>
          <a:prstGeom prst="roundRect">
            <a:avLst>
              <a:gd name="adj" fmla="val 4000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977640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anti-IDOR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4261104"/>
            <a:ext cx="10728655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325112"/>
            <a:ext cx="1069207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 duas frentes da correcao — escolha uma (ou reforce com ambas)</a:t>
            </a: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(!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getClienteId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equals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clienteAtual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Service</a:t>
            </a: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AccessDeniedException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B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@PostAuthorize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returnObject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clienteId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principal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clienteId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anotacao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291840"/>
            <a:ext cx="5486400" cy="5486400"/>
          </a:xfrm>
          <a:prstGeom prst="ellipse">
            <a:avLst/>
          </a:prstGeom>
          <a:ln w="19050">
            <a:solidFill>
              <a:srgbClr val="2E5E4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321040" y="64008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222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2860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69748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em camadas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480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autorização precisa acontecer — e onde ela nunca deve morar.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2148840"/>
            <a:ext cx="146304" cy="146304"/>
          </a:xfrm>
          <a:prstGeom prst="ellipse">
            <a:avLst/>
          </a:prstGeom>
          <a:solidFill>
            <a:srgbClr val="7FD3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EM CAMADAS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servidor, nunca só no frontend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48840"/>
            <a:ext cx="5300320" cy="3200400"/>
          </a:xfrm>
          <a:prstGeom prst="roundRect">
            <a:avLst>
              <a:gd name="adj" fmla="val 2286"/>
            </a:avLst>
          </a:prstGeom>
          <a:solidFill>
            <a:srgbClr val="1B2330"/>
          </a:solidFill>
          <a:ln w="12700">
            <a:solidFill>
              <a:srgbClr val="E079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2423160"/>
            <a:ext cx="1161288" cy="274320"/>
          </a:xfrm>
          <a:prstGeom prst="roundRect">
            <a:avLst>
              <a:gd name="adj" fmla="val 50000"/>
            </a:avLst>
          </a:prstGeom>
          <a:solidFill>
            <a:srgbClr val="E079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9536" y="2423160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CONTROLE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2862072"/>
            <a:ext cx="473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Esconder o botão ou remover o link de /admin na tela.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9536" y="3749040"/>
            <a:ext cx="4715104" cy="1280160"/>
          </a:xfrm>
          <a:prstGeom prst="roundRect">
            <a:avLst>
              <a:gd name="adj" fmla="val 5714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42416" y="3877056"/>
            <a:ext cx="434934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--&gt;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isAdmin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}"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="/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Painel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continua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acessivel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--&gt;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24448" y="2148840"/>
            <a:ext cx="5300320" cy="3200400"/>
          </a:xfrm>
          <a:prstGeom prst="roundRect">
            <a:avLst>
              <a:gd name="adj" fmla="val 2286"/>
            </a:avLst>
          </a:prstGeom>
          <a:solidFill>
            <a:srgbClr val="1B2330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17056" y="2423160"/>
            <a:ext cx="886968" cy="274320"/>
          </a:xfrm>
          <a:prstGeom prst="roundRect">
            <a:avLst>
              <a:gd name="adj" fmla="val 50000"/>
            </a:avLst>
          </a:prstGeom>
          <a:solidFill>
            <a:srgbClr val="5AA17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17056" y="2423160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CONTROLE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617056" y="2862072"/>
            <a:ext cx="473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a permissão no servidor, no ponto de acesso ao recurso.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617056" y="3749040"/>
            <a:ext cx="4715104" cy="1280160"/>
          </a:xfrm>
          <a:prstGeom prst="roundRect">
            <a:avLst>
              <a:gd name="adj" fmla="val 5714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99936" y="3877056"/>
            <a:ext cx="434934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requestMatchers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("/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/**")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hasRole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+ checagem no controller/service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 em todas as camadas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745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camada faz uma pergunta diferente. Juntas, formam a defesa em profundidade.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2606040"/>
            <a:ext cx="11057839" cy="1051560"/>
          </a:xfrm>
          <a:prstGeom prst="roundRect">
            <a:avLst>
              <a:gd name="adj" fmla="val 6957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935224"/>
            <a:ext cx="402336" cy="402336"/>
          </a:xfrm>
          <a:prstGeom prst="ellipse">
            <a:avLst/>
          </a:prstGeom>
          <a:solidFill>
            <a:srgbClr val="5AA1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2935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2788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(SecurityFilterChain)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3172968"/>
            <a:ext cx="98691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URL exige login? Qual papel?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1167567" y="3063240"/>
            <a:ext cx="164592" cy="164592"/>
          </a:xfrm>
          <a:prstGeom prst="ellipse">
            <a:avLst/>
          </a:prstGeom>
          <a:solidFill>
            <a:srgbClr val="5AA17A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3822192"/>
            <a:ext cx="11057839" cy="1051560"/>
          </a:xfrm>
          <a:prstGeom prst="roundRect">
            <a:avLst>
              <a:gd name="adj" fmla="val 6957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4151376"/>
            <a:ext cx="402336" cy="402336"/>
          </a:xfrm>
          <a:prstGeom prst="ellipse">
            <a:avLst/>
          </a:prstGeom>
          <a:solidFill>
            <a:srgbClr val="7FD3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" y="4151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40050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(@PreAuthorize)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4389120"/>
            <a:ext cx="98691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chama tem o papel para esta operação?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1167567" y="4279392"/>
            <a:ext cx="164592" cy="164592"/>
          </a:xfrm>
          <a:prstGeom prst="ellipse">
            <a:avLst/>
          </a:prstGeom>
          <a:solidFill>
            <a:srgbClr val="7FD3A6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5038344"/>
            <a:ext cx="11057839" cy="1051560"/>
          </a:xfrm>
          <a:prstGeom prst="roundRect">
            <a:avLst>
              <a:gd name="adj" fmla="val 6957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5367528"/>
            <a:ext cx="402336" cy="402336"/>
          </a:xfrm>
          <a:prstGeom prst="ellipse">
            <a:avLst/>
          </a:prstGeom>
          <a:solidFill>
            <a:srgbClr val="E8B36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1248" y="5367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81328" y="522122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(Service / @PostAuthorize)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481328" y="5605272"/>
            <a:ext cx="98691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recurso específico é do usuário?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1167567" y="5495544"/>
            <a:ext cx="164592" cy="164592"/>
          </a:xfrm>
          <a:prstGeom prst="ellipse">
            <a:avLst/>
          </a:prstGeom>
          <a:solidFill>
            <a:srgbClr val="E8B36B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ARMADILHAS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comuns de autorização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5346040" cy="1417320"/>
          </a:xfrm>
          <a:prstGeom prst="roundRect">
            <a:avLst>
              <a:gd name="adj" fmla="val 5161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35915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3A2430"/>
          </a:solidFill>
          <a:ln w="12700">
            <a:solidFill>
              <a:srgbClr val="E079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89888" y="2340864"/>
            <a:ext cx="429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Confiar em campo do cliente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89888" y="2724912"/>
            <a:ext cx="429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role: ADMIN de um JWT sem verificar a assinatura.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78728" y="2103120"/>
            <a:ext cx="5346040" cy="1417320"/>
          </a:xfrm>
          <a:prstGeom prst="roundRect">
            <a:avLst>
              <a:gd name="adj" fmla="val 5161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4760" y="235915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3A2430"/>
          </a:solidFill>
          <a:ln w="12700">
            <a:solidFill>
              <a:srgbClr val="E079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476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101688" y="2340864"/>
            <a:ext cx="429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Cobrir só algumas rotas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7101688" y="2724912"/>
            <a:ext cx="429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a web e esquecer a API, o export ou o admin.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3703320"/>
            <a:ext cx="5346040" cy="1417320"/>
          </a:xfrm>
          <a:prstGeom prst="roundRect">
            <a:avLst>
              <a:gd name="adj" fmla="val 5161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95935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3A2430"/>
          </a:solidFill>
          <a:ln w="12700">
            <a:solidFill>
              <a:srgbClr val="E079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389888" y="3941064"/>
            <a:ext cx="429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Cachear a decisão de acesso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1389888" y="4325112"/>
            <a:ext cx="429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Reutilizar 'pode' fora do contexto original.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78728" y="3703320"/>
            <a:ext cx="5346040" cy="1417320"/>
          </a:xfrm>
          <a:prstGeom prst="roundRect">
            <a:avLst>
              <a:gd name="adj" fmla="val 5161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34760" y="395935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3A2430"/>
          </a:solidFill>
          <a:ln w="12700">
            <a:solidFill>
              <a:srgbClr val="E0796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3476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101688" y="3941064"/>
            <a:ext cx="429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esconder na UI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7101688" y="4325112"/>
            <a:ext cx="429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o link, mas deixar a rota acessível.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acertar a autorização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E5E43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093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2103120"/>
            <a:ext cx="10417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Negue por padrão; libere explicitamente o necessário.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66928" y="267004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E5E43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2660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670048"/>
            <a:ext cx="10417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no servidor, em todo ponto de acesso ao recurso.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66928" y="323697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E5E43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3236976"/>
            <a:ext cx="10417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as três perguntas: autenticado? tem o papel? é o dono?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66928" y="380390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E5E43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3803904"/>
            <a:ext cx="10417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Concentre a regra de posse em um lugar (Service).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66928" y="437083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E5E43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4361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" y="4370832"/>
            <a:ext cx="10417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Cubra todas as superfícies: web, API, export, admin.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566928" y="49377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E5E43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4928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" y="4937760"/>
            <a:ext cx="10417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testes: 200 para o dono, 403 para o intruso.</a:t>
            </a:r>
            <a:endParaRPr lang="en-US" sz="15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291840"/>
            <a:ext cx="5486400" cy="5486400"/>
          </a:xfrm>
          <a:prstGeom prst="ellipse">
            <a:avLst/>
          </a:prstGeom>
          <a:ln w="19050">
            <a:solidFill>
              <a:srgbClr val="2E5E4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321040" y="64008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222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2860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69748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aplicado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480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cadeia de filtros ao method security — como o framework aplica autenticação e autorização.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2148840"/>
            <a:ext cx="146304" cy="146304"/>
          </a:xfrm>
          <a:prstGeom prst="ellipse">
            <a:avLst/>
          </a:prstGeom>
          <a:solidFill>
            <a:srgbClr val="7FD3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cadeia de filtros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requisição atravessa uma SecurityFilterChain antes de chegar ao controller.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2514600"/>
            <a:ext cx="2006742" cy="1005840"/>
          </a:xfrm>
          <a:prstGeom prst="roundRect">
            <a:avLst>
              <a:gd name="adj" fmla="val 7273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514600"/>
            <a:ext cx="18238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Requisição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73670" y="3017520"/>
            <a:ext cx="256032" cy="0"/>
          </a:xfrm>
          <a:prstGeom prst="line">
            <a:avLst/>
          </a:prstGeom>
          <a:noFill/>
          <a:ln w="19050">
            <a:solidFill>
              <a:srgbClr val="AEB7C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29702" y="2514600"/>
            <a:ext cx="2006742" cy="1005840"/>
          </a:xfrm>
          <a:prstGeom prst="roundRect">
            <a:avLst>
              <a:gd name="adj" fmla="val 7273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21142" y="2514600"/>
            <a:ext cx="18238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36444" y="3017520"/>
            <a:ext cx="256032" cy="0"/>
          </a:xfrm>
          <a:prstGeom prst="line">
            <a:avLst/>
          </a:prstGeom>
          <a:noFill/>
          <a:ln w="19050">
            <a:solidFill>
              <a:srgbClr val="AEB7C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92476" y="2514600"/>
            <a:ext cx="2006742" cy="1005840"/>
          </a:xfrm>
          <a:prstGeom prst="roundRect">
            <a:avLst>
              <a:gd name="adj" fmla="val 7273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83916" y="2514600"/>
            <a:ext cx="18238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99219" y="3017520"/>
            <a:ext cx="256032" cy="0"/>
          </a:xfrm>
          <a:prstGeom prst="line">
            <a:avLst/>
          </a:prstGeom>
          <a:noFill/>
          <a:ln w="19050">
            <a:solidFill>
              <a:srgbClr val="AEB7C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55251" y="2514600"/>
            <a:ext cx="2006742" cy="1005840"/>
          </a:xfrm>
          <a:prstGeom prst="roundRect">
            <a:avLst>
              <a:gd name="adj" fmla="val 7273"/>
            </a:avLst>
          </a:prstGeom>
          <a:solidFill>
            <a:srgbClr val="1B2330"/>
          </a:solidFill>
          <a:ln w="12700">
            <a:solidFill>
              <a:srgbClr val="E8B3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46691" y="2514600"/>
            <a:ext cx="18238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(hasRole/posse)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361993" y="3017520"/>
            <a:ext cx="256032" cy="0"/>
          </a:xfrm>
          <a:prstGeom prst="line">
            <a:avLst/>
          </a:prstGeom>
          <a:noFill/>
          <a:ln w="19050">
            <a:solidFill>
              <a:srgbClr val="AEB7C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18025" y="2514600"/>
            <a:ext cx="2006742" cy="1005840"/>
          </a:xfrm>
          <a:prstGeom prst="roundRect">
            <a:avLst>
              <a:gd name="adj" fmla="val 7273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09465" y="2514600"/>
            <a:ext cx="18238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3840480"/>
            <a:ext cx="11057839" cy="1691640"/>
          </a:xfrm>
          <a:prstGeom prst="roundRect">
            <a:avLst>
              <a:gd name="adj" fmla="val 4324"/>
            </a:avLst>
          </a:prstGeom>
          <a:solidFill>
            <a:srgbClr val="222C3B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6968" y="4023360"/>
            <a:ext cx="104177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UserDetailsService — carrega o usuário (e-mail, hash, papéis) do banco.</a:t>
            </a:r>
            <a:endParaRPr lang="en-US" sz="14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PasswordEncoder — verifica a senha contra o hash (BCrypt).</a:t>
            </a:r>
            <a:endParaRPr lang="en-US" sz="14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authorizeHttpRequests — decide o acesso por rota; method security reforça no método/objeto.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por rota na SecurityFilterChain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965960"/>
            <a:ext cx="11057839" cy="2788920"/>
          </a:xfrm>
          <a:prstGeom prst="roundRect">
            <a:avLst>
              <a:gd name="adj" fmla="val 2623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057400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SecurityConfig.java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340864"/>
            <a:ext cx="10728655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404872"/>
            <a:ext cx="10692079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B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</a:t>
            </a: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SecurityFilterChain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HttpSecurity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throws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authorizeHttpRequests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requestMatchers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("/",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"/login"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"/produtos"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permitAll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requestMatchers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("/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/**").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hasRole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Lab 3.5</a:t>
            </a: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requestMatchers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("/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/**").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authenticated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+ posse no service</a:t>
            </a: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anyRequest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authenticated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</a:t>
            </a:r>
            <a:pPr algn="l" indent="0" marL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deny-by-default</a:t>
            </a: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formLogin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Customizer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withDefaults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93776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B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importa: os matchers são avaliados de cima para baixo; o primeiro que casa vence. Coloque as regras específicas antes das genéricas e feche com anyRequest().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UserDetailsService &amp; PasswordEncoder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965960"/>
            <a:ext cx="5346040" cy="2926080"/>
          </a:xfrm>
          <a:prstGeom prst="roundRect">
            <a:avLst>
              <a:gd name="adj" fmla="val 2500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057400"/>
            <a:ext cx="501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carrega o usuário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340864"/>
            <a:ext cx="5016856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404872"/>
            <a:ext cx="498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B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@Service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UserDetailsService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UserDetails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loadUserByUsername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){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findByEmail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orElseThrow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UsernameNotFoundException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withUsername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getEmail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getSenha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hash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roles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getRole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78728" y="1965960"/>
            <a:ext cx="5346040" cy="2926080"/>
          </a:xfrm>
          <a:prstGeom prst="roundRect">
            <a:avLst>
              <a:gd name="adj" fmla="val 2500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3320" y="2057400"/>
            <a:ext cx="501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 a senha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43320" y="2340864"/>
            <a:ext cx="5016856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1608" y="2404872"/>
            <a:ext cx="498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B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PasswordEncoder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passwordEncoder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custo (work factor) padrao = 10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BCryptPasswordEncoder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login, o Spring chama: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senhaDigitada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getSenha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 se a senha bate com o hash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 FINA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security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@EnableMethodSecurity, anotações SpEL colocam a regra perto da lógica de negócio.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2468880"/>
            <a:ext cx="11057839" cy="2468880"/>
          </a:xfrm>
          <a:prstGeom prst="roundRect">
            <a:avLst>
              <a:gd name="adj" fmla="val 2963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560320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anotações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843784"/>
            <a:ext cx="10728655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907792"/>
            <a:ext cx="1069207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B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@EnableMethodSecurity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algn="l" indent="0" marL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habilita as anotacoes (na config)</a:t>
            </a: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B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@PreAuthorize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hasRole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')")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algn="l" indent="0" marL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valida ANTES de executar</a:t>
            </a: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excluir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B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@PostAuthorize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returnObject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clienteId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principal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clienteId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porId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valida o objeto RETORNADO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07492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B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@PreAuthorize corre antes (bom para papéis); @PostAuthorize inspeciona o retorno (bom para posse). Prefira concentrar a posse no Service e usar a anotação como reforço.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 CADA UM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@PreAuthorize · @PostAuthorize · @Secured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48840"/>
            <a:ext cx="3442106" cy="3108960"/>
          </a:xfrm>
          <a:prstGeom prst="roundRect">
            <a:avLst>
              <a:gd name="adj" fmla="val 2353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404872"/>
            <a:ext cx="29849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@PreAuthorize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07208"/>
            <a:ext cx="29849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executar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172968"/>
            <a:ext cx="2930042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337560"/>
            <a:ext cx="298490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 completo</a:t>
            </a:r>
            <a:endParaRPr lang="en-US" sz="13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Checar papel e argumentos</a:t>
            </a:r>
            <a:endParaRPr lang="en-US" sz="13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hasRole('ADMIN'), #id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74794" y="2148840"/>
            <a:ext cx="3442106" cy="3108960"/>
          </a:xfrm>
          <a:prstGeom prst="roundRect">
            <a:avLst>
              <a:gd name="adj" fmla="val 2353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30826" y="2404872"/>
            <a:ext cx="29849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B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@PostAuthorize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30826" y="2807208"/>
            <a:ext cx="29849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executar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30826" y="3172968"/>
            <a:ext cx="2930042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30826" y="3337560"/>
            <a:ext cx="298490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Inspeciona returnObject</a:t>
            </a:r>
            <a:endParaRPr lang="en-US" sz="13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posse</a:t>
            </a:r>
            <a:endParaRPr lang="en-US" sz="13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Cuidado: método já rodou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82661" y="2148840"/>
            <a:ext cx="3442106" cy="3108960"/>
          </a:xfrm>
          <a:prstGeom prst="roundRect">
            <a:avLst>
              <a:gd name="adj" fmla="val 2353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38693" y="2404872"/>
            <a:ext cx="29849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@Secured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438693" y="2807208"/>
            <a:ext cx="29849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— só papéis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438693" y="3172968"/>
            <a:ext cx="2930042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38693" y="3337560"/>
            <a:ext cx="298490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SpEL</a:t>
            </a:r>
            <a:endParaRPr lang="en-US" sz="13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 e legível</a:t>
            </a:r>
            <a:endParaRPr lang="en-US" sz="13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@Secured("ROLE_ADMIN")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 em regras de segurança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anotações usam Spring Expression Language — dá acesso a papéis, argumentos, ao principal e a beans.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2468880"/>
            <a:ext cx="11057839" cy="658368"/>
          </a:xfrm>
          <a:prstGeom prst="roundRect">
            <a:avLst>
              <a:gd name="adj" fmla="val 11111"/>
            </a:avLst>
          </a:prstGeom>
          <a:solidFill>
            <a:srgbClr val="222C3B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246888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hasRole('ADMIN')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059168" y="2468880"/>
            <a:ext cx="42912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o papel ROLE_ADMIN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218688"/>
            <a:ext cx="11057839" cy="658368"/>
          </a:xfrm>
          <a:prstGeom prst="roundRect">
            <a:avLst>
              <a:gd name="adj" fmla="val 11111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" y="3218688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hasAnyRole('ADMIN','GERENTE')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059168" y="3218688"/>
            <a:ext cx="42912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um dos papéis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968496"/>
            <a:ext cx="11057839" cy="658368"/>
          </a:xfrm>
          <a:prstGeom prst="roundRect">
            <a:avLst>
              <a:gd name="adj" fmla="val 11111"/>
            </a:avLst>
          </a:prstGeom>
          <a:solidFill>
            <a:srgbClr val="222C3B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3968496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#id == principal.clienteId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059168" y="3968496"/>
            <a:ext cx="42912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 comparado ao usuário logado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4718304"/>
            <a:ext cx="11057839" cy="658368"/>
          </a:xfrm>
          <a:prstGeom prst="roundRect">
            <a:avLst>
              <a:gd name="adj" fmla="val 11111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4718304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returnObject.clienteId == principal.clienteId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059168" y="4718304"/>
            <a:ext cx="42912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 do objeto retornado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658368"/>
          </a:xfrm>
          <a:prstGeom prst="roundRect">
            <a:avLst>
              <a:gd name="adj" fmla="val 11111"/>
            </a:avLst>
          </a:prstGeom>
          <a:solidFill>
            <a:srgbClr val="222C3B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546811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@usuarioService.podeVer(#id, authentication.name)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59168" y="5468112"/>
            <a:ext cx="42912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 a decisão a um bean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DO PORTAL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 concentrada no Service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965960"/>
            <a:ext cx="11057839" cy="2514600"/>
          </a:xfrm>
          <a:prstGeom prst="roundRect">
            <a:avLst>
              <a:gd name="adj" fmla="val 2909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057400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PedidoService.java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340864"/>
            <a:ext cx="10728655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404872"/>
            <a:ext cx="10692079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PedidoService — regra de posse em UM lugar (reuso web + API)</a:t>
            </a: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porIdDoCliente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clienteId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pedidoRepository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findById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orElseThrow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ResponseStatusException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NOT_FOUND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(!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getClienteId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equals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clienteId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AccessDeniedException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nao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pertence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");</a:t>
            </a: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4663440"/>
            <a:ext cx="11057839" cy="1051560"/>
          </a:xfrm>
          <a:prstGeom prst="roundRect">
            <a:avLst>
              <a:gd name="adj" fmla="val 6957"/>
            </a:avLst>
          </a:prstGeom>
          <a:solidFill>
            <a:srgbClr val="222C3B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6968" y="4809744"/>
            <a:ext cx="104177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(web e API) obtêm o clienteId do usuário autenticado e delegam ao Service. Uma única fonte de verdade para a posse — impossível 'esquecer' numa das superfícies.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Testando a autorização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correção só vale com teste: o dono acessa (200), o intruso é barrado (403).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2395728"/>
            <a:ext cx="11057839" cy="3063240"/>
          </a:xfrm>
          <a:prstGeom prst="roundRect">
            <a:avLst>
              <a:gd name="adj" fmla="val 2388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487168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IdorTest.java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770632"/>
            <a:ext cx="10728655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834640"/>
            <a:ext cx="10692079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B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@SpringBootTest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B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@AutoConfigureMockMvc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IdorTest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B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@Autowired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MockMvc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mvc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B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B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@WithUserDetails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joao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B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@acme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naoAcessaPedidoDeOutro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throws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mvc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("/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")).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andExpect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isForbidden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B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B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@WithUserDetails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joao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B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@acme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acessaProprioPedido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throws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mvc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("/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")).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andExpect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isOk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291840"/>
            <a:ext cx="5486400" cy="5486400"/>
          </a:xfrm>
          <a:prstGeom prst="ellipse">
            <a:avLst/>
          </a:prstGeom>
          <a:ln w="19050">
            <a:solidFill>
              <a:srgbClr val="2E5E4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321040" y="64008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222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2860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69748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&amp; brute force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480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senha direito e frear ataques de força bruta — MD5→BCrypt e rate limiting.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2148840"/>
            <a:ext cx="146304" cy="146304"/>
          </a:xfrm>
          <a:prstGeom prst="ellipse">
            <a:avLst/>
          </a:prstGeom>
          <a:solidFill>
            <a:srgbClr val="7FD3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&amp; BRUTE FORCE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× BCrypt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5300320" cy="3200400"/>
          </a:xfrm>
          <a:prstGeom prst="roundRect">
            <a:avLst>
              <a:gd name="adj" fmla="val 2286"/>
            </a:avLst>
          </a:prstGeom>
          <a:solidFill>
            <a:srgbClr val="1B2330"/>
          </a:solidFill>
          <a:ln w="12700">
            <a:solidFill>
              <a:srgbClr val="E079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2377440"/>
            <a:ext cx="1367028" cy="274320"/>
          </a:xfrm>
          <a:prstGeom prst="roundRect">
            <a:avLst>
              <a:gd name="adj" fmla="val 50000"/>
            </a:avLst>
          </a:prstGeom>
          <a:solidFill>
            <a:srgbClr val="E079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9536" y="2377440"/>
            <a:ext cx="13670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— INACEITÁVEL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2880360"/>
            <a:ext cx="475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demais: bilhões de tentativas/s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sal → rainbow tables prontas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iguais geram o mesmo hash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Quebrado há décadas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4800600"/>
            <a:ext cx="475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5f4dcc3b5aa765d61d8327deb882cf99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24448" y="2103120"/>
            <a:ext cx="5300320" cy="3200400"/>
          </a:xfrm>
          <a:prstGeom prst="roundRect">
            <a:avLst>
              <a:gd name="adj" fmla="val 2286"/>
            </a:avLst>
          </a:prstGeom>
          <a:solidFill>
            <a:srgbClr val="1B2330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17056" y="2377440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5AA17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17056" y="23774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— RECOMENDADO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617056" y="2880360"/>
            <a:ext cx="475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Lento de propósito (work factor)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 único por senha, embutido no hash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iguais → hashes diferentes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da indústria (ou Argon2)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17056" y="4800600"/>
            <a:ext cx="475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$2a$10$N9qo8uLOickgx2ZMRZoMy...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 um hash BCrypt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94560"/>
            <a:ext cx="11057839" cy="1051560"/>
          </a:xfrm>
          <a:prstGeom prst="roundRect">
            <a:avLst>
              <a:gd name="adj" fmla="val 6957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514600"/>
            <a:ext cx="10509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$2a$</a:t>
            </a:r>
            <a:pPr indent="0" marL="0">
              <a:buNone/>
            </a:pPr>
            <a:r>
              <a:rPr lang="en-US" sz="1800" dirty="0">
                <a:solidFill>
                  <a:srgbClr val="E8B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10$</a:t>
            </a:r>
            <a:pPr indent="0" marL="0">
              <a:buNone/>
            </a:pPr>
            <a:r>
              <a:rPr lang="en-US" sz="180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N9qo8uLOickgx2ZMRZoMye</a:t>
            </a:r>
            <a:pPr indent="0" marL="0">
              <a:buNone/>
            </a:pPr>
            <a:r>
              <a:rPr lang="en-US" sz="18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IjZAgcfl7p92ldGxad68LJZ...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928" y="3566160"/>
            <a:ext cx="3442106" cy="1371600"/>
          </a:xfrm>
          <a:prstGeom prst="roundRect">
            <a:avLst>
              <a:gd name="adj" fmla="val 5333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49040"/>
            <a:ext cx="29849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$2a$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133088"/>
            <a:ext cx="2984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434840"/>
            <a:ext cx="29849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do BCrypt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74794" y="3566160"/>
            <a:ext cx="3442106" cy="1371600"/>
          </a:xfrm>
          <a:prstGeom prst="roundRect">
            <a:avLst>
              <a:gd name="adj" fmla="val 5333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30826" y="3749040"/>
            <a:ext cx="29849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B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10$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30826" y="4133088"/>
            <a:ext cx="2984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(work factor)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630826" y="4434840"/>
            <a:ext cx="29849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2¹⁰ iterações — dobra a cada +1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82661" y="3566160"/>
            <a:ext cx="3442106" cy="1371600"/>
          </a:xfrm>
          <a:prstGeom prst="roundRect">
            <a:avLst>
              <a:gd name="adj" fmla="val 5333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38693" y="3749040"/>
            <a:ext cx="29849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N9qo8u…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438693" y="4133088"/>
            <a:ext cx="2984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 + hash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438693" y="4434840"/>
            <a:ext cx="29849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 único embutido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1663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B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Calibre o custo (≥ 10) para ~250 ms por hash: caro para o atacante, imperceptível no login legítimo. Nunca escreva sua própria criptografia.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→ BCrypt sem quebrar o login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2558720" cy="1097280"/>
          </a:xfrm>
          <a:prstGeom prst="roundRect">
            <a:avLst>
              <a:gd name="adj" fmla="val 6667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231136"/>
            <a:ext cx="228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633472"/>
            <a:ext cx="228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 correta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25648" y="2560320"/>
            <a:ext cx="274320" cy="0"/>
          </a:xfrm>
          <a:prstGeom prst="line">
            <a:avLst/>
          </a:prstGeom>
          <a:noFill/>
          <a:ln w="19050">
            <a:solidFill>
              <a:srgbClr val="AEB7C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99968" y="2011680"/>
            <a:ext cx="2558720" cy="1097280"/>
          </a:xfrm>
          <a:prstGeom prst="roundRect">
            <a:avLst>
              <a:gd name="adj" fmla="val 6667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37128" y="2231136"/>
            <a:ext cx="228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é MD5?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537128" y="2633472"/>
            <a:ext cx="228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B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 antigo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58688" y="2560320"/>
            <a:ext cx="274320" cy="0"/>
          </a:xfrm>
          <a:prstGeom prst="line">
            <a:avLst/>
          </a:prstGeom>
          <a:noFill/>
          <a:ln w="19050">
            <a:solidFill>
              <a:srgbClr val="AEB7C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33008" y="2011680"/>
            <a:ext cx="2558720" cy="1097280"/>
          </a:xfrm>
          <a:prstGeom prst="roundRect">
            <a:avLst>
              <a:gd name="adj" fmla="val 6667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70168" y="2231136"/>
            <a:ext cx="228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 por MD5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370168" y="2633472"/>
            <a:ext cx="228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regrava BCrypt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791727" y="2560320"/>
            <a:ext cx="274320" cy="0"/>
          </a:xfrm>
          <a:prstGeom prst="line">
            <a:avLst/>
          </a:prstGeom>
          <a:noFill/>
          <a:ln w="19050">
            <a:solidFill>
              <a:srgbClr val="AEB7C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66047" y="2011680"/>
            <a:ext cx="2558720" cy="1097280"/>
          </a:xfrm>
          <a:prstGeom prst="roundRect">
            <a:avLst>
              <a:gd name="adj" fmla="val 6667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03207" y="2231136"/>
            <a:ext cx="228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9203207" y="2633472"/>
            <a:ext cx="228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migrado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3383280"/>
            <a:ext cx="11057839" cy="2423160"/>
          </a:xfrm>
          <a:prstGeom prst="roundRect">
            <a:avLst>
              <a:gd name="adj" fmla="val 3019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474720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rehash on login — Lab 3.3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758184"/>
            <a:ext cx="10728655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3822192"/>
            <a:ext cx="10692079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autenticarEMigrar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findByEmail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orElse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getSenha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startsWith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"))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 migrado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md5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equals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algn="l"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formato antigo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setSenha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migra!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no login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1690573" cy="868680"/>
          </a:xfrm>
          <a:prstGeom prst="roundRect">
            <a:avLst>
              <a:gd name="adj" fmla="val 8421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011680"/>
            <a:ext cx="169057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tent. 1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440381" y="2011680"/>
            <a:ext cx="1690573" cy="868680"/>
          </a:xfrm>
          <a:prstGeom prst="roundRect">
            <a:avLst>
              <a:gd name="adj" fmla="val 8421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40381" y="2011680"/>
            <a:ext cx="169057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tent. 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13834" y="2011680"/>
            <a:ext cx="1690573" cy="868680"/>
          </a:xfrm>
          <a:prstGeom prst="roundRect">
            <a:avLst>
              <a:gd name="adj" fmla="val 8421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13834" y="2011680"/>
            <a:ext cx="169057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tent. 3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87288" y="2011680"/>
            <a:ext cx="1690573" cy="868680"/>
          </a:xfrm>
          <a:prstGeom prst="roundRect">
            <a:avLst>
              <a:gd name="adj" fmla="val 8421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87288" y="2011680"/>
            <a:ext cx="169057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tent. 4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60741" y="2011680"/>
            <a:ext cx="1690573" cy="868680"/>
          </a:xfrm>
          <a:prstGeom prst="roundRect">
            <a:avLst>
              <a:gd name="adj" fmla="val 8421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60741" y="2011680"/>
            <a:ext cx="169057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tent. 5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934194" y="2011680"/>
            <a:ext cx="1690573" cy="868680"/>
          </a:xfrm>
          <a:prstGeom prst="roundRect">
            <a:avLst>
              <a:gd name="adj" fmla="val 8421"/>
            </a:avLst>
          </a:prstGeom>
          <a:solidFill>
            <a:srgbClr val="3A2430"/>
          </a:solidFill>
          <a:ln w="12700">
            <a:solidFill>
              <a:srgbClr val="E079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934194" y="2011680"/>
            <a:ext cx="169057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6ª → 429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30632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de 5 tentativas por minuto (por IP/usuário). Ao esgotar, bloqueia temporariamente — 429 Too Many Requests.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11057839" cy="1920240"/>
          </a:xfrm>
          <a:prstGeom prst="roundRect">
            <a:avLst>
              <a:gd name="adj" fmla="val 3810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749040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3.4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4032504"/>
            <a:ext cx="10728655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4096512"/>
            <a:ext cx="1069207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dependencia: com.bucket4j:bucket4j-core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Bucket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buckets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computeIfAbsent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Bucket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addLimit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Bandwidth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classic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Refill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greedy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ofMinutes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))))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(!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tryConsume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06000"/>
              </a:lnSpc>
              <a:buNone/>
            </a:pPr>
            <a:r>
              <a:rPr lang="en-US" sz="125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muitas tentativas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56692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B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produção, use um store distribuído (Redis) para valer entre instâncias.</a:t>
            </a:r>
            <a:endParaRPr lang="en-US" sz="12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EM PROFUNDIDADE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senha, MFA e anti-enumeração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3442106" cy="3200400"/>
          </a:xfrm>
          <a:prstGeom prst="roundRect">
            <a:avLst>
              <a:gd name="adj" fmla="val 2286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377440"/>
            <a:ext cx="28934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(NIST)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788920"/>
            <a:ext cx="293918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Priorize comprimento, não símbolos</a:t>
            </a:r>
            <a:endParaRPr lang="en-US" sz="135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Bloqueie senhas vazadas</a:t>
            </a:r>
            <a:endParaRPr lang="en-US" sz="135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&gt; troca forçada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74794" y="2103120"/>
            <a:ext cx="3442106" cy="3200400"/>
          </a:xfrm>
          <a:prstGeom prst="roundRect">
            <a:avLst>
              <a:gd name="adj" fmla="val 2286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49114" y="2377440"/>
            <a:ext cx="28934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/ STEP-UP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649114" y="2788920"/>
            <a:ext cx="293918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fator: TOTP, passkey</a:t>
            </a:r>
            <a:endParaRPr lang="en-US" sz="135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defesa p/ senha vazada</a:t>
            </a:r>
            <a:endParaRPr lang="en-US" sz="135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 só em ações sensíveis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82661" y="2103120"/>
            <a:ext cx="3442106" cy="3200400"/>
          </a:xfrm>
          <a:prstGeom prst="roundRect">
            <a:avLst>
              <a:gd name="adj" fmla="val 2286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56981" y="2377440"/>
            <a:ext cx="28934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ANTI-ENUMERAÇÃO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456981" y="2788920"/>
            <a:ext cx="293918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única no login</a:t>
            </a:r>
            <a:endParaRPr lang="en-US" sz="135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 no 'esqueci a senha'</a:t>
            </a:r>
            <a:endParaRPr lang="en-US" sz="135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revele se o e-mail existe</a:t>
            </a:r>
            <a:endParaRPr lang="en-US" sz="13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291840"/>
            <a:ext cx="5486400" cy="5486400"/>
          </a:xfrm>
          <a:prstGeom prst="ellipse">
            <a:avLst/>
          </a:prstGeom>
          <a:ln w="19050">
            <a:solidFill>
              <a:srgbClr val="2E5E4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321040" y="64008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222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2860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69748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 &amp; fechamento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480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Labs 3.2 a 3.5 corrigiram — e os princípios para levar adiante.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2148840"/>
            <a:ext cx="146304" cy="146304"/>
          </a:xfrm>
          <a:prstGeom prst="ellipse">
            <a:avLst/>
          </a:prstGeom>
          <a:solidFill>
            <a:srgbClr val="7FD3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 &amp; FECHAMENTO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corrigido no Portal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5346040" cy="1417320"/>
          </a:xfrm>
          <a:prstGeom prst="roundRect">
            <a:avLst>
              <a:gd name="adj" fmla="val 5161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414016"/>
            <a:ext cx="201168" cy="201168"/>
          </a:xfrm>
          <a:prstGeom prst="ellipse">
            <a:avLst/>
          </a:prstGeom>
          <a:solidFill>
            <a:srgbClr val="5AA1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07008" y="2322576"/>
            <a:ext cx="443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3.2 — IDOR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724912"/>
            <a:ext cx="443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Checagem de posse no Service + teste 403.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78728" y="2103120"/>
            <a:ext cx="5346040" cy="1417320"/>
          </a:xfrm>
          <a:prstGeom prst="roundRect">
            <a:avLst>
              <a:gd name="adj" fmla="val 5161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53048" y="2414016"/>
            <a:ext cx="201168" cy="201168"/>
          </a:xfrm>
          <a:prstGeom prst="ellipse">
            <a:avLst/>
          </a:prstGeom>
          <a:solidFill>
            <a:srgbClr val="7FD3A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18808" y="2322576"/>
            <a:ext cx="443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3.3 — BCrypt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18808" y="2724912"/>
            <a:ext cx="443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forte + migração no login.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3703320"/>
            <a:ext cx="5346040" cy="1417320"/>
          </a:xfrm>
          <a:prstGeom prst="roundRect">
            <a:avLst>
              <a:gd name="adj" fmla="val 5161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4014216"/>
            <a:ext cx="201168" cy="201168"/>
          </a:xfrm>
          <a:prstGeom prst="ellipse">
            <a:avLst/>
          </a:prstGeom>
          <a:solidFill>
            <a:srgbClr val="E8B3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07008" y="3922776"/>
            <a:ext cx="443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3.4 — Rate limiting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4325112"/>
            <a:ext cx="443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Freia brute force + política de senha.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78728" y="3703320"/>
            <a:ext cx="5346040" cy="1417320"/>
          </a:xfrm>
          <a:prstGeom prst="roundRect">
            <a:avLst>
              <a:gd name="adj" fmla="val 5161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53048" y="4014216"/>
            <a:ext cx="201168" cy="201168"/>
          </a:xfrm>
          <a:prstGeom prst="ellipse">
            <a:avLst/>
          </a:prstGeom>
          <a:solidFill>
            <a:srgbClr val="BFE3C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18808" y="3922776"/>
            <a:ext cx="443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3.5 — /admin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18808" y="4325112"/>
            <a:ext cx="443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hasRole('ADMIN') + teste.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× Não faça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5300320" cy="3291840"/>
          </a:xfrm>
          <a:prstGeom prst="roundRect">
            <a:avLst>
              <a:gd name="adj" fmla="val 2222"/>
            </a:avLst>
          </a:prstGeom>
          <a:solidFill>
            <a:srgbClr val="1B2330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377440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5AA1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" y="237744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880360"/>
            <a:ext cx="47699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Negar por padrão, liberar o explícito</a:t>
            </a:r>
            <a:endParaRPr lang="en-US" sz="13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Checar posse no servidor (Service)</a:t>
            </a:r>
            <a:endParaRPr lang="en-US" sz="13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BCrypt/Argon2 com sal e custo</a:t>
            </a:r>
            <a:endParaRPr lang="en-US" sz="13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+ mensagens genéricas</a:t>
            </a:r>
            <a:endParaRPr lang="en-US" sz="13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200 (dono) e 403 (intruso)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24448" y="2103120"/>
            <a:ext cx="5300320" cy="3291840"/>
          </a:xfrm>
          <a:prstGeom prst="roundRect">
            <a:avLst>
              <a:gd name="adj" fmla="val 2222"/>
            </a:avLst>
          </a:prstGeom>
          <a:solidFill>
            <a:srgbClr val="1B2330"/>
          </a:solidFill>
          <a:ln w="12700">
            <a:solidFill>
              <a:srgbClr val="E079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98768" y="237744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079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98768" y="23774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FAÇA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598768" y="2880360"/>
            <a:ext cx="47699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Confiar em id/role vindos do cliente</a:t>
            </a:r>
            <a:endParaRPr lang="en-US" sz="13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Autorizar só escondendo na UI</a:t>
            </a:r>
            <a:endParaRPr lang="en-US" sz="13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MD5/SHA-1 puro para senha</a:t>
            </a:r>
            <a:endParaRPr lang="en-US" sz="13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a web e esquecer a API</a:t>
            </a:r>
            <a:endParaRPr lang="en-US" sz="13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Logins infinitos sem limite</a:t>
            </a:r>
            <a:endParaRPr lang="en-US" sz="13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essencial da Aula 3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574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E5E43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33856" y="2057400"/>
            <a:ext cx="104177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Autenticar prova quem é; autorizar decide o que pode.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66928" y="26517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E5E43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" y="2651760"/>
            <a:ext cx="104177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em BCrypt (sal + custo); MD5 é inaceitável.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66928" y="32461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E5E43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33856" y="3246120"/>
            <a:ext cx="104177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é a melhor defesa contra senha vazada.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66928" y="38404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E5E43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" y="3840480"/>
            <a:ext cx="104177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se resolve com autorização por objeto (posse).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66928" y="44348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E5E43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" y="4434840"/>
            <a:ext cx="104177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Autorize no servidor, em toda rota e no nível do dado.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566928" y="50292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E5E43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" y="5029200"/>
            <a:ext cx="104177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+ política de senha freiam brute force.</a:t>
            </a:r>
            <a:endParaRPr lang="en-US" sz="15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474720"/>
            <a:ext cx="5486400" cy="5486400"/>
          </a:xfrm>
          <a:prstGeom prst="ellipse">
            <a:avLst/>
          </a:prstGeom>
          <a:ln w="19050">
            <a:solidFill>
              <a:srgbClr val="2E5E4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155448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965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— Criptografia &amp; Sessão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06324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proteger os dados de verdade (o 'Base64 que não protege') e blindar a sessão e o JWT (o token que ninguém verifica).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4389120"/>
            <a:ext cx="1847088" cy="274320"/>
          </a:xfrm>
          <a:prstGeom prst="roundRect">
            <a:avLst>
              <a:gd name="adj" fmla="val 50000"/>
            </a:avLst>
          </a:prstGeom>
          <a:solidFill>
            <a:srgbClr val="E8B36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438912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aula-4-baseline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4983480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86968" y="5138928"/>
            <a:ext cx="104177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o ambiente:  </a:t>
            </a:r>
            <a:pPr indent="0" marL="0">
              <a:buNone/>
            </a:pPr>
            <a:r>
              <a:rPr lang="en-US" sz="15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.\scripts\start.ps1 -Lab 4 -NoDocker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PARTE 2 — AUTORIZAÇÃO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38587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03 - Parte 2: Autorizacao</dc:title>
  <dc:subject>PptxGenJS Presentation</dc:subject>
  <dc:creator>Curso CASE Java</dc:creator>
  <cp:lastModifiedBy>Curso CASE Java</cp:lastModifiedBy>
  <cp:revision>1</cp:revision>
  <dcterms:created xsi:type="dcterms:W3CDTF">2026-09-22T21:04:57Z</dcterms:created>
  <dcterms:modified xsi:type="dcterms:W3CDTF">2026-09-22T21:04:57Z</dcterms:modified>
</cp:coreProperties>
</file>