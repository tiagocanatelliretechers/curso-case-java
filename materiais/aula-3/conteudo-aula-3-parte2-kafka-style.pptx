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22B39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011680"/>
            <a:ext cx="1554480" cy="1371600"/>
          </a:xfrm>
          <a:prstGeom prst="roundRect">
            <a:avLst>
              <a:gd name="adj" fmla="val 13333"/>
            </a:avLst>
          </a:prstGeom>
          <a:solidFill>
            <a:srgbClr val="1B2430"/>
          </a:solidFill>
          <a:ln w="25400">
            <a:solidFill>
              <a:srgbClr val="5AA1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371600" y="3246120"/>
            <a:ext cx="1554480" cy="822960"/>
          </a:xfrm>
          <a:prstGeom prst="triangle">
            <a:avLst/>
          </a:prstGeom>
          <a:solidFill>
            <a:srgbClr val="1B2430"/>
          </a:solidFill>
          <a:ln w="25400">
            <a:solidFill>
              <a:srgbClr val="5AA1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0" y="21488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🔒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0116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APPLICATION SECURITY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4688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— Parte 2: Autorização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44805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o que o usuário pode fazer: RBAC, IDOR e autorização por objeto — e como o Spring Security aplica tudo isso. (Após o laboratório.)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0" y="2697480"/>
            <a:ext cx="548640" cy="32004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0" y="22860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286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explorou + corrigiu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63840" y="2697480"/>
            <a:ext cx="548640" cy="32004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22860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5B301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9640" y="2286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(agora)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10789920" cy="896112"/>
          </a:xfrm>
          <a:prstGeom prst="roundRect">
            <a:avLst>
              <a:gd name="adj" fmla="val 5102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096512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identidade resolvida, decidimos o que cada usuário pode ver e fazer — e implementamos no Spring Security.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x Autorização — aprofundando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0"/>
          </a:xfrm>
          <a:prstGeom prst="line">
            <a:avLst/>
          </a:prstGeom>
          <a:noFill/>
          <a:ln w="15875">
            <a:solidFill>
              <a:srgbClr val="5AA17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48640" y="4206240"/>
            <a:ext cx="5394960" cy="0"/>
          </a:xfrm>
          <a:prstGeom prst="line">
            <a:avLst/>
          </a:prstGeom>
          <a:noFill/>
          <a:ln w="15875">
            <a:solidFill>
              <a:srgbClr val="5AA17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0" cy="2560320"/>
          </a:xfrm>
          <a:prstGeom prst="line">
            <a:avLst/>
          </a:prstGeom>
          <a:noFill/>
          <a:ln w="15875">
            <a:solidFill>
              <a:srgbClr val="5AA17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943600" y="1645920"/>
            <a:ext cx="0" cy="2560320"/>
          </a:xfrm>
          <a:prstGeom prst="line">
            <a:avLst/>
          </a:prstGeom>
          <a:noFill/>
          <a:ln w="15875">
            <a:solidFill>
              <a:srgbClr val="5AA17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— quem é você?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219456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21945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Crachá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17520" y="2468880"/>
            <a:ext cx="457200" cy="274320"/>
          </a:xfrm>
          <a:prstGeom prst="rightArrow">
            <a:avLst/>
          </a:prstGeom>
          <a:solidFill>
            <a:srgbClr val="9FB0C4"/>
          </a:solidFill>
          <a:ln/>
        </p:spPr>
      </p:sp>
      <p:sp>
        <p:nvSpPr>
          <p:cNvPr id="12" name="Shape 10"/>
          <p:cNvSpPr/>
          <p:nvPr/>
        </p:nvSpPr>
        <p:spPr>
          <a:xfrm>
            <a:off x="3566160" y="219456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94960" cy="0"/>
          </a:xfrm>
          <a:prstGeom prst="line">
            <a:avLst/>
          </a:prstGeom>
          <a:noFill/>
          <a:ln w="15875">
            <a:solidFill>
              <a:srgbClr val="F5B301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217920" y="4206240"/>
            <a:ext cx="5394960" cy="0"/>
          </a:xfrm>
          <a:prstGeom prst="line">
            <a:avLst/>
          </a:prstGeom>
          <a:noFill/>
          <a:ln w="15875">
            <a:solidFill>
              <a:srgbClr val="F5B301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217920" y="1645920"/>
            <a:ext cx="0" cy="2560320"/>
          </a:xfrm>
          <a:prstGeom prst="line">
            <a:avLst/>
          </a:prstGeom>
          <a:noFill/>
          <a:ln w="15875">
            <a:solidFill>
              <a:srgbClr val="F5B301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612880" y="1645920"/>
            <a:ext cx="0" cy="2560320"/>
          </a:xfrm>
          <a:prstGeom prst="line">
            <a:avLst/>
          </a:prstGeom>
          <a:noFill/>
          <a:ln w="15875">
            <a:solidFill>
              <a:srgbClr val="F5B301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309360" y="1737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 — o que pode fazer?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66560" y="219456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12280" y="21945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Catraca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0" y="2468880"/>
            <a:ext cx="457200" cy="274320"/>
          </a:xfrm>
          <a:prstGeom prst="rightArrow">
            <a:avLst/>
          </a:prstGeom>
          <a:solidFill>
            <a:srgbClr val="9FB0C4"/>
          </a:solidFill>
          <a:ln/>
        </p:spPr>
      </p:sp>
      <p:sp>
        <p:nvSpPr>
          <p:cNvPr id="22" name="Shape 20"/>
          <p:cNvSpPr/>
          <p:nvPr/>
        </p:nvSpPr>
        <p:spPr>
          <a:xfrm>
            <a:off x="9235440" y="219456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andar certo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1064240" cy="896112"/>
          </a:xfrm>
          <a:prstGeom prst="roundRect">
            <a:avLst>
              <a:gd name="adj" fmla="val 5102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645152"/>
            <a:ext cx="10698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 autenticado (crachá) NÃO autoriza ver o pedido de outro cliente — isso é decisão de autorização.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autorização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6537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por papel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26771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usuário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e estável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só admin acessa /admin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44568" y="186537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 — por atributo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44568" y="226771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horário, valor, região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flexível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aprovar acima de X exige gerente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7888" y="186537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ReBAC — por relação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26771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'é dono de', 'é membro de'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posse/compartilhamento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cliente é dono do pedido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0303F"/>
          </a:solidFill>
          <a:ln w="9525">
            <a:solidFill>
              <a:srgbClr val="9CC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4622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9C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usamos RBAC (admin × cliente) e ReBAC (o cliente é dono do pedido).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no Portal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ROLE_USER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(cliente)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5B301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6576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ROLE_ADMIN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7373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/pedidos (próprios)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274320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27432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/produtos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0" y="374904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E9EDF2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8932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475488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E9EDF2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47548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pedidos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08960" y="1920240"/>
            <a:ext cx="2743200" cy="256032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08960" y="2926080"/>
            <a:ext cx="2743200" cy="256032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0" y="3840480"/>
            <a:ext cx="2743200" cy="256032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08960" y="4937760"/>
            <a:ext cx="2743200" cy="256032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→ só recursos próprios; admin → tudo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 — três formas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27303F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6537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26771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direta a objeto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checar posse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id na URL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27303F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44568" y="186537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44568" y="226771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Vertical: user → admin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Horizontal: user → outro user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27303F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7888" y="186537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browsing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26771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rotas não linkadas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 não tem link, tá seguro' é falso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3A2E1E"/>
          </a:solidFill>
          <a:ln w="9525">
            <a:solidFill>
              <a:srgbClr val="E8B3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4622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E8B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os três — /pedidos/{id} (horizontal), /admin (vertical) e endpoints diretos.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— ANTES (vulnerável)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03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(cliente 1)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0" y="2423160"/>
            <a:ext cx="640080" cy="320040"/>
          </a:xfrm>
          <a:prstGeom prst="rightArrow">
            <a:avLst/>
          </a:prstGeom>
          <a:solidFill>
            <a:srgbClr val="E0605F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21031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6B8B6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21031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/pedidos/2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(pedido da Globex)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2423160"/>
            <a:ext cx="640080" cy="320040"/>
          </a:xfrm>
          <a:prstGeom prst="rightArrow">
            <a:avLst/>
          </a:prstGeom>
          <a:solidFill>
            <a:srgbClr val="E0605F"/>
          </a:solidFill>
          <a:ln/>
        </p:spPr>
      </p:sp>
      <p:sp>
        <p:nvSpPr>
          <p:cNvPr id="10" name="Shape 8"/>
          <p:cNvSpPr/>
          <p:nvPr/>
        </p:nvSpPr>
        <p:spPr>
          <a:xfrm>
            <a:off x="8503920" y="210312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E9EDF2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9640" y="2103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alheios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10789920" cy="868680"/>
          </a:xfrm>
          <a:prstGeom prst="roundRect">
            <a:avLst>
              <a:gd name="adj" fmla="val 5263"/>
            </a:avLst>
          </a:prstGeom>
          <a:solidFill>
            <a:srgbClr val="3A2323"/>
          </a:solidFill>
          <a:ln w="12700">
            <a:solidFill>
              <a:srgbClr val="E060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54787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busca só pelo id. </a:t>
            </a:r>
            <a:pPr indent="0" marL="0">
              <a:buNone/>
            </a:pPr>
            <a:r>
              <a:rPr lang="en-US" sz="130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pergunta: este pedido é do usuário logado? Basta trocar o número na URL.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502920"/>
          </a:xfrm>
          <a:prstGeom prst="roundRect">
            <a:avLst>
              <a:gd name="adj" fmla="val 9091"/>
            </a:avLst>
          </a:prstGeom>
          <a:solidFill>
            <a:srgbClr val="141B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681728"/>
            <a:ext cx="10515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repo.findById(id).get();   // sem checagem de posse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— DEPOIS (autorização por objeto)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03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(cliente 1)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0" y="2423160"/>
            <a:ext cx="640080" cy="32004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21031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21031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pedido.clienteId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usuário?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2423160"/>
            <a:ext cx="640080" cy="32004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0" name="Shape 8"/>
          <p:cNvSpPr/>
          <p:nvPr/>
        </p:nvSpPr>
        <p:spPr>
          <a:xfrm>
            <a:off x="8503920" y="210312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F3C98B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9640" y="2103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Forbidden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(não é dono)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10881360" cy="988695"/>
          </a:xfrm>
          <a:prstGeom prst="roundRect">
            <a:avLst>
              <a:gd name="adj" fmla="val 4624"/>
            </a:avLst>
          </a:prstGeom>
          <a:solidFill>
            <a:srgbClr val="141B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493008"/>
            <a:ext cx="10515600" cy="769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 p = repo.findById(id).orElseThrow();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(!p.getClienteId().equals(clienteAtual))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AccessDeniedException();   // posse verificada no Service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10881360" cy="896112"/>
          </a:xfrm>
          <a:prstGeom prst="roundRect">
            <a:avLst>
              <a:gd name="adj" fmla="val 5102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10235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correção do Lab 3.2 — checagem no Service, reforçada por @PostAuthorize. Teste prova o 403.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Escalada de privilégio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27303F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6537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(user → admin)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267712"/>
            <a:ext cx="49469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permissões de nível maior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cliente comum abre /admin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role forjada num JWT não verificado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27303F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73368" y="186537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(user → outro user)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267712"/>
            <a:ext cx="49469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 dados de outro do mesmo nível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IDOR nos pedidos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papel, objeto de outra pessoa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defende: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→ RBAC correto (hasRole); horizontal → autorização por objeto (posse).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 em todas as camadas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Esconder o botão no frontend não é controle de acesso.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10881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autorização é verificada no SERVIDOR, no ponto de acesso ao recurso.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toda rota que importa — incluindo API, exportação e telas admin.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Negue por padrão; conceda só após a verificação explícita.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3A2E1E"/>
          </a:solidFill>
          <a:ln w="9525">
            <a:solidFill>
              <a:srgbClr val="E8B3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37083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E8B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 o link de /admin da tela não impede alguém de digitar /admin na URL.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— o coração do anti-IDOR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de 'está logado?' e 'tem o papel?', falta a pergunta decisiva: 'este objeto é dele?'. É a causa nº 1 de vazamento em APIs REST.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41B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852928"/>
            <a:ext cx="10515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@PostAuthorize("returnObject.clienteId == principal.clienteId")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Pedido porId(Long id) { return repo.findById(id).orElseThrow(); }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ou, preferível: concentrar a regra de posse no Service (um único lugar)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4663440"/>
            <a:ext cx="10881360" cy="896112"/>
          </a:xfrm>
          <a:prstGeom prst="roundRect">
            <a:avLst>
              <a:gd name="adj" fmla="val 5102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73659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posse do recurso é verificada no servidor, sempre — nunca confie no id que veio na requisição.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comuns de autorização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 num campo controlado pelo cliente (ex.: a 'role' dentro de um JWT não verificado).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Checar autorização só em algumas rotas, esquecendo variações (API, admin, exportação).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Cachear a decisão de acesso e reutilizá-la fora de contexto.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0881360" cy="896112"/>
          </a:xfrm>
          <a:prstGeom prst="roundRect">
            <a:avLst>
              <a:gd name="adj" fmla="val 5102"/>
            </a:avLst>
          </a:prstGeom>
          <a:solidFill>
            <a:srgbClr val="3A2E1E"/>
          </a:solidFill>
          <a:ln w="9525">
            <a:solidFill>
              <a:srgbClr val="E8B3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0507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E8B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Gancho: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app lê role: ADMIN de um token sem verificar assinatura, é escalada instantânea — corrigido na Aula 4.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22B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114800"/>
            <a:ext cx="3840480" cy="3840480"/>
          </a:xfrm>
          <a:prstGeom prst="ellipse">
            <a:avLst/>
          </a:prstGeom>
          <a:solidFill>
            <a:srgbClr val="1A22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0116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aplicado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Spring Security implementa autenticação e autorização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43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filtros, PasswordEncoder, method security e as correções do Portal.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cadeia de filtros do Spring Security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21945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295144" y="2514600"/>
            <a:ext cx="210312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7" name="Shape 5"/>
          <p:cNvSpPr/>
          <p:nvPr/>
        </p:nvSpPr>
        <p:spPr>
          <a:xfrm>
            <a:off x="2514600" y="21945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21945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2514600"/>
            <a:ext cx="210312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0" name="Shape 8"/>
          <p:cNvSpPr/>
          <p:nvPr/>
        </p:nvSpPr>
        <p:spPr>
          <a:xfrm>
            <a:off x="4480560" y="21945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1945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/ Auth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27064" y="2514600"/>
            <a:ext cx="210312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1945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21945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(hasRole/posse)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93024" y="2514600"/>
            <a:ext cx="210312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6" name="Shape 14"/>
          <p:cNvSpPr/>
          <p:nvPr/>
        </p:nvSpPr>
        <p:spPr>
          <a:xfrm>
            <a:off x="8412480" y="21945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9EDF2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58200" y="21945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SecurityFilterChain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65760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UserDetailsService: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 o usuário (e-mail, hash, papéis).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PasswordEncoder: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a senha (BCrypt).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authorizeHttpRequests: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 acesso por rota.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de acesso (RBAC)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de autorização por rota ficam declaradas na SecurityFilterChain.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0881360" cy="1226820"/>
          </a:xfrm>
          <a:prstGeom prst="roundRect">
            <a:avLst>
              <a:gd name="adj" fmla="val 3727"/>
            </a:avLst>
          </a:prstGeom>
          <a:solidFill>
            <a:srgbClr val="141B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61488"/>
            <a:ext cx="10515600" cy="1007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http.authorizeHttpRequests(a -&gt; 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.requestMatchers("/admin/**").hasRole("ADMIN")   // Lab 3.5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.requestMatchers("/actuator/**").hasRole("ADMIN")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.anyRequest().authenticated());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4663440"/>
            <a:ext cx="10881360" cy="896112"/>
          </a:xfrm>
          <a:prstGeom prst="roundRect">
            <a:avLst>
              <a:gd name="adj" fmla="val 5102"/>
            </a:avLst>
          </a:prstGeom>
          <a:solidFill>
            <a:srgbClr val="3A2E1E"/>
          </a:solidFill>
          <a:ln w="9525">
            <a:solidFill>
              <a:srgbClr val="E8B3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73659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E8B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/admin está como 'authenticated' — deveria ser hasRole('ADMIN'). O Lab 3.5 corrige.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security — @PreAuthorize / @PostAuthorize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 a nível de método, com expressões próximas da lógica de negócio.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41B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61488"/>
            <a:ext cx="10515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@EnableMethodSecurity   // habilita as anotações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@PreAuthorize("hasRole('ADMIN')")            // antes: valida o papel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@PostAuthorize("returnObject.clienteId == principal.clienteId") // depois: valida o objeto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4480560"/>
            <a:ext cx="10881360" cy="896112"/>
          </a:xfrm>
          <a:prstGeom prst="roundRect">
            <a:avLst>
              <a:gd name="adj" fmla="val 5102"/>
            </a:avLst>
          </a:prstGeom>
          <a:solidFill>
            <a:srgbClr val="20303F"/>
          </a:solidFill>
          <a:ln w="9525">
            <a:solidFill>
              <a:srgbClr val="9CC0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55371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9C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concentrar a regra de posse no Service (um lugar) e usar as anotações como reforço.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MD5 → BCrypt (rehash on login)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AECBFA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22860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com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correta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7520" y="2606040"/>
            <a:ext cx="502920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7" name="Shape 5"/>
          <p:cNvSpPr/>
          <p:nvPr/>
        </p:nvSpPr>
        <p:spPr>
          <a:xfrm>
            <a:off x="3611880" y="21945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1945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é MD5?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(formato antigo)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2606040"/>
            <a:ext cx="502920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194560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20840" y="2194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por MD5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regrava em BCrypt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35440" y="2606040"/>
            <a:ext cx="502920" cy="274320"/>
          </a:xfrm>
          <a:prstGeom prst="rightArrow">
            <a:avLst/>
          </a:prstGeom>
          <a:solidFill>
            <a:srgbClr val="5AA1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875520" y="2194560"/>
            <a:ext cx="914400" cy="1005840"/>
          </a:xfrm>
          <a:prstGeom prst="can">
            <a:avLst/>
          </a:prstGeom>
          <a:solidFill>
            <a:srgbClr val="E9EDF2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0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11064240" cy="896112"/>
          </a:xfrm>
          <a:prstGeom prst="roundRect">
            <a:avLst>
              <a:gd name="adj" fmla="val 5102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87952"/>
            <a:ext cx="10698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 antigos migram sozinhos no primeiro login bem-sucedido — sem forçar reset geral.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11064240" cy="712470"/>
          </a:xfrm>
          <a:prstGeom prst="roundRect">
            <a:avLst>
              <a:gd name="adj" fmla="val 6417"/>
            </a:avLst>
          </a:prstGeom>
          <a:solidFill>
            <a:srgbClr val="141B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047488"/>
            <a:ext cx="10698480" cy="49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(hash.startsWith("$2")) ok = bcrypt.matches(s, hash);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(md5(s).equals(hash)) { ok = true; regravarBcrypt(); }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no login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21945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4028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0" y="21945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1945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BFE3CE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924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21945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F3C98B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412480" y="219456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6B8B6"/>
          </a:solidFill>
          <a:ln w="12700">
            <a:solidFill>
              <a:srgbClr val="0F16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B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→ 429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(5/min por IP): consumiu tudo → bloqueia temporariamente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881360" cy="502920"/>
          </a:xfrm>
          <a:prstGeom prst="roundRect">
            <a:avLst>
              <a:gd name="adj" fmla="val 9091"/>
            </a:avLst>
          </a:prstGeom>
          <a:solidFill>
            <a:srgbClr val="141B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767328"/>
            <a:ext cx="10515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(!bucket(ip).tryConsume(1)) return status(429);   // muitas tentativas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20303F"/>
          </a:solidFill>
          <a:ln w="9525">
            <a:solidFill>
              <a:srgbClr val="9CC0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55371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9C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 store distribuído (Redis) para o limite valer entre instâncias.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 — o que foi corrigido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6537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3.2 — IDOR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267712"/>
            <a:ext cx="4946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 de posse no Service + teste 403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73368" y="186537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3.3 — BCrypt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267712"/>
            <a:ext cx="4946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forte + migração no login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41985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3.4 — Rate limiting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822192"/>
            <a:ext cx="4946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Freia brute force + política de senha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2E5E43"/>
          </a:solidFill>
          <a:ln w="15875">
            <a:solidFill>
              <a:srgbClr val="4E856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73368" y="3419856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3.5 — /admin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73368" y="3822192"/>
            <a:ext cx="4946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8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hasRole('ADMIN') + teste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676656"/>
          </a:xfrm>
          <a:prstGeom prst="roundRect">
            <a:avLst>
              <a:gd name="adj" fmla="val 6757"/>
            </a:avLst>
          </a:prstGeom>
          <a:solidFill>
            <a:srgbClr val="1F3A2E"/>
          </a:solidFill>
          <a:ln w="9525">
            <a:solidFill>
              <a:srgbClr val="7FD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01091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7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Verificado: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automatizados provam 403 no IDOR e no /admin para usuário comum.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A3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a Aula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868680"/>
          </a:xfrm>
          <a:prstGeom prst="roundRect">
            <a:avLst>
              <a:gd name="adj" fmla="val 6316"/>
            </a:avLst>
          </a:prstGeom>
          <a:solidFill>
            <a:srgbClr val="27303F"/>
          </a:solidFill>
          <a:ln w="12700">
            <a:solidFill>
              <a:srgbClr val="4E85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956816"/>
            <a:ext cx="438912" cy="438912"/>
          </a:xfrm>
          <a:prstGeom prst="ellipse">
            <a:avLst/>
          </a:prstGeom>
          <a:solidFill>
            <a:srgbClr val="2E5E4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373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Autenticar prova quem é; autorizar decide o que pode.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49240" cy="868680"/>
          </a:xfrm>
          <a:prstGeom prst="roundRect">
            <a:avLst>
              <a:gd name="adj" fmla="val 6316"/>
            </a:avLst>
          </a:prstGeom>
          <a:solidFill>
            <a:srgbClr val="27303F"/>
          </a:solidFill>
          <a:ln w="12700">
            <a:solidFill>
              <a:srgbClr val="4E856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73952" y="1956816"/>
            <a:ext cx="438912" cy="438912"/>
          </a:xfrm>
          <a:prstGeom prst="ellipse">
            <a:avLst/>
          </a:prstGeom>
          <a:solidFill>
            <a:srgbClr val="2E5E4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73952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17373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em bcrypt (sal + custo); MD5 é inaceitável.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5349240" cy="868680"/>
          </a:xfrm>
          <a:prstGeom prst="roundRect">
            <a:avLst>
              <a:gd name="adj" fmla="val 6316"/>
            </a:avLst>
          </a:prstGeom>
          <a:solidFill>
            <a:srgbClr val="27303F"/>
          </a:solidFill>
          <a:ln w="12700">
            <a:solidFill>
              <a:srgbClr val="4E856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008376"/>
            <a:ext cx="438912" cy="438912"/>
          </a:xfrm>
          <a:prstGeom prst="ellipse">
            <a:avLst/>
          </a:prstGeom>
          <a:solidFill>
            <a:srgbClr val="2E5E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7889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é a melhor defesa contra senha vazada.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2788920"/>
            <a:ext cx="5349240" cy="868680"/>
          </a:xfrm>
          <a:prstGeom prst="roundRect">
            <a:avLst>
              <a:gd name="adj" fmla="val 6316"/>
            </a:avLst>
          </a:prstGeom>
          <a:solidFill>
            <a:srgbClr val="27303F"/>
          </a:solidFill>
          <a:ln w="12700">
            <a:solidFill>
              <a:srgbClr val="4E856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3008376"/>
            <a:ext cx="438912" cy="438912"/>
          </a:xfrm>
          <a:prstGeom prst="ellipse">
            <a:avLst/>
          </a:prstGeom>
          <a:solidFill>
            <a:srgbClr val="2E5E4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73952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27889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se resolve com autorização por objeto (posse).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840480"/>
            <a:ext cx="5349240" cy="868680"/>
          </a:xfrm>
          <a:prstGeom prst="roundRect">
            <a:avLst>
              <a:gd name="adj" fmla="val 6316"/>
            </a:avLst>
          </a:prstGeom>
          <a:solidFill>
            <a:srgbClr val="27303F"/>
          </a:solidFill>
          <a:ln w="12700">
            <a:solidFill>
              <a:srgbClr val="4E856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059936"/>
            <a:ext cx="438912" cy="438912"/>
          </a:xfrm>
          <a:prstGeom prst="ellipse">
            <a:avLst/>
          </a:prstGeom>
          <a:solidFill>
            <a:srgbClr val="2E5E4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4059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8404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→ RBAC; horizontal → checagem de posse.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840480"/>
            <a:ext cx="5349240" cy="868680"/>
          </a:xfrm>
          <a:prstGeom prst="roundRect">
            <a:avLst>
              <a:gd name="adj" fmla="val 6316"/>
            </a:avLst>
          </a:prstGeom>
          <a:solidFill>
            <a:srgbClr val="27303F"/>
          </a:solidFill>
          <a:ln w="12700">
            <a:solidFill>
              <a:srgbClr val="4E856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73952" y="4059936"/>
            <a:ext cx="438912" cy="438912"/>
          </a:xfrm>
          <a:prstGeom prst="ellipse">
            <a:avLst/>
          </a:prstGeom>
          <a:solidFill>
            <a:srgbClr val="2E5E4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73952" y="4059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8404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4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Security: filtros, hasRole e @PostAuthorize.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22B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AA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060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— Criptografia e Sessão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proteger os dados de verdade (o 'Base64 que não protege') e blindar a sessão e o JWT (o token que ninguém verifica). A Aula 4 parte de aula-4-baseline.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2026-09-17T14:18:19Z</dcterms:created>
  <dcterms:modified xsi:type="dcterms:W3CDTF">2026-09-17T14:18:19Z</dcterms:modified>
</cp:coreProperties>
</file>