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22B39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1554480" cy="1371600"/>
          </a:xfrm>
          <a:prstGeom prst="roundRect">
            <a:avLst>
              <a:gd name="adj" fmla="val 13333"/>
            </a:avLst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1371600" y="3246120"/>
            <a:ext cx="1554480" cy="822960"/>
          </a:xfrm>
          <a:prstGeom prst="triangle">
            <a:avLst/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2148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🔒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011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4688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— Parte 1: Autenticação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4805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quem é o usuário com segurança: hashing de senha, políticas, MFA e SSO. (A Parte 2 — Autorização — vem após o laboratório.)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Aula 3 está organizada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(hoje)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0" y="2697480"/>
            <a:ext cx="548640" cy="32004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4663440" y="22860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+ corrigir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(próxima aula)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2697480"/>
            <a:ext cx="548640" cy="32004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22860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+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1078992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096512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encerramos a Aula 2 e começamos a Parte 1. O laboratório e a Parte 2 ficam para o próximo encontro.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— Parte 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parte, você será capaz 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senha com segurança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hash de cifra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bcrypt (salt + work factor)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por que MD5 é inaceitável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o login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senha moderna (NIST)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 step-up authentication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user enumeration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SSO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x OIDC/OAuth2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id_token e claims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assinatura, issuer e audience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2 projetamos com segurança e validamos a entrada. Agora entramos no controle de identidade e acesso.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seguro, STRIDE e validação (SQLi, upload corrigidos).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(hoje):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— provar quem é.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(pós-lab):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— decidir o que pode fazer.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537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não é autorizar — confundir os dois é a origem de metade das falhas de acesso.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x Autorização — visão rápida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(hoje)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QUEM você é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senha, MFA, token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o crachá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(Parte 2)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 QUE você pode fazer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Papéis, posse do recurso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a catraca de cada andar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7939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focamos na primeira: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provar identidade sem deixar brechas de senha, token e recuperação.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de um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senha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79192" y="2606040"/>
            <a:ext cx="26517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2971800" y="22860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17520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(anti brute force)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10912" y="2606040"/>
            <a:ext cx="26517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0" y="22860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PasswordEncoder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.matches(hash)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42632" y="2606040"/>
            <a:ext cx="26517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3" name="Shape 11"/>
          <p:cNvSpPr/>
          <p:nvPr/>
        </p:nvSpPr>
        <p:spPr>
          <a:xfrm>
            <a:off x="7635240" y="22860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/ JWT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66960" y="2240280"/>
            <a:ext cx="822960" cy="1005840"/>
          </a:xfrm>
          <a:prstGeom prst="can">
            <a:avLst/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65208" y="3310128"/>
            <a:ext cx="365760" cy="256032"/>
          </a:xfrm>
          <a:prstGeom prst="downArrow">
            <a:avLst/>
          </a:prstGeom>
          <a:solidFill>
            <a:srgbClr val="9FB0C4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233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0965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caixa é um ponto de falha: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fraca, hash quebrável, sem rate limit, ou token mal emitido. Vamos blindar cada um.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de senha — o que NÃO fazer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como você guarda a senha decide o estrago quando o banco vaza (e um dia vaza).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claro: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inaceitável — o vazamento entrega tudo.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MD5/SHA-1 puro: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demais; quebrável com tabelas prontas (rainbow tables).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reversível: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descriptografa, o atacante também.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708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senhas estão em MD5 sem sal — no lab da Aula 1 já extraímos um hash via SQLi.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MD5 falha e bcrypt protege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(sem sal)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senha123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2194560"/>
            <a:ext cx="45720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192024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(rápido,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igual)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4937760" cy="822960"/>
          </a:xfrm>
          <a:prstGeom prst="roundRect">
            <a:avLst>
              <a:gd name="adj" fmla="val 5556"/>
            </a:avLst>
          </a:prstGeom>
          <a:solidFill>
            <a:srgbClr val="3A2323"/>
          </a:solidFill>
          <a:ln w="12700">
            <a:solidFill>
              <a:srgbClr val="E06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9992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existe um catálogo pronto (rainbow table) que reconhece o hash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(sal + custo)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92024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920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senha123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58200" y="2194560"/>
            <a:ext cx="45720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0" y="192024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0684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(lento,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único)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926080"/>
            <a:ext cx="5120640" cy="822960"/>
          </a:xfrm>
          <a:prstGeom prst="roundRect">
            <a:avLst>
              <a:gd name="adj" fmla="val 5556"/>
            </a:avLst>
          </a:prstGeom>
          <a:solidFill>
            <a:srgbClr val="1F3A2E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299923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senhas iguais viram hashes diferentes; força bruta fica cara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879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 é o tempero único por prato — repetir o mesmo tempero (MD5) entrega a receita.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de senha adequado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senha, use funções de hash lentas e salgadas, feitas para resistir a força bruta: bcrypt, Argon2, PBKDF2.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0881360" cy="988695"/>
          </a:xfrm>
          <a:prstGeom prst="roundRect">
            <a:avLst>
              <a:gd name="adj" fmla="val 4624"/>
            </a:avLst>
          </a:prstGeom>
          <a:solidFill>
            <a:srgbClr val="141B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61488"/>
            <a:ext cx="10515600" cy="769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PasswordEncoder enc = new BCryptPasswordEncoder(); // sal embutido, custo configurável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hash = enc.encode(senha);                   // ex.: $2a$10$...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ok  = enc.matches(senhaDigitada, hash);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7083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escreva sua própria criptografia; use bcrypt/Argon2 com work factor calibrado (≥ 10).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e work factor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(salt)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67712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único por senha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iguais → hashes diferentes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Anula rainbow tables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bcrypt, já vem embutido no hash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factor (custo)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73368" y="2267712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rounds do hashing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o cálculo propositalmente lento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Recalibrar conforme o hardware evolui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Freia ataques de força bruta em massa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27939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maior = mais seguro, porém login mais lento — encontre o equilíbrio (≥ 10 é um bom começo).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senha moderna (NIST 800-63B)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recomendações mudaram: comprimento e verificação de vazamento valem mais que regras de complexidade.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senhas longas; permita frases (passphrases).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contra listas de senhas vazadas.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rate limiting em vez de expiração forçada e bloqueio permanente.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7083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troca a cada 30 dias e muitos símbolos leva a padrões previsíveis (Senha@Jan2025).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multifator (MFA)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segunda prova de identidade é a defesa mais eficaz contra senha vazada.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fatores: algo que você SABE, TEM ou É.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Formas: TOTP (app autenticador), WebAuthn/passkeys, push.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o 2º fator só em ações sensíveis (checkout, mudança de dados).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5537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de casa (senha) mais o cofre com segredo próprio (2º fator) para o que é valioso.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fatores de autenticação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você SABE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758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senha, PIN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0" y="219456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2194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você TEM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6758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TOTP, passkey, celular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092440" y="219456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2194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você 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6758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572000"/>
            <a:ext cx="1083564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645152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= 2 ou mais fatores DIFERENTES: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senhas não são MFA; senha + TOTP são.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credenciais e segredos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no código são segredos vazados — é só questão de tempo.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faça hardcode de senha, chave ou token.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variáveis de ambiente e, idealmente, um secrets manager (Vault, AWS/GCP Secrets).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Rotacione e dê escopo mínimo.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7083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segredo do JWT está no application.yml e vaza no /actuator/env — corrigimos na Aula 4.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"Esqueci minha senha" seguro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fluxo de recuperação mal feito vira uma máquina de descobrir contas.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uso único, aleatório (CSPRNG), com expiração curta.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Invalide sessões após a redefinição.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SEMPRE genérica — não revele se o e-mail existe.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708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resposta muda conforme o e-mail existe — isso é user enumeration.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user enumeration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Vulnerável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existe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2148840"/>
            <a:ext cx="36576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192024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"link enviado"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não existe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3017520"/>
            <a:ext cx="36576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278892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encontrado"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11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respostas diferentes revelam contas válidas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Seguro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email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41080" y="2148840"/>
            <a:ext cx="36576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20" name="Shape 18"/>
          <p:cNvSpPr/>
          <p:nvPr/>
        </p:nvSpPr>
        <p:spPr>
          <a:xfrm>
            <a:off x="9098280" y="1920240"/>
            <a:ext cx="2423160" cy="731520"/>
          </a:xfrm>
          <a:prstGeom prst="roundRect">
            <a:avLst>
              <a:gd name="adj" fmla="val 75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existir,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enviaremos"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788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resposta idêntica; o envio real (com token) acontece nos bastidores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4805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5537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resposta para e-mail existente e inexistente — no login e no 'esqueci senha'.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— SAML e OIDC/OAuth2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XML, corporativo/legado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usado em intranets/enterprise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asserções assinadas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(sobre OAuth2)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Moderno, baseado em JWT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= autorização/delegação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adiciona autenticação (id_token)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3708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token, valide SEMPRE assinatura, issuer (iss) e audience (aud).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OIDC (simplificado)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11880" y="2377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(Portal)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2377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 de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(IdP)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514600"/>
            <a:ext cx="548640" cy="256032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2514600"/>
            <a:ext cx="548640" cy="256032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redireciona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2926080"/>
            <a:ext cx="548640" cy="256032"/>
          </a:xfrm>
          <a:prstGeom prst="leftArrow">
            <a:avLst/>
          </a:prstGeom>
          <a:solidFill>
            <a:srgbClr val="5AA1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150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id_token (assinado)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4023360"/>
            <a:ext cx="1083564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096512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crítico (passo 4, na app):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 assinatura, o issuer e o audience do id_token antes de confiar nas claims.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onde a implementação falha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validar a assinatura — aceitar tokens forjados.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checar issuer/audience — aceitar token de outra aplicação.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em claims controladas pelo cliente (ex.: a 'role' dentro de um JWT não verificado).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Expiração longa demais e sem refresh token.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27939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Gancho: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JWT sem verificação do Portal é explorado e corrigido na Aula 4 (alg:none / role forjada).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 — o que o laboratório vai corrigir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sem sal → BCrypt (com migração no login)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sem limite → rate limiting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41985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enumeration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82219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genérica no login/esqueci senha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918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341985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senha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382219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mínimo e senhas fortes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109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laboratório você explora o IDOR, migra as senhas e freia a força bruta.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PARTE 1 · PRÓXIMO: LABORATÓRIO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Autenticação: pronta para a prática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sabe guardar senha com bcrypt, aplicar política moderna, exigir MFA e evitar user enumeration. No próximo encontro: laboratório (explorar + corrigir) e, na sequência, a Parte 2 — Autorização e Spring Security.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2026-09-17T14:18:18Z</dcterms:created>
  <dcterms:modified xsi:type="dcterms:W3CDTF">2026-09-17T14:18:18Z</dcterms:modified>
</cp:coreProperties>
</file>