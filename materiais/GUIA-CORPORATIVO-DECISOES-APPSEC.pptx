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ORIENTATIVO CORPORATIVO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Matrizes de decisão — AppSec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· MFA · Controle de acesso · Sessão &amp; Token · Segredos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432304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11480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método de auth?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36976" y="4114800"/>
            <a:ext cx="2333549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36976" y="4114800"/>
            <a:ext cx="23335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× ABAC × ReBAC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35117" y="4114800"/>
            <a:ext cx="1642262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35117" y="4114800"/>
            <a:ext cx="164226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× JWT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1971" y="4114800"/>
            <a:ext cx="1345997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1971" y="4114800"/>
            <a:ext cx="134599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Anti-IDOR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52560" y="4114800"/>
            <a:ext cx="1938528" cy="457200"/>
          </a:xfrm>
          <a:prstGeom prst="roundRect">
            <a:avLst>
              <a:gd name="adj" fmla="val 20000"/>
            </a:avLst>
          </a:prstGeom>
          <a:solidFill>
            <a:srgbClr val="1B2330"/>
          </a:solidFill>
          <a:ln w="12700">
            <a:solidFill>
              <a:srgbClr val="2A3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4114800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&amp; segredos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rápida para design reviews, PRs e onboarding — alinhado a OWASP ASVS e NIST 800-63B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TUDO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transversais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dúvida: negar. A decisão de segurança mora no servidor.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Princípio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significa na prática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 deny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Acesso concedido explicitamente, nunca por omissão.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Least privilege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Mínimo necessário, pelo menor tempo.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Defense in depth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Várias camadas; nenhuma é o único ponto de falha.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 securely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erro/exceção, negar — nunca abrir acesso.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mediation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 requisição a um recurso é verificada no servidor.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Trust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Nunca confiar por rede; verificar identidade e autorização sempre.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— qual método usar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 de ouro: valide sempre assinatura, issuer, audience e expiração. Rejeite alg:none.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120640"/>
                <a:gridCol w="2770632"/>
              </a:tblGrid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Cenário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Evitar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 de usuário final (web/app)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OIDC/SSO ou senha + MFA (prefira passkeys)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Senha sozinha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interno (colaboradores)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 corporativo (OIDC/SAML) + MFA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Contas locais por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segurança / anti-phishing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Passkeys / WebAuthn (FIDO2)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SMS OTP como fator único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Serviço → serviço (backend)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mTLS ou OAuth2 client credentials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estática longa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pública p/ parceiros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 com escopo + rotação, ou OAuth2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Credencial de usuário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 → nuvem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OIDC federation (credencial efêmera)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Chave de acesso longa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de MFA — força × uso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800-63B: comprimento &gt; complexidade; checar senhas vazadas; rate limiting no lugar de rotação forçada.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2194560"/>
                <a:gridCol w="4233672"/>
              </a:tblGrid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Força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Anti-phishing?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Usar quando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Senha (sozinha)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Nunca como fator único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 SMS/e-mail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Baixa–média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(SIM swap)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Só fallback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TOTP (app)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 fator comum, aceitável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Push + number matching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5D0B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Média–alta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 UX; cuidar de MFA fatigue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Passkeys / WebAuthn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Preferível p/ todos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Chave de hardware FIDO2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Admins / acessos críticos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CONFUNDIR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 × Autorização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B2330"/>
          </a:solidFill>
          <a:ln w="19050">
            <a:solidFill>
              <a:srgbClr val="35D0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— Autenticação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E8EDF4"/>
                </a:solidFill>
              </a:rPr>
              <a:t>“Quem é você?”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Prova: credencial / fator (senha, passkey, token)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Falha típica: senha fraca, MFA ausente (A07)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Onde mora: borda (filtro de autenticação)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B2330"/>
          </a:solidFill>
          <a:ln w="19050">
            <a:solidFill>
              <a:srgbClr val="F6A6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AuthZ — Autorização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3952" y="242316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400" b="1" dirty="0">
                <a:solidFill>
                  <a:srgbClr val="E8EDF4"/>
                </a:solidFill>
              </a:rPr>
              <a:t>“O que você pode fazer?”</a:t>
            </a:r>
            <a:endParaRPr lang="en-US" sz="1400" dirty="0"/>
          </a:p>
          <a:p>
            <a:pPr marL="342900" indent="-342900">
              <a:spcBef>
                <a:spcPts val="8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Prova: papel / atributo / relação + política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Falha típica: IDOR, privilege escalation (A01)</a:t>
            </a:r>
            <a:endParaRPr lang="en-US" sz="1400" dirty="0"/>
          </a:p>
          <a:p>
            <a:pPr marL="342900" indent="-342900">
              <a:spcBef>
                <a:spcPts val="600"/>
              </a:spcBef>
              <a:buSzPct val="100000"/>
              <a:buChar char="–"/>
            </a:pPr>
            <a:r>
              <a:rPr lang="en-US" sz="1300" dirty="0">
                <a:solidFill>
                  <a:srgbClr val="9AA7B8"/>
                </a:solidFill>
              </a:rPr>
              <a:t>Onde mora: camada de serviço/domínio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Autenticar bem não basta: a maioria das brechas de acesso é de AUTORIZAÇÃO.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AuthN × AuthZ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 — qual modelo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prática, RBAC + ABAC combinados cobrem a maioria dos casos.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108960"/>
                <a:gridCol w="249631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usar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Cuidado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RBAC (papéis)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Papéis estáveis, poucos níveis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ADMIN, GERENTE, USER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Explosão de papéis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ABAC (atributos)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depende de contexto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“gerente da mesma filial”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Complexidade; testar caminhos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ReBAC (relações)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Grafos de dono/membro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Compartilhar documento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e infra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ACL (por recurso)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Poucos recursos, explícito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com lista de acesso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 mal em volume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acesso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4 · O PONTO Nº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na prática — anti-IDOR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/pedidos/2 é HTTP válido. Quem decide se você pode ver o pedido 2 é o CÓDIGO.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no SERVIDOR, na camada de serviço/domínio (não só no controller)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Checar a posse/escopo do objeto — o recurso é do usuário atual (ou foi compartilhado)?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deny: sem regra que permita → negar (403/404)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confiar em campo do cliente (papel no front, id oculto, preço no form)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mediation: cada acesso é verificado, inclusive leitura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Preferir 404 a 403 quando revelar a existência já é vazamento</a:t>
            </a:r>
            <a:endParaRPr lang="en-US" sz="1400" dirty="0"/>
          </a:p>
          <a:p>
            <a:pPr marL="279400" indent="-279400">
              <a:spcBef>
                <a:spcPts val="1000"/>
              </a:spcBef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obrigatório: usuário A acessa recurso de B → deve dar 403/404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Anti-IDOR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× Token — manter o login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same-origin → cookie de sessão + CSRF. API/SPA/mobile → token curto no header + refresh.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43984"/>
                <a:gridCol w="445312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Cookie de sessão (server-side)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JWT / token (stateless)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Melhor para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clássica same-origin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APIs, SPA, mobile, microserviços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Revogação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Fácil (invalidar no servidor)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6A60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Difícil → expiração curta + refresh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Armazenamento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Cookie HttpOnly/Secure/SameSite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 Authorization (não localStorage)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principal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CSRF → exige token CSRF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Roubo de token; não validar assinatura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Regenerar id (anti-fixation)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Novo token por login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Sessão × Token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Senhas, chaves e segredos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Pergunta-chave: “preciso ler de volta?” Sim → cifra (AES-GCM). Não → hash (BCrypt). Integridade → HMAC.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937760"/>
                <a:gridCol w="33192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Recomendado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Nunca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 de senha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BCrypt (work≥10–12), Argon2id, PBKDF2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MD5/SHA puro, cripto reversível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 sensível a recuperar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AES-256-GCM, IV único por operação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Base64/hex como “proteção”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Segredos de app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manager / Vault / KMS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 no código/repo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Chave de criptografia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KMS/HSM; separar da cifra; rotação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Chave ao lado do ciphertext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Aleatoriedade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SecureRandom (CSPRNG)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java.util.Random p/ chaves/IV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Senhas &amp; segredos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APÊNDICE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 cada tipo de teste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822960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se complementam — e idealmente viram gates no CI (o crítico não passa do merge).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  <a:gridCol w="3108960"/>
                <a:gridCol w="2651760"/>
                <a:gridCol w="1673352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vê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Acha bem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cego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11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D0B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código (estático)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Injection, segredos, padrões ruins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Runtime/config; falso-positivo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 / PR /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app rodando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Headers ausentes, exposições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aponta a linha no código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 /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dependências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CVEs em libs (Text4Shell)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Falha no seu código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AA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/ PR / CI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E11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33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SAST/DAST/SCA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5D0B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 ESTE GUIA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documento vivo para padronizar decisões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E8EDF4"/>
                </a:solidFill>
              </a:rPr>
              <a:t>Design review / PR: use as matrizes como checklist (qual auth? qual modelo de acesso?).</a:t>
            </a:r>
            <a:endParaRPr lang="en-US" sz="1500" dirty="0"/>
          </a:p>
          <a:p>
            <a:pPr marL="342900" indent="-342900">
              <a:spcBef>
                <a:spcPts val="1000"/>
              </a:spcBef>
              <a:buSzPct val="100000"/>
              <a:buChar char="▪"/>
            </a:pPr>
            <a:r>
              <a:rPr lang="en-US" sz="1500" dirty="0">
                <a:solidFill>
                  <a:srgbClr val="E8EDF4"/>
                </a:solidFill>
              </a:rPr>
              <a:t>Onboarding: leitura inicial para alinhar vocabulário e padrões.</a:t>
            </a:r>
            <a:endParaRPr lang="en-US" sz="1500" dirty="0"/>
          </a:p>
          <a:p>
            <a:pPr marL="342900" indent="-342900">
              <a:spcBef>
                <a:spcPts val="1000"/>
              </a:spcBef>
              <a:buSzPct val="100000"/>
              <a:buChar char="▪"/>
            </a:pPr>
            <a:r>
              <a:rPr lang="en-US" sz="1500" dirty="0">
                <a:solidFill>
                  <a:srgbClr val="E8EDF4"/>
                </a:solidFill>
              </a:rPr>
              <a:t>Exceções: fugiu de uma recomendação? Registre o porquê (decisão consciente, não omissão).</a:t>
            </a:r>
            <a:endParaRPr lang="en-US" sz="1500" dirty="0"/>
          </a:p>
          <a:p>
            <a:pPr marL="342900" indent="-342900">
              <a:spcBef>
                <a:spcPts val="1000"/>
              </a:spcBef>
              <a:buSzPct val="100000"/>
              <a:buChar char="▪"/>
            </a:pPr>
            <a:r>
              <a:rPr lang="en-US" sz="1500" dirty="0">
                <a:solidFill>
                  <a:srgbClr val="E8EDF4"/>
                </a:solidFill>
              </a:rPr>
              <a:t>Evoluir: ajuste limiares (work factor, expiração) e acrescente casos ao seu contexto.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6A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Referências: OWASP ASVS · OWASP Top 10 (2021) · OWASP Cheat Sheets · NIST SP 800-63B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2A3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 Corporativo de Decisões — AppSec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46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usar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5D0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Corporativo de Decisões — AppSec</dc:title>
  <dc:subject>PptxGenJS Presentation</dc:subject>
  <dc:creator>Curso CASE Java</dc:creator>
  <cp:lastModifiedBy>Curso CASE Java</cp:lastModifiedBy>
  <cp:revision>1</cp:revision>
  <dcterms:created xsi:type="dcterms:W3CDTF">2026-10-26T13:38:29Z</dcterms:created>
  <dcterms:modified xsi:type="dcterms:W3CDTF">2026-10-26T13:38:29Z</dcterms:modified>
</cp:coreProperties>
</file>